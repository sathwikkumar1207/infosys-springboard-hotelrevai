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6" r:id="rId10"/>
    <p:sldId id="267" r:id="rId11"/>
    <p:sldId id="268"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4470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E24"/>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00BCD4"/>
          </a:solidFill>
          <a:ln w="12700">
            <a:solidFill>
              <a:srgbClr val="00BCD4"/>
            </a:solidFill>
            <a:prstDash val="solid"/>
          </a:ln>
        </p:spPr>
      </p:sp>
      <p:sp>
        <p:nvSpPr>
          <p:cNvPr id="3" name="Shape 1"/>
          <p:cNvSpPr/>
          <p:nvPr/>
        </p:nvSpPr>
        <p:spPr>
          <a:xfrm>
            <a:off x="5760720" y="0"/>
            <a:ext cx="228600" cy="5143500"/>
          </a:xfrm>
          <a:prstGeom prst="rect">
            <a:avLst/>
          </a:prstGeom>
          <a:solidFill>
            <a:srgbClr val="0A5557">
              <a:alpha val="70000"/>
            </a:srgbClr>
          </a:solidFill>
          <a:ln w="12700">
            <a:solidFill>
              <a:srgbClr val="0A5557"/>
            </a:solidFill>
            <a:prstDash val="solid"/>
          </a:ln>
        </p:spPr>
      </p:sp>
      <p:sp>
        <p:nvSpPr>
          <p:cNvPr id="4" name="Shape 2"/>
          <p:cNvSpPr/>
          <p:nvPr/>
        </p:nvSpPr>
        <p:spPr>
          <a:xfrm>
            <a:off x="0" y="0"/>
            <a:ext cx="5852160" cy="73152"/>
          </a:xfrm>
          <a:prstGeom prst="rect">
            <a:avLst/>
          </a:prstGeom>
          <a:solidFill>
            <a:srgbClr val="F0B429"/>
          </a:solidFill>
          <a:ln w="12700">
            <a:solidFill>
              <a:srgbClr val="F0B429"/>
            </a:solidFill>
            <a:prstDash val="solid"/>
          </a:ln>
        </p:spPr>
      </p:sp>
      <p:sp>
        <p:nvSpPr>
          <p:cNvPr id="5" name="Shape 3"/>
          <p:cNvSpPr/>
          <p:nvPr/>
        </p:nvSpPr>
        <p:spPr>
          <a:xfrm>
            <a:off x="0" y="5070348"/>
            <a:ext cx="5852160" cy="73152"/>
          </a:xfrm>
          <a:prstGeom prst="rect">
            <a:avLst/>
          </a:prstGeom>
          <a:solidFill>
            <a:srgbClr val="F0B429"/>
          </a:solidFill>
          <a:ln w="12700">
            <a:solidFill>
              <a:srgbClr val="F0B429"/>
            </a:solidFill>
            <a:prstDash val="solid"/>
          </a:ln>
        </p:spPr>
      </p:sp>
      <p:sp>
        <p:nvSpPr>
          <p:cNvPr id="6" name="Text 4"/>
          <p:cNvSpPr/>
          <p:nvPr/>
        </p:nvSpPr>
        <p:spPr>
          <a:xfrm>
            <a:off x="502920" y="1005840"/>
            <a:ext cx="5029200" cy="731520"/>
          </a:xfrm>
          <a:prstGeom prst="rect">
            <a:avLst/>
          </a:prstGeom>
          <a:noFill/>
          <a:ln/>
        </p:spPr>
        <p:txBody>
          <a:bodyPr wrap="square" lIns="0" tIns="0" rIns="0" bIns="0" rtlCol="0" anchor="ctr"/>
          <a:lstStyle/>
          <a:p>
            <a:pPr marL="0" indent="0">
              <a:buNone/>
            </a:pPr>
            <a:r>
              <a:rPr lang="en-US" sz="5400" b="1" kern="0" spc="800" dirty="0">
                <a:solidFill>
                  <a:srgbClr val="FFFFFF"/>
                </a:solidFill>
                <a:latin typeface="Calibri" pitchFamily="34" charset="0"/>
                <a:ea typeface="Calibri" pitchFamily="34" charset="-122"/>
                <a:cs typeface="Calibri" pitchFamily="34" charset="-120"/>
              </a:rPr>
              <a:t>HOTEL</a:t>
            </a:r>
            <a:endParaRPr lang="en-US" sz="5400" dirty="0"/>
          </a:p>
        </p:txBody>
      </p:sp>
      <p:sp>
        <p:nvSpPr>
          <p:cNvPr id="7" name="Text 5"/>
          <p:cNvSpPr/>
          <p:nvPr/>
        </p:nvSpPr>
        <p:spPr>
          <a:xfrm>
            <a:off x="502920" y="1691640"/>
            <a:ext cx="5029200" cy="731520"/>
          </a:xfrm>
          <a:prstGeom prst="rect">
            <a:avLst/>
          </a:prstGeom>
          <a:noFill/>
          <a:ln/>
        </p:spPr>
        <p:txBody>
          <a:bodyPr wrap="square" lIns="0" tIns="0" rIns="0" bIns="0" rtlCol="0" anchor="ctr"/>
          <a:lstStyle/>
          <a:p>
            <a:pPr marL="0" indent="0">
              <a:buNone/>
            </a:pPr>
            <a:r>
              <a:rPr lang="en-US" sz="5400" b="1" kern="0" spc="800" dirty="0">
                <a:solidFill>
                  <a:srgbClr val="F0B429"/>
                </a:solidFill>
                <a:latin typeface="Calibri" pitchFamily="34" charset="0"/>
                <a:ea typeface="Calibri" pitchFamily="34" charset="-122"/>
                <a:cs typeface="Calibri" pitchFamily="34" charset="-120"/>
              </a:rPr>
              <a:t>REV AI</a:t>
            </a:r>
            <a:endParaRPr lang="en-US" sz="5400" dirty="0"/>
          </a:p>
        </p:txBody>
      </p:sp>
      <p:sp>
        <p:nvSpPr>
          <p:cNvPr id="8" name="Text 6"/>
          <p:cNvSpPr/>
          <p:nvPr/>
        </p:nvSpPr>
        <p:spPr>
          <a:xfrm>
            <a:off x="502920" y="2514600"/>
            <a:ext cx="5029200" cy="457200"/>
          </a:xfrm>
          <a:prstGeom prst="rect">
            <a:avLst/>
          </a:prstGeom>
          <a:noFill/>
          <a:ln/>
        </p:spPr>
        <p:txBody>
          <a:bodyPr wrap="square" lIns="0" tIns="0" rIns="0" bIns="0" rtlCol="0" anchor="ctr"/>
          <a:lstStyle/>
          <a:p>
            <a:pPr marL="0" indent="0">
              <a:buNone/>
            </a:pPr>
            <a:r>
              <a:rPr lang="en-US" sz="1600" i="1" dirty="0">
                <a:solidFill>
                  <a:srgbClr val="64748B"/>
                </a:solidFill>
                <a:latin typeface="Calibri" pitchFamily="34" charset="0"/>
                <a:ea typeface="Calibri" pitchFamily="34" charset="-122"/>
                <a:cs typeface="Calibri" pitchFamily="34" charset="-120"/>
              </a:rPr>
              <a:t>AI-Driven Revenue Analysis for Hotels</a:t>
            </a:r>
            <a:endParaRPr lang="en-US" sz="1600" dirty="0"/>
          </a:p>
        </p:txBody>
      </p:sp>
      <p:sp>
        <p:nvSpPr>
          <p:cNvPr id="9" name="Shape 7"/>
          <p:cNvSpPr/>
          <p:nvPr/>
        </p:nvSpPr>
        <p:spPr>
          <a:xfrm>
            <a:off x="502920" y="3200400"/>
            <a:ext cx="1005840" cy="292608"/>
          </a:xfrm>
          <a:prstGeom prst="rect">
            <a:avLst/>
          </a:prstGeom>
          <a:solidFill>
            <a:srgbClr val="F0B429"/>
          </a:solidFill>
          <a:ln w="12700">
            <a:solidFill>
              <a:srgbClr val="F0B429"/>
            </a:solidFill>
            <a:prstDash val="solid"/>
          </a:ln>
        </p:spPr>
      </p:sp>
      <p:sp>
        <p:nvSpPr>
          <p:cNvPr id="10" name="Text 8"/>
          <p:cNvSpPr/>
          <p:nvPr/>
        </p:nvSpPr>
        <p:spPr>
          <a:xfrm>
            <a:off x="502920" y="3200400"/>
            <a:ext cx="1005840" cy="292608"/>
          </a:xfrm>
          <a:prstGeom prst="rect">
            <a:avLst/>
          </a:prstGeom>
          <a:noFill/>
          <a:ln/>
        </p:spPr>
        <p:txBody>
          <a:bodyPr wrap="square" lIns="0" tIns="0" rIns="0" bIns="0" rtlCol="0" anchor="ctr"/>
          <a:lstStyle/>
          <a:p>
            <a:pPr marL="0" indent="0" algn="ctr">
              <a:buNone/>
            </a:pPr>
            <a:r>
              <a:rPr lang="en-US" sz="900" b="1" dirty="0">
                <a:solidFill>
                  <a:srgbClr val="060E24"/>
                </a:solidFill>
                <a:latin typeface="Calibri" pitchFamily="34" charset="0"/>
                <a:ea typeface="Calibri" pitchFamily="34" charset="-122"/>
                <a:cs typeface="Calibri" pitchFamily="34" charset="-120"/>
              </a:rPr>
              <a:t>TEAM D</a:t>
            </a:r>
            <a:endParaRPr lang="en-US" sz="900" dirty="0"/>
          </a:p>
        </p:txBody>
      </p:sp>
      <p:sp>
        <p:nvSpPr>
          <p:cNvPr id="11" name="Text 9"/>
          <p:cNvSpPr/>
          <p:nvPr/>
        </p:nvSpPr>
        <p:spPr>
          <a:xfrm>
            <a:off x="502920" y="3611880"/>
            <a:ext cx="5120640" cy="36576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 Vedavarshini   •   Anwesha Barpanda   •   V. Sathvikkummar   •   Nivetha L   •   Kashish Patel   •   Marasu Vijaya Lakshmi</a:t>
            </a:r>
            <a:endParaRPr lang="en-US" sz="1000" dirty="0"/>
          </a:p>
        </p:txBody>
      </p:sp>
      <p:sp>
        <p:nvSpPr>
          <p:cNvPr id="13" name="Text 11"/>
          <p:cNvSpPr/>
          <p:nvPr/>
        </p:nvSpPr>
        <p:spPr>
          <a:xfrm>
            <a:off x="6035040" y="4023360"/>
            <a:ext cx="2926080" cy="457200"/>
          </a:xfrm>
          <a:prstGeom prst="rect">
            <a:avLst/>
          </a:prstGeom>
          <a:noFill/>
          <a:ln/>
        </p:spPr>
        <p:txBody>
          <a:bodyPr wrap="square" lIns="0" tIns="0" rIns="0" bIns="0" rtlCol="0" anchor="ctr"/>
          <a:lstStyle/>
          <a:p>
            <a:pPr marL="0" indent="0" algn="ctr">
              <a:buNone/>
            </a:pPr>
            <a:r>
              <a:rPr lang="en-US" sz="900" i="1" dirty="0">
                <a:solidFill>
                  <a:srgbClr val="FFFFFF"/>
                </a:solidFill>
                <a:latin typeface="Calibri" pitchFamily="34" charset="0"/>
                <a:ea typeface="Calibri" pitchFamily="34" charset="-122"/>
                <a:cs typeface="Calibri" pitchFamily="34" charset="-120"/>
              </a:rPr>
              <a:t>Kaggle Dataset  |  Power BI  |  DAX  |  2015–2017</a:t>
            </a:r>
            <a:endParaRPr lang="en-US" sz="900" dirty="0"/>
          </a:p>
        </p:txBody>
      </p:sp>
      <p:sp>
        <p:nvSpPr>
          <p:cNvPr id="14" name="Text 10">
            <a:extLst>
              <a:ext uri="{FF2B5EF4-FFF2-40B4-BE49-F238E27FC236}">
                <a16:creationId xmlns:a16="http://schemas.microsoft.com/office/drawing/2014/main" id="{5888C0E5-AB6D-39CE-013D-7F8DB7A36177}"/>
              </a:ext>
            </a:extLst>
          </p:cNvPr>
          <p:cNvSpPr/>
          <p:nvPr/>
        </p:nvSpPr>
        <p:spPr>
          <a:xfrm>
            <a:off x="6812280" y="1645920"/>
            <a:ext cx="1371600" cy="1371600"/>
          </a:xfrm>
          <a:prstGeom prst="rect">
            <a:avLst/>
          </a:prstGeom>
          <a:noFill/>
          <a:ln/>
        </p:spPr>
        <p:txBody>
          <a:bodyPr wrap="square" rtlCol="0" anchor="ctr"/>
          <a:lstStyle/>
          <a:p>
            <a:pPr marL="0" indent="0" algn="ctr">
              <a:buNone/>
            </a:pPr>
            <a:r>
              <a:rPr lang="en-US" sz="7200" dirty="0">
                <a:solidFill>
                  <a:srgbClr val="000000"/>
                </a:solidFill>
              </a:rPr>
              <a:t>📊</a:t>
            </a:r>
            <a:endParaRPr lang="en-US" sz="7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E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3E"/>
          </a:solidFill>
          <a:ln w="12700">
            <a:solidFill>
              <a:srgbClr val="0D1B3E"/>
            </a:solidFill>
            <a:prstDash val="solid"/>
          </a:ln>
        </p:spPr>
      </p:sp>
      <p:sp>
        <p:nvSpPr>
          <p:cNvPr id="3" name="Shape 1"/>
          <p:cNvSpPr/>
          <p:nvPr/>
        </p:nvSpPr>
        <p:spPr>
          <a:xfrm>
            <a:off x="0" y="594360"/>
            <a:ext cx="9144000" cy="50292"/>
          </a:xfrm>
          <a:prstGeom prst="rect">
            <a:avLst/>
          </a:prstGeom>
          <a:solidFill>
            <a:srgbClr val="00BCD4"/>
          </a:solidFill>
          <a:ln w="12700">
            <a:solidFill>
              <a:srgbClr val="00BCD4"/>
            </a:solidFill>
            <a:prstDash val="solid"/>
          </a:ln>
        </p:spPr>
      </p:sp>
      <p:sp>
        <p:nvSpPr>
          <p:cNvPr id="4" name="Text 2"/>
          <p:cNvSpPr/>
          <p:nvPr/>
        </p:nvSpPr>
        <p:spPr>
          <a:xfrm>
            <a:off x="411480" y="73152"/>
            <a:ext cx="777240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AGENDA</a:t>
            </a:r>
            <a:endParaRPr lang="en-US" sz="2000" dirty="0"/>
          </a:p>
        </p:txBody>
      </p:sp>
      <p:sp>
        <p:nvSpPr>
          <p:cNvPr id="5" name="Shape 3"/>
          <p:cNvSpPr/>
          <p:nvPr/>
        </p:nvSpPr>
        <p:spPr>
          <a:xfrm>
            <a:off x="0" y="4892040"/>
            <a:ext cx="9144000" cy="251460"/>
          </a:xfrm>
          <a:prstGeom prst="rect">
            <a:avLst/>
          </a:prstGeom>
          <a:solidFill>
            <a:srgbClr val="0D1B3E"/>
          </a:solidFill>
          <a:ln w="12700">
            <a:solidFill>
              <a:srgbClr val="0D1B3E"/>
            </a:solidFill>
            <a:prstDash val="solid"/>
          </a:ln>
        </p:spPr>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HotelRevAI  |  AI-Driven Revenue Analysis</a:t>
            </a:r>
            <a:endParaRPr lang="en-US" sz="900" dirty="0"/>
          </a:p>
        </p:txBody>
      </p:sp>
      <p:sp>
        <p:nvSpPr>
          <p:cNvPr id="7" name="Shape 5"/>
          <p:cNvSpPr/>
          <p:nvPr/>
        </p:nvSpPr>
        <p:spPr>
          <a:xfrm>
            <a:off x="365760" y="822960"/>
            <a:ext cx="457200" cy="411480"/>
          </a:xfrm>
          <a:prstGeom prst="rect">
            <a:avLst/>
          </a:prstGeom>
          <a:solidFill>
            <a:srgbClr val="00BCD4"/>
          </a:solidFill>
          <a:ln w="12700">
            <a:solidFill>
              <a:srgbClr val="00BCD4"/>
            </a:solidFill>
            <a:prstDash val="solid"/>
          </a:ln>
        </p:spPr>
      </p:sp>
      <p:sp>
        <p:nvSpPr>
          <p:cNvPr id="8" name="Text 6"/>
          <p:cNvSpPr/>
          <p:nvPr/>
        </p:nvSpPr>
        <p:spPr>
          <a:xfrm>
            <a:off x="365760" y="822960"/>
            <a:ext cx="4572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9" name="Text 7"/>
          <p:cNvSpPr/>
          <p:nvPr/>
        </p:nvSpPr>
        <p:spPr>
          <a:xfrm>
            <a:off x="914400" y="859536"/>
            <a:ext cx="384048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Project Overview &amp; Problem Statement</a:t>
            </a:r>
            <a:endParaRPr lang="en-US" sz="1200" dirty="0"/>
          </a:p>
        </p:txBody>
      </p:sp>
      <p:sp>
        <p:nvSpPr>
          <p:cNvPr id="10" name="Shape 8"/>
          <p:cNvSpPr/>
          <p:nvPr/>
        </p:nvSpPr>
        <p:spPr>
          <a:xfrm>
            <a:off x="365760" y="1581912"/>
            <a:ext cx="457200" cy="411480"/>
          </a:xfrm>
          <a:prstGeom prst="rect">
            <a:avLst/>
          </a:prstGeom>
          <a:solidFill>
            <a:srgbClr val="00BCD4"/>
          </a:solidFill>
          <a:ln w="12700">
            <a:solidFill>
              <a:srgbClr val="00BCD4"/>
            </a:solidFill>
            <a:prstDash val="solid"/>
          </a:ln>
        </p:spPr>
      </p:sp>
      <p:sp>
        <p:nvSpPr>
          <p:cNvPr id="11" name="Text 9"/>
          <p:cNvSpPr/>
          <p:nvPr/>
        </p:nvSpPr>
        <p:spPr>
          <a:xfrm>
            <a:off x="365760" y="1581912"/>
            <a:ext cx="4572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2" name="Text 10"/>
          <p:cNvSpPr/>
          <p:nvPr/>
        </p:nvSpPr>
        <p:spPr>
          <a:xfrm>
            <a:off x="914400" y="1618488"/>
            <a:ext cx="384048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Tools, Technologies &amp; Power BI Role</a:t>
            </a:r>
            <a:endParaRPr lang="en-US" sz="1200" dirty="0"/>
          </a:p>
        </p:txBody>
      </p:sp>
      <p:sp>
        <p:nvSpPr>
          <p:cNvPr id="13" name="Shape 11"/>
          <p:cNvSpPr/>
          <p:nvPr/>
        </p:nvSpPr>
        <p:spPr>
          <a:xfrm>
            <a:off x="365760" y="2340864"/>
            <a:ext cx="457200" cy="411480"/>
          </a:xfrm>
          <a:prstGeom prst="rect">
            <a:avLst/>
          </a:prstGeom>
          <a:solidFill>
            <a:srgbClr val="00BCD4"/>
          </a:solidFill>
          <a:ln w="12700">
            <a:solidFill>
              <a:srgbClr val="00BCD4"/>
            </a:solidFill>
            <a:prstDash val="solid"/>
          </a:ln>
        </p:spPr>
      </p:sp>
      <p:sp>
        <p:nvSpPr>
          <p:cNvPr id="14" name="Text 12"/>
          <p:cNvSpPr/>
          <p:nvPr/>
        </p:nvSpPr>
        <p:spPr>
          <a:xfrm>
            <a:off x="365760" y="2340864"/>
            <a:ext cx="4572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5" name="Text 13"/>
          <p:cNvSpPr/>
          <p:nvPr/>
        </p:nvSpPr>
        <p:spPr>
          <a:xfrm>
            <a:off x="914400" y="2377440"/>
            <a:ext cx="384048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Role of Power BI &amp; Selection Rationale</a:t>
            </a:r>
            <a:endParaRPr lang="en-US" sz="1200" dirty="0"/>
          </a:p>
        </p:txBody>
      </p:sp>
      <p:sp>
        <p:nvSpPr>
          <p:cNvPr id="16" name="Shape 14"/>
          <p:cNvSpPr/>
          <p:nvPr/>
        </p:nvSpPr>
        <p:spPr>
          <a:xfrm>
            <a:off x="365760" y="3099816"/>
            <a:ext cx="457200" cy="411480"/>
          </a:xfrm>
          <a:prstGeom prst="rect">
            <a:avLst/>
          </a:prstGeom>
          <a:solidFill>
            <a:srgbClr val="00BCD4"/>
          </a:solidFill>
          <a:ln w="12700">
            <a:solidFill>
              <a:srgbClr val="00BCD4"/>
            </a:solidFill>
            <a:prstDash val="solid"/>
          </a:ln>
        </p:spPr>
      </p:sp>
      <p:sp>
        <p:nvSpPr>
          <p:cNvPr id="17" name="Text 15"/>
          <p:cNvSpPr/>
          <p:nvPr/>
        </p:nvSpPr>
        <p:spPr>
          <a:xfrm>
            <a:off x="365760" y="3099816"/>
            <a:ext cx="4572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18" name="Text 16"/>
          <p:cNvSpPr/>
          <p:nvPr/>
        </p:nvSpPr>
        <p:spPr>
          <a:xfrm>
            <a:off x="914400" y="3136392"/>
            <a:ext cx="384048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Data Collection, Cleaning &amp; Feature Engineering</a:t>
            </a:r>
            <a:endParaRPr lang="en-US" sz="1200" dirty="0"/>
          </a:p>
        </p:txBody>
      </p:sp>
      <p:sp>
        <p:nvSpPr>
          <p:cNvPr id="19" name="Shape 17"/>
          <p:cNvSpPr/>
          <p:nvPr/>
        </p:nvSpPr>
        <p:spPr>
          <a:xfrm>
            <a:off x="365760" y="3858768"/>
            <a:ext cx="457200" cy="411480"/>
          </a:xfrm>
          <a:prstGeom prst="rect">
            <a:avLst/>
          </a:prstGeom>
          <a:solidFill>
            <a:srgbClr val="00BCD4"/>
          </a:solidFill>
          <a:ln w="12700">
            <a:solidFill>
              <a:srgbClr val="00BCD4"/>
            </a:solidFill>
            <a:prstDash val="solid"/>
          </a:ln>
        </p:spPr>
      </p:sp>
      <p:sp>
        <p:nvSpPr>
          <p:cNvPr id="20" name="Text 18"/>
          <p:cNvSpPr/>
          <p:nvPr/>
        </p:nvSpPr>
        <p:spPr>
          <a:xfrm>
            <a:off x="365760" y="3858768"/>
            <a:ext cx="4572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21" name="Text 19"/>
          <p:cNvSpPr/>
          <p:nvPr/>
        </p:nvSpPr>
        <p:spPr>
          <a:xfrm>
            <a:off x="914400" y="3895344"/>
            <a:ext cx="384048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Data Modelling &amp; DAX Measures</a:t>
            </a:r>
            <a:endParaRPr lang="en-US" sz="1200" dirty="0"/>
          </a:p>
        </p:txBody>
      </p:sp>
      <p:sp>
        <p:nvSpPr>
          <p:cNvPr id="22" name="Shape 20"/>
          <p:cNvSpPr/>
          <p:nvPr/>
        </p:nvSpPr>
        <p:spPr>
          <a:xfrm>
            <a:off x="4754880" y="822960"/>
            <a:ext cx="457200" cy="411480"/>
          </a:xfrm>
          <a:prstGeom prst="rect">
            <a:avLst/>
          </a:prstGeom>
          <a:solidFill>
            <a:srgbClr val="00BCD4"/>
          </a:solidFill>
          <a:ln w="12700">
            <a:solidFill>
              <a:srgbClr val="00BCD4"/>
            </a:solidFill>
            <a:prstDash val="solid"/>
          </a:ln>
        </p:spPr>
      </p:sp>
      <p:sp>
        <p:nvSpPr>
          <p:cNvPr id="23" name="Text 21"/>
          <p:cNvSpPr/>
          <p:nvPr/>
        </p:nvSpPr>
        <p:spPr>
          <a:xfrm>
            <a:off x="4754880" y="822960"/>
            <a:ext cx="4572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24" name="Text 22"/>
          <p:cNvSpPr/>
          <p:nvPr/>
        </p:nvSpPr>
        <p:spPr>
          <a:xfrm>
            <a:off x="5303520" y="859536"/>
            <a:ext cx="384048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All 4 Dashboards — Combined Summary</a:t>
            </a:r>
            <a:endParaRPr lang="en-US" sz="1200" dirty="0"/>
          </a:p>
        </p:txBody>
      </p:sp>
      <p:sp>
        <p:nvSpPr>
          <p:cNvPr id="25" name="Shape 23"/>
          <p:cNvSpPr/>
          <p:nvPr/>
        </p:nvSpPr>
        <p:spPr>
          <a:xfrm>
            <a:off x="4754880" y="1581912"/>
            <a:ext cx="457200" cy="411480"/>
          </a:xfrm>
          <a:prstGeom prst="rect">
            <a:avLst/>
          </a:prstGeom>
          <a:solidFill>
            <a:srgbClr val="00BCD4"/>
          </a:solidFill>
          <a:ln w="12700">
            <a:solidFill>
              <a:srgbClr val="00BCD4"/>
            </a:solidFill>
            <a:prstDash val="solid"/>
          </a:ln>
        </p:spPr>
      </p:sp>
      <p:sp>
        <p:nvSpPr>
          <p:cNvPr id="26" name="Text 24"/>
          <p:cNvSpPr/>
          <p:nvPr/>
        </p:nvSpPr>
        <p:spPr>
          <a:xfrm>
            <a:off x="4754880" y="1581912"/>
            <a:ext cx="4572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27" name="Text 25"/>
          <p:cNvSpPr/>
          <p:nvPr/>
        </p:nvSpPr>
        <p:spPr>
          <a:xfrm>
            <a:off x="5303520" y="1618488"/>
            <a:ext cx="384048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Revenue Deep Dive — Performance &amp; Channels</a:t>
            </a:r>
            <a:endParaRPr lang="en-US" sz="1200" dirty="0"/>
          </a:p>
        </p:txBody>
      </p:sp>
      <p:sp>
        <p:nvSpPr>
          <p:cNvPr id="28" name="Shape 26"/>
          <p:cNvSpPr/>
          <p:nvPr/>
        </p:nvSpPr>
        <p:spPr>
          <a:xfrm>
            <a:off x="4754880" y="2340864"/>
            <a:ext cx="457200" cy="411480"/>
          </a:xfrm>
          <a:prstGeom prst="rect">
            <a:avLst/>
          </a:prstGeom>
          <a:solidFill>
            <a:srgbClr val="00BCD4"/>
          </a:solidFill>
          <a:ln w="12700">
            <a:solidFill>
              <a:srgbClr val="00BCD4"/>
            </a:solidFill>
            <a:prstDash val="solid"/>
          </a:ln>
        </p:spPr>
      </p:sp>
      <p:sp>
        <p:nvSpPr>
          <p:cNvPr id="29" name="Text 27"/>
          <p:cNvSpPr/>
          <p:nvPr/>
        </p:nvSpPr>
        <p:spPr>
          <a:xfrm>
            <a:off x="4754880" y="2340864"/>
            <a:ext cx="4572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
        <p:nvSpPr>
          <p:cNvPr id="30" name="Text 28"/>
          <p:cNvSpPr/>
          <p:nvPr/>
        </p:nvSpPr>
        <p:spPr>
          <a:xfrm>
            <a:off x="5303520" y="2377440"/>
            <a:ext cx="384048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Customer Behaviour &amp; Seasonality Patterns</a:t>
            </a:r>
            <a:endParaRPr lang="en-US" sz="1200" dirty="0"/>
          </a:p>
        </p:txBody>
      </p:sp>
      <p:sp>
        <p:nvSpPr>
          <p:cNvPr id="31" name="Shape 29"/>
          <p:cNvSpPr/>
          <p:nvPr/>
        </p:nvSpPr>
        <p:spPr>
          <a:xfrm>
            <a:off x="4754880" y="3099816"/>
            <a:ext cx="457200" cy="411480"/>
          </a:xfrm>
          <a:prstGeom prst="rect">
            <a:avLst/>
          </a:prstGeom>
          <a:solidFill>
            <a:srgbClr val="00BCD4"/>
          </a:solidFill>
          <a:ln w="12700">
            <a:solidFill>
              <a:srgbClr val="00BCD4"/>
            </a:solidFill>
            <a:prstDash val="solid"/>
          </a:ln>
        </p:spPr>
      </p:sp>
      <p:sp>
        <p:nvSpPr>
          <p:cNvPr id="32" name="Text 30"/>
          <p:cNvSpPr/>
          <p:nvPr/>
        </p:nvSpPr>
        <p:spPr>
          <a:xfrm>
            <a:off x="4754880" y="3099816"/>
            <a:ext cx="4572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09</a:t>
            </a:r>
            <a:endParaRPr lang="en-US" sz="1100" dirty="0"/>
          </a:p>
        </p:txBody>
      </p:sp>
      <p:sp>
        <p:nvSpPr>
          <p:cNvPr id="33" name="Text 31"/>
          <p:cNvSpPr/>
          <p:nvPr/>
        </p:nvSpPr>
        <p:spPr>
          <a:xfrm>
            <a:off x="5303520" y="3136392"/>
            <a:ext cx="384048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Key Findings &amp; Business Insights</a:t>
            </a:r>
            <a:endParaRPr lang="en-US" sz="1200" dirty="0"/>
          </a:p>
        </p:txBody>
      </p:sp>
      <p:sp>
        <p:nvSpPr>
          <p:cNvPr id="34" name="Shape 32"/>
          <p:cNvSpPr/>
          <p:nvPr/>
        </p:nvSpPr>
        <p:spPr>
          <a:xfrm>
            <a:off x="4754880" y="3858768"/>
            <a:ext cx="457200" cy="411480"/>
          </a:xfrm>
          <a:prstGeom prst="rect">
            <a:avLst/>
          </a:prstGeom>
          <a:solidFill>
            <a:srgbClr val="00BCD4"/>
          </a:solidFill>
          <a:ln w="12700">
            <a:solidFill>
              <a:srgbClr val="00BCD4"/>
            </a:solidFill>
            <a:prstDash val="solid"/>
          </a:ln>
        </p:spPr>
      </p:sp>
      <p:sp>
        <p:nvSpPr>
          <p:cNvPr id="35" name="Text 33"/>
          <p:cNvSpPr/>
          <p:nvPr/>
        </p:nvSpPr>
        <p:spPr>
          <a:xfrm>
            <a:off x="4754880" y="3858768"/>
            <a:ext cx="4572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36" name="Text 34"/>
          <p:cNvSpPr/>
          <p:nvPr/>
        </p:nvSpPr>
        <p:spPr>
          <a:xfrm>
            <a:off x="5303520" y="3895344"/>
            <a:ext cx="384048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Conclusion &amp; Future Enhancements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E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3E"/>
          </a:solidFill>
          <a:ln w="12700">
            <a:solidFill>
              <a:srgbClr val="0D1B3E"/>
            </a:solidFill>
            <a:prstDash val="solid"/>
          </a:ln>
        </p:spPr>
      </p:sp>
      <p:sp>
        <p:nvSpPr>
          <p:cNvPr id="3" name="Shape 1"/>
          <p:cNvSpPr/>
          <p:nvPr/>
        </p:nvSpPr>
        <p:spPr>
          <a:xfrm>
            <a:off x="0" y="594360"/>
            <a:ext cx="9144000" cy="50292"/>
          </a:xfrm>
          <a:prstGeom prst="rect">
            <a:avLst/>
          </a:prstGeom>
          <a:solidFill>
            <a:srgbClr val="00BCD4"/>
          </a:solidFill>
          <a:ln w="12700">
            <a:solidFill>
              <a:srgbClr val="00BCD4"/>
            </a:solidFill>
            <a:prstDash val="solid"/>
          </a:ln>
        </p:spPr>
      </p:sp>
      <p:sp>
        <p:nvSpPr>
          <p:cNvPr id="4" name="Text 2"/>
          <p:cNvSpPr/>
          <p:nvPr/>
        </p:nvSpPr>
        <p:spPr>
          <a:xfrm>
            <a:off x="411480" y="73152"/>
            <a:ext cx="777240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PROJECT OVERVIEW</a:t>
            </a:r>
            <a:endParaRPr lang="en-US" sz="2000" dirty="0"/>
          </a:p>
        </p:txBody>
      </p:sp>
      <p:sp>
        <p:nvSpPr>
          <p:cNvPr id="5" name="Shape 3"/>
          <p:cNvSpPr/>
          <p:nvPr/>
        </p:nvSpPr>
        <p:spPr>
          <a:xfrm>
            <a:off x="0" y="4892040"/>
            <a:ext cx="9144000" cy="251460"/>
          </a:xfrm>
          <a:prstGeom prst="rect">
            <a:avLst/>
          </a:prstGeom>
          <a:solidFill>
            <a:srgbClr val="0D1B3E"/>
          </a:solidFill>
          <a:ln w="12700">
            <a:solidFill>
              <a:srgbClr val="0D1B3E"/>
            </a:solidFill>
            <a:prstDash val="solid"/>
          </a:ln>
        </p:spPr>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HotelRevAI  |  AI-Driven Revenue Analysis</a:t>
            </a:r>
            <a:endParaRPr lang="en-US" sz="900" dirty="0"/>
          </a:p>
        </p:txBody>
      </p:sp>
      <p:sp>
        <p:nvSpPr>
          <p:cNvPr id="7" name="Shape 5"/>
          <p:cNvSpPr/>
          <p:nvPr/>
        </p:nvSpPr>
        <p:spPr>
          <a:xfrm>
            <a:off x="320040" y="777240"/>
            <a:ext cx="4160520" cy="3931920"/>
          </a:xfrm>
          <a:prstGeom prst="rect">
            <a:avLst/>
          </a:prstGeom>
          <a:solidFill>
            <a:srgbClr val="112244"/>
          </a:solidFill>
          <a:ln w="12700">
            <a:solidFill>
              <a:srgbClr val="1E3A6E"/>
            </a:solidFill>
            <a:prstDash val="solid"/>
          </a:ln>
          <a:effectLst>
            <a:outerShdw blurRad="101600" dist="38100" dir="8100000" algn="bl" rotWithShape="0">
              <a:srgbClr val="000000">
                <a:alpha val="10000"/>
              </a:srgbClr>
            </a:outerShdw>
          </a:effectLst>
        </p:spPr>
      </p:sp>
      <p:sp>
        <p:nvSpPr>
          <p:cNvPr id="8" name="Shape 6"/>
          <p:cNvSpPr/>
          <p:nvPr/>
        </p:nvSpPr>
        <p:spPr>
          <a:xfrm>
            <a:off x="320040" y="777240"/>
            <a:ext cx="64008" cy="3931920"/>
          </a:xfrm>
          <a:prstGeom prst="rect">
            <a:avLst/>
          </a:prstGeom>
          <a:solidFill>
            <a:srgbClr val="00BCD4"/>
          </a:solidFill>
          <a:ln w="12700">
            <a:solidFill>
              <a:srgbClr val="00BCD4"/>
            </a:solidFill>
            <a:prstDash val="solid"/>
          </a:ln>
        </p:spPr>
      </p:sp>
      <p:sp>
        <p:nvSpPr>
          <p:cNvPr id="9" name="Text 7"/>
          <p:cNvSpPr/>
          <p:nvPr/>
        </p:nvSpPr>
        <p:spPr>
          <a:xfrm>
            <a:off x="457200" y="896112"/>
            <a:ext cx="3840480" cy="320040"/>
          </a:xfrm>
          <a:prstGeom prst="rect">
            <a:avLst/>
          </a:prstGeom>
          <a:noFill/>
          <a:ln/>
        </p:spPr>
        <p:txBody>
          <a:bodyPr wrap="square" lIns="0" tIns="0" rIns="0" bIns="0" rtlCol="0" anchor="ctr"/>
          <a:lstStyle/>
          <a:p>
            <a:pPr marL="0" indent="0">
              <a:buNone/>
            </a:pPr>
            <a:r>
              <a:rPr lang="en-US" sz="1100" b="1" dirty="0">
                <a:solidFill>
                  <a:srgbClr val="00BCD4"/>
                </a:solidFill>
                <a:latin typeface="Calibri" pitchFamily="34" charset="0"/>
                <a:ea typeface="Calibri" pitchFamily="34" charset="-122"/>
                <a:cs typeface="Calibri" pitchFamily="34" charset="-120"/>
              </a:rPr>
              <a:t>PROBLEM STATEMENT</a:t>
            </a:r>
            <a:endParaRPr lang="en-US" sz="1100" dirty="0"/>
          </a:p>
        </p:txBody>
      </p:sp>
      <p:sp>
        <p:nvSpPr>
          <p:cNvPr id="10" name="Text 8"/>
          <p:cNvSpPr/>
          <p:nvPr/>
        </p:nvSpPr>
        <p:spPr>
          <a:xfrm>
            <a:off x="457200" y="1261872"/>
            <a:ext cx="3749040" cy="91440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Hotels generate massive volumes of raw booking data daily yet struggle to extract strategic insights. Without proper visualisation, it is difficult to identify peak seasons, understand channel performance, or develop targeted customer analysis.</a:t>
            </a:r>
            <a:endParaRPr lang="en-US" sz="1100" dirty="0"/>
          </a:p>
        </p:txBody>
      </p:sp>
      <p:sp>
        <p:nvSpPr>
          <p:cNvPr id="11" name="Text 9"/>
          <p:cNvSpPr/>
          <p:nvPr/>
        </p:nvSpPr>
        <p:spPr>
          <a:xfrm>
            <a:off x="457200" y="2304288"/>
            <a:ext cx="3749040" cy="274320"/>
          </a:xfrm>
          <a:prstGeom prst="rect">
            <a:avLst/>
          </a:prstGeom>
          <a:noFill/>
          <a:ln/>
        </p:spPr>
        <p:txBody>
          <a:bodyPr wrap="square" lIns="0" tIns="0" rIns="0" bIns="0" rtlCol="0" anchor="ctr"/>
          <a:lstStyle/>
          <a:p>
            <a:pPr marL="0" indent="0">
              <a:buNone/>
            </a:pPr>
            <a:r>
              <a:rPr lang="en-US" sz="1100" b="1" dirty="0">
                <a:solidFill>
                  <a:srgbClr val="CBD5E1"/>
                </a:solidFill>
                <a:latin typeface="Calibri" pitchFamily="34" charset="0"/>
                <a:ea typeface="Calibri" pitchFamily="34" charset="-122"/>
                <a:cs typeface="Calibri" pitchFamily="34" charset="-120"/>
              </a:rPr>
              <a:t>Objectives:</a:t>
            </a:r>
            <a:endParaRPr lang="en-US" sz="1100" dirty="0"/>
          </a:p>
        </p:txBody>
      </p:sp>
      <p:sp>
        <p:nvSpPr>
          <p:cNvPr id="12" name="Text 10"/>
          <p:cNvSpPr/>
          <p:nvPr/>
        </p:nvSpPr>
        <p:spPr>
          <a:xfrm>
            <a:off x="475488" y="2606040"/>
            <a:ext cx="3749040" cy="1920240"/>
          </a:xfrm>
          <a:prstGeom prst="rect">
            <a:avLst/>
          </a:prstGeom>
          <a:noFill/>
          <a:ln/>
        </p:spPr>
        <p:txBody>
          <a:bodyPr wrap="square" rtlCol="0" anchor="ctr"/>
          <a:lstStyle/>
          <a:p>
            <a:pPr marL="342900" indent="-342900">
              <a:buSzPct val="100000"/>
              <a:buChar char="•"/>
            </a:pPr>
            <a:r>
              <a:rPr lang="en-US" sz="1050" dirty="0">
                <a:solidFill>
                  <a:srgbClr val="CBD5E1"/>
                </a:solidFill>
                <a:latin typeface="Calibri" pitchFamily="34" charset="0"/>
                <a:ea typeface="Calibri" pitchFamily="34" charset="-122"/>
                <a:cs typeface="Calibri" pitchFamily="34" charset="-120"/>
              </a:rPr>
              <a:t>Analyse revenue performance &amp; growth trends</a:t>
            </a:r>
            <a:endParaRPr lang="en-US" sz="1050" dirty="0"/>
          </a:p>
          <a:p>
            <a:pPr marL="342900" indent="-342900">
              <a:buSzPct val="100000"/>
              <a:buChar char="•"/>
            </a:pPr>
            <a:r>
              <a:rPr lang="en-US" sz="1050" dirty="0">
                <a:solidFill>
                  <a:srgbClr val="CBD5E1"/>
                </a:solidFill>
                <a:latin typeface="Calibri" pitchFamily="34" charset="0"/>
                <a:ea typeface="Calibri" pitchFamily="34" charset="-122"/>
                <a:cs typeface="Calibri" pitchFamily="34" charset="-120"/>
              </a:rPr>
              <a:t>Evaluate ADR, cancellation rate, and guest counts</a:t>
            </a:r>
            <a:endParaRPr lang="en-US" sz="1050" dirty="0"/>
          </a:p>
          <a:p>
            <a:pPr marL="342900" indent="-342900">
              <a:buSzPct val="100000"/>
              <a:buChar char="•"/>
            </a:pPr>
            <a:r>
              <a:rPr lang="en-US" sz="1050" dirty="0">
                <a:solidFill>
                  <a:srgbClr val="CBD5E1"/>
                </a:solidFill>
                <a:latin typeface="Calibri" pitchFamily="34" charset="0"/>
                <a:ea typeface="Calibri" pitchFamily="34" charset="-122"/>
                <a:cs typeface="Calibri" pitchFamily="34" charset="-120"/>
              </a:rPr>
              <a:t>Analyse customer behaviour and booking patterns</a:t>
            </a:r>
            <a:endParaRPr lang="en-US" sz="1050" dirty="0"/>
          </a:p>
          <a:p>
            <a:pPr marL="342900" indent="-342900">
              <a:buSzPct val="100000"/>
              <a:buChar char="•"/>
            </a:pPr>
            <a:r>
              <a:rPr lang="en-US" sz="1050" dirty="0">
                <a:solidFill>
                  <a:srgbClr val="CBD5E1"/>
                </a:solidFill>
                <a:latin typeface="Calibri" pitchFamily="34" charset="0"/>
                <a:ea typeface="Calibri" pitchFamily="34" charset="-122"/>
                <a:cs typeface="Calibri" pitchFamily="34" charset="-120"/>
              </a:rPr>
              <a:t>Create 4 interactive Power BI dashboards</a:t>
            </a:r>
            <a:endParaRPr lang="en-US" sz="1050" dirty="0"/>
          </a:p>
          <a:p>
            <a:pPr marL="342900" indent="-342900">
              <a:buSzPct val="100000"/>
              <a:buChar char="•"/>
            </a:pPr>
            <a:r>
              <a:rPr lang="en-US" sz="1050" dirty="0">
                <a:solidFill>
                  <a:srgbClr val="CBD5E1"/>
                </a:solidFill>
                <a:latin typeface="Calibri" pitchFamily="34" charset="0"/>
                <a:ea typeface="Calibri" pitchFamily="34" charset="-122"/>
                <a:cs typeface="Calibri" pitchFamily="34" charset="-120"/>
              </a:rPr>
              <a:t>Enable data-driven hotel management decisions</a:t>
            </a:r>
            <a:endParaRPr lang="en-US" sz="1050" dirty="0"/>
          </a:p>
        </p:txBody>
      </p:sp>
      <p:sp>
        <p:nvSpPr>
          <p:cNvPr id="13" name="Shape 11"/>
          <p:cNvSpPr/>
          <p:nvPr/>
        </p:nvSpPr>
        <p:spPr>
          <a:xfrm>
            <a:off x="4663440" y="777240"/>
            <a:ext cx="4160520" cy="3931920"/>
          </a:xfrm>
          <a:prstGeom prst="rect">
            <a:avLst/>
          </a:prstGeom>
          <a:solidFill>
            <a:srgbClr val="112244"/>
          </a:solidFill>
          <a:ln w="12700">
            <a:solidFill>
              <a:srgbClr val="1E3A6E"/>
            </a:solidFill>
            <a:prstDash val="solid"/>
          </a:ln>
          <a:effectLst>
            <a:outerShdw blurRad="101600" dist="38100" dir="8100000" algn="bl" rotWithShape="0">
              <a:srgbClr val="000000">
                <a:alpha val="10000"/>
              </a:srgbClr>
            </a:outerShdw>
          </a:effectLst>
        </p:spPr>
      </p:sp>
      <p:sp>
        <p:nvSpPr>
          <p:cNvPr id="14" name="Shape 12"/>
          <p:cNvSpPr/>
          <p:nvPr/>
        </p:nvSpPr>
        <p:spPr>
          <a:xfrm>
            <a:off x="4663440" y="777240"/>
            <a:ext cx="64008" cy="3931920"/>
          </a:xfrm>
          <a:prstGeom prst="rect">
            <a:avLst/>
          </a:prstGeom>
          <a:solidFill>
            <a:srgbClr val="F0B429"/>
          </a:solidFill>
          <a:ln w="12700">
            <a:solidFill>
              <a:srgbClr val="F0B429"/>
            </a:solidFill>
            <a:prstDash val="solid"/>
          </a:ln>
        </p:spPr>
      </p:sp>
      <p:sp>
        <p:nvSpPr>
          <p:cNvPr id="15" name="Text 13"/>
          <p:cNvSpPr/>
          <p:nvPr/>
        </p:nvSpPr>
        <p:spPr>
          <a:xfrm>
            <a:off x="4800600" y="896112"/>
            <a:ext cx="3840480" cy="320040"/>
          </a:xfrm>
          <a:prstGeom prst="rect">
            <a:avLst/>
          </a:prstGeom>
          <a:noFill/>
          <a:ln/>
        </p:spPr>
        <p:txBody>
          <a:bodyPr wrap="square" lIns="0" tIns="0" rIns="0" bIns="0" rtlCol="0" anchor="ctr"/>
          <a:lstStyle/>
          <a:p>
            <a:pPr marL="0" indent="0">
              <a:buNone/>
            </a:pPr>
            <a:r>
              <a:rPr lang="en-US" sz="1100" b="1" dirty="0">
                <a:solidFill>
                  <a:srgbClr val="F0B429"/>
                </a:solidFill>
                <a:latin typeface="Calibri" pitchFamily="34" charset="0"/>
                <a:ea typeface="Calibri" pitchFamily="34" charset="-122"/>
                <a:cs typeface="Calibri" pitchFamily="34" charset="-120"/>
              </a:rPr>
              <a:t>DATASET AT A GLANCE</a:t>
            </a:r>
            <a:endParaRPr lang="en-US" sz="1100" dirty="0"/>
          </a:p>
        </p:txBody>
      </p:sp>
      <p:sp>
        <p:nvSpPr>
          <p:cNvPr id="16" name="Shape 14"/>
          <p:cNvSpPr/>
          <p:nvPr/>
        </p:nvSpPr>
        <p:spPr>
          <a:xfrm>
            <a:off x="4754880" y="1371600"/>
            <a:ext cx="3977640" cy="594360"/>
          </a:xfrm>
          <a:prstGeom prst="rect">
            <a:avLst/>
          </a:prstGeom>
          <a:solidFill>
            <a:srgbClr val="00BCD4">
              <a:alpha val="10000"/>
            </a:srgbClr>
          </a:solidFill>
          <a:ln w="12700">
            <a:solidFill>
              <a:srgbClr val="00BCD4">
                <a:alpha val="50000"/>
              </a:srgbClr>
            </a:solidFill>
            <a:prstDash val="solid"/>
          </a:ln>
        </p:spPr>
      </p:sp>
      <p:sp>
        <p:nvSpPr>
          <p:cNvPr id="17" name="Text 15"/>
          <p:cNvSpPr/>
          <p:nvPr/>
        </p:nvSpPr>
        <p:spPr>
          <a:xfrm>
            <a:off x="4846320" y="1408176"/>
            <a:ext cx="1828800" cy="502920"/>
          </a:xfrm>
          <a:prstGeom prst="rect">
            <a:avLst/>
          </a:prstGeom>
          <a:noFill/>
          <a:ln/>
        </p:spPr>
        <p:txBody>
          <a:bodyPr wrap="square" lIns="0" tIns="0" rIns="0" bIns="0" rtlCol="0" anchor="ctr"/>
          <a:lstStyle/>
          <a:p>
            <a:pPr marL="0" indent="0">
              <a:buNone/>
            </a:pPr>
            <a:r>
              <a:rPr lang="en-US" sz="1800" b="1" dirty="0">
                <a:solidFill>
                  <a:srgbClr val="00BCD4"/>
                </a:solidFill>
                <a:latin typeface="Calibri" pitchFamily="34" charset="0"/>
                <a:ea typeface="Calibri" pitchFamily="34" charset="-122"/>
                <a:cs typeface="Calibri" pitchFamily="34" charset="-120"/>
              </a:rPr>
              <a:t>75,000+</a:t>
            </a:r>
            <a:endParaRPr lang="en-US" sz="1800" dirty="0"/>
          </a:p>
        </p:txBody>
      </p:sp>
      <p:sp>
        <p:nvSpPr>
          <p:cNvPr id="18" name="Text 16"/>
          <p:cNvSpPr/>
          <p:nvPr/>
        </p:nvSpPr>
        <p:spPr>
          <a:xfrm>
            <a:off x="6583680" y="1463040"/>
            <a:ext cx="2011680" cy="411480"/>
          </a:xfrm>
          <a:prstGeom prst="rect">
            <a:avLst/>
          </a:prstGeom>
          <a:noFill/>
          <a:ln/>
        </p:spPr>
        <p:txBody>
          <a:bodyPr wrap="square" lIns="0" tIns="0" rIns="0" bIns="0" rtlCol="0" anchor="ctr"/>
          <a:lstStyle/>
          <a:p>
            <a:pPr marL="0" indent="0">
              <a:buNone/>
            </a:pPr>
            <a:r>
              <a:rPr lang="en-US" sz="1050" dirty="0">
                <a:solidFill>
                  <a:srgbClr val="CBD5E1"/>
                </a:solidFill>
                <a:latin typeface="Calibri" pitchFamily="34" charset="0"/>
                <a:ea typeface="Calibri" pitchFamily="34" charset="-122"/>
                <a:cs typeface="Calibri" pitchFamily="34" charset="-120"/>
              </a:rPr>
              <a:t>Booking Records</a:t>
            </a:r>
            <a:endParaRPr lang="en-US" sz="1050" dirty="0"/>
          </a:p>
        </p:txBody>
      </p:sp>
      <p:sp>
        <p:nvSpPr>
          <p:cNvPr id="19" name="Shape 17"/>
          <p:cNvSpPr/>
          <p:nvPr/>
        </p:nvSpPr>
        <p:spPr>
          <a:xfrm>
            <a:off x="4754880" y="2084832"/>
            <a:ext cx="3977640" cy="594360"/>
          </a:xfrm>
          <a:prstGeom prst="rect">
            <a:avLst/>
          </a:prstGeom>
          <a:solidFill>
            <a:srgbClr val="00BCD4">
              <a:alpha val="10000"/>
            </a:srgbClr>
          </a:solidFill>
          <a:ln w="12700">
            <a:solidFill>
              <a:srgbClr val="00BCD4">
                <a:alpha val="50000"/>
              </a:srgbClr>
            </a:solidFill>
            <a:prstDash val="solid"/>
          </a:ln>
        </p:spPr>
      </p:sp>
      <p:sp>
        <p:nvSpPr>
          <p:cNvPr id="20" name="Text 18"/>
          <p:cNvSpPr/>
          <p:nvPr/>
        </p:nvSpPr>
        <p:spPr>
          <a:xfrm>
            <a:off x="4846320" y="2121408"/>
            <a:ext cx="1828800" cy="502920"/>
          </a:xfrm>
          <a:prstGeom prst="rect">
            <a:avLst/>
          </a:prstGeom>
          <a:noFill/>
          <a:ln/>
        </p:spPr>
        <p:txBody>
          <a:bodyPr wrap="square" lIns="0" tIns="0" rIns="0" bIns="0" rtlCol="0" anchor="ctr"/>
          <a:lstStyle/>
          <a:p>
            <a:pPr marL="0" indent="0">
              <a:buNone/>
            </a:pPr>
            <a:r>
              <a:rPr lang="en-US" sz="1800" b="1" dirty="0">
                <a:solidFill>
                  <a:srgbClr val="00BCD4"/>
                </a:solidFill>
                <a:latin typeface="Calibri" pitchFamily="34" charset="0"/>
                <a:ea typeface="Calibri" pitchFamily="34" charset="-122"/>
                <a:cs typeface="Calibri" pitchFamily="34" charset="-120"/>
              </a:rPr>
              <a:t>2</a:t>
            </a:r>
            <a:endParaRPr lang="en-US" sz="1800" dirty="0"/>
          </a:p>
        </p:txBody>
      </p:sp>
      <p:sp>
        <p:nvSpPr>
          <p:cNvPr id="21" name="Text 19"/>
          <p:cNvSpPr/>
          <p:nvPr/>
        </p:nvSpPr>
        <p:spPr>
          <a:xfrm>
            <a:off x="6583680" y="2176272"/>
            <a:ext cx="2011680" cy="411480"/>
          </a:xfrm>
          <a:prstGeom prst="rect">
            <a:avLst/>
          </a:prstGeom>
          <a:noFill/>
          <a:ln/>
        </p:spPr>
        <p:txBody>
          <a:bodyPr wrap="square" lIns="0" tIns="0" rIns="0" bIns="0" rtlCol="0" anchor="ctr"/>
          <a:lstStyle/>
          <a:p>
            <a:pPr marL="0" indent="0">
              <a:buNone/>
            </a:pPr>
            <a:r>
              <a:rPr lang="en-US" sz="1050" dirty="0">
                <a:solidFill>
                  <a:srgbClr val="CBD5E1"/>
                </a:solidFill>
                <a:latin typeface="Calibri" pitchFamily="34" charset="0"/>
                <a:ea typeface="Calibri" pitchFamily="34" charset="-122"/>
                <a:cs typeface="Calibri" pitchFamily="34" charset="-120"/>
              </a:rPr>
              <a:t>Hotel Types (City &amp; Resort)</a:t>
            </a:r>
            <a:endParaRPr lang="en-US" sz="1050" dirty="0"/>
          </a:p>
        </p:txBody>
      </p:sp>
      <p:sp>
        <p:nvSpPr>
          <p:cNvPr id="22" name="Shape 20"/>
          <p:cNvSpPr/>
          <p:nvPr/>
        </p:nvSpPr>
        <p:spPr>
          <a:xfrm>
            <a:off x="4754880" y="2798064"/>
            <a:ext cx="3977640" cy="594360"/>
          </a:xfrm>
          <a:prstGeom prst="rect">
            <a:avLst/>
          </a:prstGeom>
          <a:solidFill>
            <a:srgbClr val="00BCD4">
              <a:alpha val="10000"/>
            </a:srgbClr>
          </a:solidFill>
          <a:ln w="12700">
            <a:solidFill>
              <a:srgbClr val="00BCD4">
                <a:alpha val="50000"/>
              </a:srgbClr>
            </a:solidFill>
            <a:prstDash val="solid"/>
          </a:ln>
        </p:spPr>
      </p:sp>
      <p:sp>
        <p:nvSpPr>
          <p:cNvPr id="23" name="Text 21"/>
          <p:cNvSpPr/>
          <p:nvPr/>
        </p:nvSpPr>
        <p:spPr>
          <a:xfrm>
            <a:off x="4846320" y="2834640"/>
            <a:ext cx="1828800" cy="502920"/>
          </a:xfrm>
          <a:prstGeom prst="rect">
            <a:avLst/>
          </a:prstGeom>
          <a:noFill/>
          <a:ln/>
        </p:spPr>
        <p:txBody>
          <a:bodyPr wrap="square" lIns="0" tIns="0" rIns="0" bIns="0" rtlCol="0" anchor="ctr"/>
          <a:lstStyle/>
          <a:p>
            <a:pPr marL="0" indent="0">
              <a:buNone/>
            </a:pPr>
            <a:r>
              <a:rPr lang="en-US" sz="1800" b="1" dirty="0">
                <a:solidFill>
                  <a:srgbClr val="00BCD4"/>
                </a:solidFill>
                <a:latin typeface="Calibri" pitchFamily="34" charset="0"/>
                <a:ea typeface="Calibri" pitchFamily="34" charset="-122"/>
                <a:cs typeface="Calibri" pitchFamily="34" charset="-120"/>
              </a:rPr>
              <a:t>2015–2017</a:t>
            </a:r>
            <a:endParaRPr lang="en-US" sz="1800" dirty="0"/>
          </a:p>
        </p:txBody>
      </p:sp>
      <p:sp>
        <p:nvSpPr>
          <p:cNvPr id="24" name="Text 22"/>
          <p:cNvSpPr/>
          <p:nvPr/>
        </p:nvSpPr>
        <p:spPr>
          <a:xfrm>
            <a:off x="6583680" y="2889504"/>
            <a:ext cx="2011680" cy="411480"/>
          </a:xfrm>
          <a:prstGeom prst="rect">
            <a:avLst/>
          </a:prstGeom>
          <a:noFill/>
          <a:ln/>
        </p:spPr>
        <p:txBody>
          <a:bodyPr wrap="square" lIns="0" tIns="0" rIns="0" bIns="0" rtlCol="0" anchor="ctr"/>
          <a:lstStyle/>
          <a:p>
            <a:pPr marL="0" indent="0">
              <a:buNone/>
            </a:pPr>
            <a:r>
              <a:rPr lang="en-US" sz="1050" dirty="0">
                <a:solidFill>
                  <a:srgbClr val="CBD5E1"/>
                </a:solidFill>
                <a:latin typeface="Calibri" pitchFamily="34" charset="0"/>
                <a:ea typeface="Calibri" pitchFamily="34" charset="-122"/>
                <a:cs typeface="Calibri" pitchFamily="34" charset="-120"/>
              </a:rPr>
              <a:t>Analysis Period</a:t>
            </a:r>
            <a:endParaRPr lang="en-US" sz="1050" dirty="0"/>
          </a:p>
        </p:txBody>
      </p:sp>
      <p:sp>
        <p:nvSpPr>
          <p:cNvPr id="25" name="Shape 23"/>
          <p:cNvSpPr/>
          <p:nvPr/>
        </p:nvSpPr>
        <p:spPr>
          <a:xfrm>
            <a:off x="4754880" y="3511296"/>
            <a:ext cx="3977640" cy="594360"/>
          </a:xfrm>
          <a:prstGeom prst="rect">
            <a:avLst/>
          </a:prstGeom>
          <a:solidFill>
            <a:srgbClr val="F0B429">
              <a:alpha val="10000"/>
            </a:srgbClr>
          </a:solidFill>
          <a:ln w="12700">
            <a:solidFill>
              <a:srgbClr val="F0B429">
                <a:alpha val="50000"/>
              </a:srgbClr>
            </a:solidFill>
            <a:prstDash val="solid"/>
          </a:ln>
        </p:spPr>
      </p:sp>
      <p:sp>
        <p:nvSpPr>
          <p:cNvPr id="26" name="Text 24"/>
          <p:cNvSpPr/>
          <p:nvPr/>
        </p:nvSpPr>
        <p:spPr>
          <a:xfrm>
            <a:off x="4846320" y="3547872"/>
            <a:ext cx="1828800" cy="502920"/>
          </a:xfrm>
          <a:prstGeom prst="rect">
            <a:avLst/>
          </a:prstGeom>
          <a:noFill/>
          <a:ln/>
        </p:spPr>
        <p:txBody>
          <a:bodyPr wrap="square" lIns="0" tIns="0" rIns="0" bIns="0" rtlCol="0" anchor="ctr"/>
          <a:lstStyle/>
          <a:p>
            <a:pPr marL="0" indent="0">
              <a:buNone/>
            </a:pPr>
            <a:r>
              <a:rPr lang="en-US" sz="1800" b="1" dirty="0">
                <a:solidFill>
                  <a:srgbClr val="F0B429"/>
                </a:solidFill>
                <a:latin typeface="Calibri" pitchFamily="34" charset="0"/>
                <a:ea typeface="Calibri" pitchFamily="34" charset="-122"/>
                <a:cs typeface="Calibri" pitchFamily="34" charset="-120"/>
              </a:rPr>
              <a:t>July–August</a:t>
            </a:r>
            <a:endParaRPr lang="en-US" sz="1800" dirty="0"/>
          </a:p>
        </p:txBody>
      </p:sp>
      <p:sp>
        <p:nvSpPr>
          <p:cNvPr id="27" name="Text 25"/>
          <p:cNvSpPr/>
          <p:nvPr/>
        </p:nvSpPr>
        <p:spPr>
          <a:xfrm>
            <a:off x="6583680" y="3602736"/>
            <a:ext cx="2011680" cy="411480"/>
          </a:xfrm>
          <a:prstGeom prst="rect">
            <a:avLst/>
          </a:prstGeom>
          <a:noFill/>
          <a:ln/>
        </p:spPr>
        <p:txBody>
          <a:bodyPr wrap="square" lIns="0" tIns="0" rIns="0" bIns="0" rtlCol="0" anchor="ctr"/>
          <a:lstStyle/>
          <a:p>
            <a:pPr marL="0" indent="0">
              <a:buNone/>
            </a:pPr>
            <a:r>
              <a:rPr lang="en-US" sz="1050" dirty="0">
                <a:solidFill>
                  <a:srgbClr val="CBD5E1"/>
                </a:solidFill>
                <a:latin typeface="Calibri" pitchFamily="34" charset="0"/>
                <a:ea typeface="Calibri" pitchFamily="34" charset="-122"/>
                <a:cs typeface="Calibri" pitchFamily="34" charset="-120"/>
              </a:rPr>
              <a:t>Coverage Window</a:t>
            </a:r>
            <a:endParaRPr lang="en-US" sz="1050" dirty="0"/>
          </a:p>
        </p:txBody>
      </p:sp>
      <p:sp>
        <p:nvSpPr>
          <p:cNvPr id="28" name="Text 26"/>
          <p:cNvSpPr/>
          <p:nvPr/>
        </p:nvSpPr>
        <p:spPr>
          <a:xfrm>
            <a:off x="4754880" y="4251960"/>
            <a:ext cx="3977640" cy="347472"/>
          </a:xfrm>
          <a:prstGeom prst="rect">
            <a:avLst/>
          </a:prstGeom>
          <a:noFill/>
          <a:ln/>
        </p:spPr>
        <p:txBody>
          <a:bodyPr wrap="square" lIns="0" tIns="0" rIns="0" bIns="0" rtlCol="0" anchor="ctr"/>
          <a:lstStyle/>
          <a:p>
            <a:pPr marL="0" indent="0">
              <a:buNone/>
            </a:pPr>
            <a:r>
              <a:rPr lang="en-US" sz="950" i="1" dirty="0">
                <a:solidFill>
                  <a:srgbClr val="94A3B8"/>
                </a:solidFill>
                <a:latin typeface="Calibri" pitchFamily="34" charset="0"/>
                <a:ea typeface="Calibri" pitchFamily="34" charset="-122"/>
                <a:cs typeface="Calibri" pitchFamily="34" charset="-120"/>
              </a:rPr>
              <a:t>Key Fields: ADR · Lead Time · Customer Type · Distribution Channel · Guest Count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E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3E"/>
          </a:solidFill>
          <a:ln w="12700">
            <a:solidFill>
              <a:srgbClr val="0D1B3E"/>
            </a:solidFill>
            <a:prstDash val="solid"/>
          </a:ln>
        </p:spPr>
      </p:sp>
      <p:sp>
        <p:nvSpPr>
          <p:cNvPr id="3" name="Shape 1"/>
          <p:cNvSpPr/>
          <p:nvPr/>
        </p:nvSpPr>
        <p:spPr>
          <a:xfrm>
            <a:off x="0" y="594360"/>
            <a:ext cx="9144000" cy="50292"/>
          </a:xfrm>
          <a:prstGeom prst="rect">
            <a:avLst/>
          </a:prstGeom>
          <a:solidFill>
            <a:srgbClr val="00BCD4"/>
          </a:solidFill>
          <a:ln w="12700">
            <a:solidFill>
              <a:srgbClr val="00BCD4"/>
            </a:solidFill>
            <a:prstDash val="solid"/>
          </a:ln>
        </p:spPr>
      </p:sp>
      <p:sp>
        <p:nvSpPr>
          <p:cNvPr id="4" name="Text 2"/>
          <p:cNvSpPr/>
          <p:nvPr/>
        </p:nvSpPr>
        <p:spPr>
          <a:xfrm>
            <a:off x="411480" y="73152"/>
            <a:ext cx="777240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TOOLS &amp; TECHNOLOGIES</a:t>
            </a:r>
            <a:endParaRPr lang="en-US" sz="2000" dirty="0"/>
          </a:p>
        </p:txBody>
      </p:sp>
      <p:sp>
        <p:nvSpPr>
          <p:cNvPr id="5" name="Shape 3"/>
          <p:cNvSpPr/>
          <p:nvPr/>
        </p:nvSpPr>
        <p:spPr>
          <a:xfrm>
            <a:off x="0" y="4892040"/>
            <a:ext cx="9144000" cy="251460"/>
          </a:xfrm>
          <a:prstGeom prst="rect">
            <a:avLst/>
          </a:prstGeom>
          <a:solidFill>
            <a:srgbClr val="0D1B3E"/>
          </a:solidFill>
          <a:ln w="12700">
            <a:solidFill>
              <a:srgbClr val="0D1B3E"/>
            </a:solidFill>
            <a:prstDash val="solid"/>
          </a:ln>
        </p:spPr>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HotelRevAI  |  AI-Driven Revenue Analysis</a:t>
            </a:r>
            <a:endParaRPr lang="en-US" sz="900" dirty="0"/>
          </a:p>
        </p:txBody>
      </p:sp>
      <p:sp>
        <p:nvSpPr>
          <p:cNvPr id="7" name="Shape 5"/>
          <p:cNvSpPr/>
          <p:nvPr/>
        </p:nvSpPr>
        <p:spPr>
          <a:xfrm>
            <a:off x="320040" y="777240"/>
            <a:ext cx="4023360" cy="1783080"/>
          </a:xfrm>
          <a:prstGeom prst="rect">
            <a:avLst/>
          </a:prstGeom>
          <a:solidFill>
            <a:srgbClr val="112244"/>
          </a:solidFill>
          <a:ln w="12700">
            <a:solidFill>
              <a:srgbClr val="1E3A6E"/>
            </a:solidFill>
            <a:prstDash val="solid"/>
          </a:ln>
          <a:effectLst>
            <a:outerShdw blurRad="101600" dist="38100" dir="8100000" algn="bl" rotWithShape="0">
              <a:srgbClr val="000000">
                <a:alpha val="10000"/>
              </a:srgbClr>
            </a:outerShdw>
          </a:effectLst>
        </p:spPr>
      </p:sp>
      <p:sp>
        <p:nvSpPr>
          <p:cNvPr id="9" name="Text 7"/>
          <p:cNvSpPr/>
          <p:nvPr/>
        </p:nvSpPr>
        <p:spPr>
          <a:xfrm>
            <a:off x="1143000" y="941832"/>
            <a:ext cx="301752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Power BI Desktop</a:t>
            </a:r>
            <a:endParaRPr lang="en-US" sz="1300" dirty="0"/>
          </a:p>
        </p:txBody>
      </p:sp>
      <p:sp>
        <p:nvSpPr>
          <p:cNvPr id="10" name="Text 8"/>
          <p:cNvSpPr/>
          <p:nvPr/>
        </p:nvSpPr>
        <p:spPr>
          <a:xfrm>
            <a:off x="1143000" y="1325880"/>
            <a:ext cx="3017520" cy="100584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Interactive dashboards, visualizations, KPI cards, charts, and graphs for reporting.</a:t>
            </a:r>
            <a:endParaRPr lang="en-US" sz="1050" dirty="0"/>
          </a:p>
        </p:txBody>
      </p:sp>
      <p:sp>
        <p:nvSpPr>
          <p:cNvPr id="11" name="Shape 9"/>
          <p:cNvSpPr/>
          <p:nvPr/>
        </p:nvSpPr>
        <p:spPr>
          <a:xfrm>
            <a:off x="320040" y="777240"/>
            <a:ext cx="4023360" cy="64008"/>
          </a:xfrm>
          <a:prstGeom prst="rect">
            <a:avLst/>
          </a:prstGeom>
          <a:solidFill>
            <a:srgbClr val="00BCD4"/>
          </a:solidFill>
          <a:ln w="12700">
            <a:solidFill>
              <a:srgbClr val="00BCD4"/>
            </a:solidFill>
            <a:prstDash val="solid"/>
          </a:ln>
        </p:spPr>
      </p:sp>
      <p:sp>
        <p:nvSpPr>
          <p:cNvPr id="12" name="Shape 10"/>
          <p:cNvSpPr/>
          <p:nvPr/>
        </p:nvSpPr>
        <p:spPr>
          <a:xfrm>
            <a:off x="4663440" y="777240"/>
            <a:ext cx="4023360" cy="1783080"/>
          </a:xfrm>
          <a:prstGeom prst="rect">
            <a:avLst/>
          </a:prstGeom>
          <a:solidFill>
            <a:srgbClr val="112244"/>
          </a:solidFill>
          <a:ln w="12700">
            <a:solidFill>
              <a:srgbClr val="1E3A6E"/>
            </a:solidFill>
            <a:prstDash val="solid"/>
          </a:ln>
          <a:effectLst>
            <a:outerShdw blurRad="101600" dist="38100" dir="8100000" algn="bl" rotWithShape="0">
              <a:srgbClr val="000000">
                <a:alpha val="10000"/>
              </a:srgbClr>
            </a:outerShdw>
          </a:effectLst>
        </p:spPr>
      </p:sp>
      <p:sp>
        <p:nvSpPr>
          <p:cNvPr id="14" name="Text 12"/>
          <p:cNvSpPr/>
          <p:nvPr/>
        </p:nvSpPr>
        <p:spPr>
          <a:xfrm>
            <a:off x="5486400" y="941832"/>
            <a:ext cx="301752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Power Query Editor</a:t>
            </a:r>
            <a:endParaRPr lang="en-US" sz="1300" dirty="0"/>
          </a:p>
        </p:txBody>
      </p:sp>
      <p:sp>
        <p:nvSpPr>
          <p:cNvPr id="15" name="Text 13"/>
          <p:cNvSpPr/>
          <p:nvPr/>
        </p:nvSpPr>
        <p:spPr>
          <a:xfrm>
            <a:off x="5486400" y="1325880"/>
            <a:ext cx="3017520" cy="100584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Data cleaning and preprocessing — handling nulls, duplicates, and type corrections.</a:t>
            </a:r>
            <a:endParaRPr lang="en-US" sz="1050" dirty="0"/>
          </a:p>
        </p:txBody>
      </p:sp>
      <p:sp>
        <p:nvSpPr>
          <p:cNvPr id="16" name="Shape 14"/>
          <p:cNvSpPr/>
          <p:nvPr/>
        </p:nvSpPr>
        <p:spPr>
          <a:xfrm>
            <a:off x="4663440" y="777240"/>
            <a:ext cx="4023360" cy="64008"/>
          </a:xfrm>
          <a:prstGeom prst="rect">
            <a:avLst/>
          </a:prstGeom>
          <a:solidFill>
            <a:srgbClr val="00BCD4"/>
          </a:solidFill>
          <a:ln w="12700">
            <a:solidFill>
              <a:srgbClr val="00BCD4"/>
            </a:solidFill>
            <a:prstDash val="solid"/>
          </a:ln>
        </p:spPr>
      </p:sp>
      <p:sp>
        <p:nvSpPr>
          <p:cNvPr id="17" name="Shape 15"/>
          <p:cNvSpPr/>
          <p:nvPr/>
        </p:nvSpPr>
        <p:spPr>
          <a:xfrm>
            <a:off x="320040" y="2834640"/>
            <a:ext cx="4023360" cy="1783080"/>
          </a:xfrm>
          <a:prstGeom prst="rect">
            <a:avLst/>
          </a:prstGeom>
          <a:solidFill>
            <a:srgbClr val="112244"/>
          </a:solidFill>
          <a:ln w="12700">
            <a:solidFill>
              <a:srgbClr val="1E3A6E"/>
            </a:solidFill>
            <a:prstDash val="solid"/>
          </a:ln>
          <a:effectLst>
            <a:outerShdw blurRad="101600" dist="38100" dir="8100000" algn="bl" rotWithShape="0">
              <a:srgbClr val="000000">
                <a:alpha val="10000"/>
              </a:srgbClr>
            </a:outerShdw>
          </a:effectLst>
        </p:spPr>
      </p:sp>
      <p:sp>
        <p:nvSpPr>
          <p:cNvPr id="19" name="Text 17"/>
          <p:cNvSpPr/>
          <p:nvPr/>
        </p:nvSpPr>
        <p:spPr>
          <a:xfrm>
            <a:off x="1143000" y="2999232"/>
            <a:ext cx="301752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DAX (Data Analysis Expressions)</a:t>
            </a:r>
            <a:endParaRPr lang="en-US" sz="1300" dirty="0"/>
          </a:p>
        </p:txBody>
      </p:sp>
      <p:sp>
        <p:nvSpPr>
          <p:cNvPr id="20" name="Text 18"/>
          <p:cNvSpPr/>
          <p:nvPr/>
        </p:nvSpPr>
        <p:spPr>
          <a:xfrm>
            <a:off x="1143000" y="3383280"/>
            <a:ext cx="3017520" cy="100584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Calculated measures and business metrics: revenue, occupancy, customer analysis.</a:t>
            </a:r>
            <a:endParaRPr lang="en-US" sz="1050" dirty="0"/>
          </a:p>
        </p:txBody>
      </p:sp>
      <p:sp>
        <p:nvSpPr>
          <p:cNvPr id="21" name="Shape 19"/>
          <p:cNvSpPr/>
          <p:nvPr/>
        </p:nvSpPr>
        <p:spPr>
          <a:xfrm>
            <a:off x="320040" y="2834640"/>
            <a:ext cx="4023360" cy="64008"/>
          </a:xfrm>
          <a:prstGeom prst="rect">
            <a:avLst/>
          </a:prstGeom>
          <a:solidFill>
            <a:srgbClr val="00BCD4"/>
          </a:solidFill>
          <a:ln w="12700">
            <a:solidFill>
              <a:srgbClr val="00BCD4"/>
            </a:solidFill>
            <a:prstDash val="solid"/>
          </a:ln>
        </p:spPr>
      </p:sp>
      <p:sp>
        <p:nvSpPr>
          <p:cNvPr id="22" name="Shape 20"/>
          <p:cNvSpPr/>
          <p:nvPr/>
        </p:nvSpPr>
        <p:spPr>
          <a:xfrm>
            <a:off x="4663440" y="2810373"/>
            <a:ext cx="4023360" cy="1783080"/>
          </a:xfrm>
          <a:prstGeom prst="rect">
            <a:avLst/>
          </a:prstGeom>
          <a:solidFill>
            <a:srgbClr val="112244"/>
          </a:solidFill>
          <a:ln w="12700">
            <a:solidFill>
              <a:srgbClr val="1E3A6E"/>
            </a:solidFill>
            <a:prstDash val="solid"/>
          </a:ln>
          <a:effectLst>
            <a:outerShdw blurRad="101600" dist="38100" dir="8100000" algn="bl" rotWithShape="0">
              <a:srgbClr val="000000">
                <a:alpha val="10000"/>
              </a:srgbClr>
            </a:outerShdw>
          </a:effectLst>
        </p:spPr>
      </p:sp>
      <p:sp>
        <p:nvSpPr>
          <p:cNvPr id="24" name="Text 22"/>
          <p:cNvSpPr/>
          <p:nvPr/>
        </p:nvSpPr>
        <p:spPr>
          <a:xfrm>
            <a:off x="5486400" y="2999232"/>
            <a:ext cx="301752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CSV Dataset (Kaggle)</a:t>
            </a:r>
            <a:endParaRPr lang="en-US" sz="1300" dirty="0"/>
          </a:p>
        </p:txBody>
      </p:sp>
      <p:sp>
        <p:nvSpPr>
          <p:cNvPr id="25" name="Text 23"/>
          <p:cNvSpPr/>
          <p:nvPr/>
        </p:nvSpPr>
        <p:spPr>
          <a:xfrm>
            <a:off x="5486400" y="3383280"/>
            <a:ext cx="3017520" cy="100584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Raw hotel booking records used as the primary data source for the entire analysis.</a:t>
            </a:r>
            <a:endParaRPr lang="en-US" sz="1050" dirty="0"/>
          </a:p>
        </p:txBody>
      </p:sp>
      <p:sp>
        <p:nvSpPr>
          <p:cNvPr id="26" name="Shape 24"/>
          <p:cNvSpPr/>
          <p:nvPr/>
        </p:nvSpPr>
        <p:spPr>
          <a:xfrm>
            <a:off x="4663440" y="2834640"/>
            <a:ext cx="4023360" cy="64008"/>
          </a:xfrm>
          <a:prstGeom prst="rect">
            <a:avLst/>
          </a:prstGeom>
          <a:solidFill>
            <a:srgbClr val="00BCD4"/>
          </a:solidFill>
          <a:ln w="12700">
            <a:solidFill>
              <a:srgbClr val="00BCD4"/>
            </a:solidFill>
            <a:prstDash val="solid"/>
          </a:ln>
        </p:spPr>
      </p:sp>
      <p:sp>
        <p:nvSpPr>
          <p:cNvPr id="27" name="Text 25"/>
          <p:cNvSpPr/>
          <p:nvPr/>
        </p:nvSpPr>
        <p:spPr>
          <a:xfrm>
            <a:off x="320040" y="4663440"/>
            <a:ext cx="8503920" cy="256032"/>
          </a:xfrm>
          <a:prstGeom prst="rect">
            <a:avLst/>
          </a:prstGeom>
          <a:noFill/>
          <a:ln/>
        </p:spPr>
        <p:txBody>
          <a:bodyPr wrap="square" lIns="0" tIns="0" rIns="0" bIns="0"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These tools together enable efficient data processing, analysis, and visualization within a single integrated platform.</a:t>
            </a:r>
            <a:endParaRPr lang="en-US" sz="1000" dirty="0"/>
          </a:p>
        </p:txBody>
      </p:sp>
      <p:sp>
        <p:nvSpPr>
          <p:cNvPr id="28" name="Text 6">
            <a:extLst>
              <a:ext uri="{FF2B5EF4-FFF2-40B4-BE49-F238E27FC236}">
                <a16:creationId xmlns:a16="http://schemas.microsoft.com/office/drawing/2014/main" id="{4CA6267C-A82F-F372-A4E0-37EFFA2C2B49}"/>
              </a:ext>
            </a:extLst>
          </p:cNvPr>
          <p:cNvSpPr/>
          <p:nvPr/>
        </p:nvSpPr>
        <p:spPr>
          <a:xfrm>
            <a:off x="411480" y="918972"/>
            <a:ext cx="640080" cy="6400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9" name="Text 11">
            <a:extLst>
              <a:ext uri="{FF2B5EF4-FFF2-40B4-BE49-F238E27FC236}">
                <a16:creationId xmlns:a16="http://schemas.microsoft.com/office/drawing/2014/main" id="{6532DCCC-D7CB-B8D1-4625-A2832AC4609B}"/>
              </a:ext>
            </a:extLst>
          </p:cNvPr>
          <p:cNvSpPr/>
          <p:nvPr/>
        </p:nvSpPr>
        <p:spPr>
          <a:xfrm>
            <a:off x="4754880" y="886968"/>
            <a:ext cx="640080" cy="6400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30" name="Text 16">
            <a:extLst>
              <a:ext uri="{FF2B5EF4-FFF2-40B4-BE49-F238E27FC236}">
                <a16:creationId xmlns:a16="http://schemas.microsoft.com/office/drawing/2014/main" id="{60EAF7B8-85BA-02DB-3795-526C521F97F4}"/>
              </a:ext>
            </a:extLst>
          </p:cNvPr>
          <p:cNvSpPr/>
          <p:nvPr/>
        </p:nvSpPr>
        <p:spPr>
          <a:xfrm>
            <a:off x="411480" y="2976372"/>
            <a:ext cx="640080" cy="6400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31" name="Text 21">
            <a:extLst>
              <a:ext uri="{FF2B5EF4-FFF2-40B4-BE49-F238E27FC236}">
                <a16:creationId xmlns:a16="http://schemas.microsoft.com/office/drawing/2014/main" id="{3D7980B7-ACB1-67BE-D292-9A339C790DE8}"/>
              </a:ext>
            </a:extLst>
          </p:cNvPr>
          <p:cNvSpPr/>
          <p:nvPr/>
        </p:nvSpPr>
        <p:spPr>
          <a:xfrm>
            <a:off x="4754880" y="2961601"/>
            <a:ext cx="640080" cy="64008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E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3E"/>
          </a:solidFill>
          <a:ln w="12700">
            <a:solidFill>
              <a:srgbClr val="0D1B3E"/>
            </a:solidFill>
            <a:prstDash val="solid"/>
          </a:ln>
        </p:spPr>
      </p:sp>
      <p:sp>
        <p:nvSpPr>
          <p:cNvPr id="3" name="Shape 1"/>
          <p:cNvSpPr/>
          <p:nvPr/>
        </p:nvSpPr>
        <p:spPr>
          <a:xfrm>
            <a:off x="0" y="594360"/>
            <a:ext cx="9144000" cy="50292"/>
          </a:xfrm>
          <a:prstGeom prst="rect">
            <a:avLst/>
          </a:prstGeom>
          <a:solidFill>
            <a:srgbClr val="00BCD4"/>
          </a:solidFill>
          <a:ln w="12700">
            <a:solidFill>
              <a:srgbClr val="00BCD4"/>
            </a:solidFill>
            <a:prstDash val="solid"/>
          </a:ln>
        </p:spPr>
      </p:sp>
      <p:sp>
        <p:nvSpPr>
          <p:cNvPr id="4" name="Text 2"/>
          <p:cNvSpPr/>
          <p:nvPr/>
        </p:nvSpPr>
        <p:spPr>
          <a:xfrm>
            <a:off x="411480" y="73152"/>
            <a:ext cx="777240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ROLE OF POWER BI &amp; WHY WE CHOSE IT</a:t>
            </a:r>
            <a:endParaRPr lang="en-US" sz="2000" dirty="0"/>
          </a:p>
        </p:txBody>
      </p:sp>
      <p:sp>
        <p:nvSpPr>
          <p:cNvPr id="5" name="Shape 3"/>
          <p:cNvSpPr/>
          <p:nvPr/>
        </p:nvSpPr>
        <p:spPr>
          <a:xfrm>
            <a:off x="0" y="4892040"/>
            <a:ext cx="9144000" cy="251460"/>
          </a:xfrm>
          <a:prstGeom prst="rect">
            <a:avLst/>
          </a:prstGeom>
          <a:solidFill>
            <a:srgbClr val="0D1B3E"/>
          </a:solidFill>
          <a:ln w="12700">
            <a:solidFill>
              <a:srgbClr val="0D1B3E"/>
            </a:solidFill>
            <a:prstDash val="solid"/>
          </a:ln>
        </p:spPr>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HotelRevAI  |  AI-Driven Revenue Analysis</a:t>
            </a:r>
            <a:endParaRPr lang="en-US" sz="900" dirty="0"/>
          </a:p>
        </p:txBody>
      </p:sp>
      <p:sp>
        <p:nvSpPr>
          <p:cNvPr id="7" name="Shape 5"/>
          <p:cNvSpPr/>
          <p:nvPr/>
        </p:nvSpPr>
        <p:spPr>
          <a:xfrm>
            <a:off x="256032" y="749808"/>
            <a:ext cx="4206240" cy="3977640"/>
          </a:xfrm>
          <a:prstGeom prst="rect">
            <a:avLst/>
          </a:prstGeom>
          <a:solidFill>
            <a:srgbClr val="112244"/>
          </a:solidFill>
          <a:ln w="12700">
            <a:solidFill>
              <a:srgbClr val="1E3A6E"/>
            </a:solidFill>
            <a:prstDash val="solid"/>
          </a:ln>
          <a:effectLst>
            <a:outerShdw blurRad="101600" dist="38100" dir="8100000" algn="bl" rotWithShape="0">
              <a:srgbClr val="000000">
                <a:alpha val="10000"/>
              </a:srgbClr>
            </a:outerShdw>
          </a:effectLst>
        </p:spPr>
      </p:sp>
      <p:sp>
        <p:nvSpPr>
          <p:cNvPr id="8" name="Shape 6"/>
          <p:cNvSpPr/>
          <p:nvPr/>
        </p:nvSpPr>
        <p:spPr>
          <a:xfrm>
            <a:off x="256032" y="749808"/>
            <a:ext cx="64008" cy="3977640"/>
          </a:xfrm>
          <a:prstGeom prst="rect">
            <a:avLst/>
          </a:prstGeom>
          <a:solidFill>
            <a:srgbClr val="00BCD4"/>
          </a:solidFill>
          <a:ln w="12700">
            <a:solidFill>
              <a:srgbClr val="00BCD4"/>
            </a:solidFill>
            <a:prstDash val="solid"/>
          </a:ln>
        </p:spPr>
      </p:sp>
      <p:sp>
        <p:nvSpPr>
          <p:cNvPr id="9" name="Text 7"/>
          <p:cNvSpPr/>
          <p:nvPr/>
        </p:nvSpPr>
        <p:spPr>
          <a:xfrm>
            <a:off x="402336" y="868680"/>
            <a:ext cx="3840480" cy="320040"/>
          </a:xfrm>
          <a:prstGeom prst="rect">
            <a:avLst/>
          </a:prstGeom>
          <a:noFill/>
          <a:ln/>
        </p:spPr>
        <p:txBody>
          <a:bodyPr wrap="square" lIns="0" tIns="0" rIns="0" bIns="0" rtlCol="0" anchor="ctr"/>
          <a:lstStyle/>
          <a:p>
            <a:pPr marL="0" indent="0">
              <a:buNone/>
            </a:pPr>
            <a:r>
              <a:rPr lang="en-US" sz="1100" b="1" dirty="0">
                <a:solidFill>
                  <a:srgbClr val="00BCD4"/>
                </a:solidFill>
                <a:latin typeface="Calibri" pitchFamily="34" charset="0"/>
                <a:ea typeface="Calibri" pitchFamily="34" charset="-122"/>
                <a:cs typeface="Calibri" pitchFamily="34" charset="-120"/>
              </a:rPr>
              <a:t>SIGNIFICANCE OF POWER BI</a:t>
            </a:r>
            <a:endParaRPr lang="en-US" sz="1100" dirty="0"/>
          </a:p>
        </p:txBody>
      </p:sp>
      <p:sp>
        <p:nvSpPr>
          <p:cNvPr id="10" name="Shape 8"/>
          <p:cNvSpPr/>
          <p:nvPr/>
        </p:nvSpPr>
        <p:spPr>
          <a:xfrm>
            <a:off x="347472" y="1325880"/>
            <a:ext cx="3977640" cy="594360"/>
          </a:xfrm>
          <a:prstGeom prst="rect">
            <a:avLst/>
          </a:prstGeom>
          <a:solidFill>
            <a:srgbClr val="00BCD4">
              <a:alpha val="12000"/>
            </a:srgbClr>
          </a:solidFill>
          <a:ln w="12700">
            <a:solidFill>
              <a:srgbClr val="00BCD4">
                <a:alpha val="45000"/>
              </a:srgbClr>
            </a:solidFill>
            <a:prstDash val="solid"/>
          </a:ln>
        </p:spPr>
      </p:sp>
      <p:sp>
        <p:nvSpPr>
          <p:cNvPr id="11" name="Shape 9"/>
          <p:cNvSpPr/>
          <p:nvPr/>
        </p:nvSpPr>
        <p:spPr>
          <a:xfrm>
            <a:off x="347472" y="1490472"/>
            <a:ext cx="45720" cy="274320"/>
          </a:xfrm>
          <a:prstGeom prst="rect">
            <a:avLst/>
          </a:prstGeom>
          <a:solidFill>
            <a:srgbClr val="00BCD4"/>
          </a:solidFill>
          <a:ln w="12700">
            <a:solidFill>
              <a:srgbClr val="00BCD4"/>
            </a:solidFill>
            <a:prstDash val="solid"/>
          </a:ln>
        </p:spPr>
      </p:sp>
      <p:sp>
        <p:nvSpPr>
          <p:cNvPr id="12" name="Text 10"/>
          <p:cNvSpPr/>
          <p:nvPr/>
        </p:nvSpPr>
        <p:spPr>
          <a:xfrm>
            <a:off x="475488" y="1417320"/>
            <a:ext cx="3749040" cy="41148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Converts raw data into interactive visual insights</a:t>
            </a:r>
            <a:endParaRPr lang="en-US" sz="1100" dirty="0"/>
          </a:p>
        </p:txBody>
      </p:sp>
      <p:sp>
        <p:nvSpPr>
          <p:cNvPr id="13" name="Shape 11"/>
          <p:cNvSpPr/>
          <p:nvPr/>
        </p:nvSpPr>
        <p:spPr>
          <a:xfrm>
            <a:off x="347472" y="2075688"/>
            <a:ext cx="3977640" cy="594360"/>
          </a:xfrm>
          <a:prstGeom prst="rect">
            <a:avLst/>
          </a:prstGeom>
          <a:solidFill>
            <a:srgbClr val="F0B429">
              <a:alpha val="12000"/>
            </a:srgbClr>
          </a:solidFill>
          <a:ln w="12700">
            <a:solidFill>
              <a:srgbClr val="F0B429">
                <a:alpha val="45000"/>
              </a:srgbClr>
            </a:solidFill>
            <a:prstDash val="solid"/>
          </a:ln>
        </p:spPr>
      </p:sp>
      <p:sp>
        <p:nvSpPr>
          <p:cNvPr id="14" name="Shape 12"/>
          <p:cNvSpPr/>
          <p:nvPr/>
        </p:nvSpPr>
        <p:spPr>
          <a:xfrm>
            <a:off x="347472" y="2240280"/>
            <a:ext cx="45720" cy="274320"/>
          </a:xfrm>
          <a:prstGeom prst="rect">
            <a:avLst/>
          </a:prstGeom>
          <a:solidFill>
            <a:srgbClr val="F0B429"/>
          </a:solidFill>
          <a:ln w="12700">
            <a:solidFill>
              <a:srgbClr val="F0B429"/>
            </a:solidFill>
            <a:prstDash val="solid"/>
          </a:ln>
        </p:spPr>
      </p:sp>
      <p:sp>
        <p:nvSpPr>
          <p:cNvPr id="15" name="Text 13"/>
          <p:cNvSpPr/>
          <p:nvPr/>
        </p:nvSpPr>
        <p:spPr>
          <a:xfrm>
            <a:off x="475488" y="2167128"/>
            <a:ext cx="3749040" cy="41148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Supports real-time data analysis &amp; live connections</a:t>
            </a:r>
            <a:endParaRPr lang="en-US" sz="1100" dirty="0"/>
          </a:p>
        </p:txBody>
      </p:sp>
      <p:sp>
        <p:nvSpPr>
          <p:cNvPr id="16" name="Shape 14"/>
          <p:cNvSpPr/>
          <p:nvPr/>
        </p:nvSpPr>
        <p:spPr>
          <a:xfrm>
            <a:off x="347472" y="2825496"/>
            <a:ext cx="3977640" cy="594360"/>
          </a:xfrm>
          <a:prstGeom prst="rect">
            <a:avLst/>
          </a:prstGeom>
          <a:solidFill>
            <a:srgbClr val="00BCD4">
              <a:alpha val="12000"/>
            </a:srgbClr>
          </a:solidFill>
          <a:ln w="12700">
            <a:solidFill>
              <a:srgbClr val="00BCD4">
                <a:alpha val="45000"/>
              </a:srgbClr>
            </a:solidFill>
            <a:prstDash val="solid"/>
          </a:ln>
        </p:spPr>
      </p:sp>
      <p:sp>
        <p:nvSpPr>
          <p:cNvPr id="17" name="Shape 15"/>
          <p:cNvSpPr/>
          <p:nvPr/>
        </p:nvSpPr>
        <p:spPr>
          <a:xfrm>
            <a:off x="347472" y="2990088"/>
            <a:ext cx="45720" cy="274320"/>
          </a:xfrm>
          <a:prstGeom prst="rect">
            <a:avLst/>
          </a:prstGeom>
          <a:solidFill>
            <a:srgbClr val="00BCD4"/>
          </a:solidFill>
          <a:ln w="12700">
            <a:solidFill>
              <a:srgbClr val="00BCD4"/>
            </a:solidFill>
            <a:prstDash val="solid"/>
          </a:ln>
        </p:spPr>
      </p:sp>
      <p:sp>
        <p:nvSpPr>
          <p:cNvPr id="18" name="Text 16"/>
          <p:cNvSpPr/>
          <p:nvPr/>
        </p:nvSpPr>
        <p:spPr>
          <a:xfrm>
            <a:off x="475488" y="2916936"/>
            <a:ext cx="3749040" cy="41148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Provides user-friendly drag-and-drop dashboards</a:t>
            </a:r>
            <a:endParaRPr lang="en-US" sz="1100" dirty="0"/>
          </a:p>
        </p:txBody>
      </p:sp>
      <p:sp>
        <p:nvSpPr>
          <p:cNvPr id="19" name="Shape 17"/>
          <p:cNvSpPr/>
          <p:nvPr/>
        </p:nvSpPr>
        <p:spPr>
          <a:xfrm>
            <a:off x="347472" y="3575304"/>
            <a:ext cx="3977640" cy="594360"/>
          </a:xfrm>
          <a:prstGeom prst="rect">
            <a:avLst/>
          </a:prstGeom>
          <a:solidFill>
            <a:srgbClr val="F0B429">
              <a:alpha val="12000"/>
            </a:srgbClr>
          </a:solidFill>
          <a:ln w="12700">
            <a:solidFill>
              <a:srgbClr val="F0B429">
                <a:alpha val="45000"/>
              </a:srgbClr>
            </a:solidFill>
            <a:prstDash val="solid"/>
          </a:ln>
        </p:spPr>
      </p:sp>
      <p:sp>
        <p:nvSpPr>
          <p:cNvPr id="20" name="Shape 18"/>
          <p:cNvSpPr/>
          <p:nvPr/>
        </p:nvSpPr>
        <p:spPr>
          <a:xfrm>
            <a:off x="347472" y="3739896"/>
            <a:ext cx="45720" cy="274320"/>
          </a:xfrm>
          <a:prstGeom prst="rect">
            <a:avLst/>
          </a:prstGeom>
          <a:solidFill>
            <a:srgbClr val="F0B429"/>
          </a:solidFill>
          <a:ln w="12700">
            <a:solidFill>
              <a:srgbClr val="F0B429"/>
            </a:solidFill>
            <a:prstDash val="solid"/>
          </a:ln>
        </p:spPr>
      </p:sp>
      <p:sp>
        <p:nvSpPr>
          <p:cNvPr id="21" name="Text 19"/>
          <p:cNvSpPr/>
          <p:nvPr/>
        </p:nvSpPr>
        <p:spPr>
          <a:xfrm>
            <a:off x="475488" y="3666744"/>
            <a:ext cx="3749040" cy="41148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Enables better, faster business decision-making</a:t>
            </a:r>
            <a:endParaRPr lang="en-US" sz="1100" dirty="0"/>
          </a:p>
        </p:txBody>
      </p:sp>
      <p:sp>
        <p:nvSpPr>
          <p:cNvPr id="22" name="Shape 20"/>
          <p:cNvSpPr/>
          <p:nvPr/>
        </p:nvSpPr>
        <p:spPr>
          <a:xfrm>
            <a:off x="4681728" y="749808"/>
            <a:ext cx="4206240" cy="3977640"/>
          </a:xfrm>
          <a:prstGeom prst="rect">
            <a:avLst/>
          </a:prstGeom>
          <a:solidFill>
            <a:srgbClr val="112244"/>
          </a:solidFill>
          <a:ln w="12700">
            <a:solidFill>
              <a:srgbClr val="1E3A6E"/>
            </a:solidFill>
            <a:prstDash val="solid"/>
          </a:ln>
          <a:effectLst>
            <a:outerShdw blurRad="101600" dist="38100" dir="8100000" algn="bl" rotWithShape="0">
              <a:srgbClr val="000000">
                <a:alpha val="10000"/>
              </a:srgbClr>
            </a:outerShdw>
          </a:effectLst>
        </p:spPr>
      </p:sp>
      <p:sp>
        <p:nvSpPr>
          <p:cNvPr id="23" name="Shape 21"/>
          <p:cNvSpPr/>
          <p:nvPr/>
        </p:nvSpPr>
        <p:spPr>
          <a:xfrm>
            <a:off x="4681728" y="749808"/>
            <a:ext cx="64008" cy="3977640"/>
          </a:xfrm>
          <a:prstGeom prst="rect">
            <a:avLst/>
          </a:prstGeom>
          <a:solidFill>
            <a:srgbClr val="F0B429"/>
          </a:solidFill>
          <a:ln w="12700">
            <a:solidFill>
              <a:srgbClr val="F0B429"/>
            </a:solidFill>
            <a:prstDash val="solid"/>
          </a:ln>
        </p:spPr>
      </p:sp>
      <p:sp>
        <p:nvSpPr>
          <p:cNvPr id="24" name="Text 22"/>
          <p:cNvSpPr/>
          <p:nvPr/>
        </p:nvSpPr>
        <p:spPr>
          <a:xfrm>
            <a:off x="4828032" y="868680"/>
            <a:ext cx="3840480" cy="320040"/>
          </a:xfrm>
          <a:prstGeom prst="rect">
            <a:avLst/>
          </a:prstGeom>
          <a:noFill/>
          <a:ln/>
        </p:spPr>
        <p:txBody>
          <a:bodyPr wrap="square" lIns="0" tIns="0" rIns="0" bIns="0" rtlCol="0" anchor="ctr"/>
          <a:lstStyle/>
          <a:p>
            <a:pPr marL="0" indent="0">
              <a:buNone/>
            </a:pPr>
            <a:r>
              <a:rPr lang="en-US" sz="1100" b="1" dirty="0">
                <a:solidFill>
                  <a:srgbClr val="F0B429"/>
                </a:solidFill>
                <a:latin typeface="Calibri" pitchFamily="34" charset="0"/>
                <a:ea typeface="Calibri" pitchFamily="34" charset="-122"/>
                <a:cs typeface="Calibri" pitchFamily="34" charset="-120"/>
              </a:rPr>
              <a:t>WHY POWER BI?</a:t>
            </a:r>
            <a:endParaRPr lang="en-US" sz="1100" dirty="0"/>
          </a:p>
        </p:txBody>
      </p:sp>
      <p:sp>
        <p:nvSpPr>
          <p:cNvPr id="25" name="Shape 23"/>
          <p:cNvSpPr/>
          <p:nvPr/>
        </p:nvSpPr>
        <p:spPr>
          <a:xfrm>
            <a:off x="4773168" y="1325880"/>
            <a:ext cx="3977640" cy="594360"/>
          </a:xfrm>
          <a:prstGeom prst="rect">
            <a:avLst/>
          </a:prstGeom>
          <a:solidFill>
            <a:srgbClr val="112244"/>
          </a:solidFill>
          <a:ln w="12700">
            <a:solidFill>
              <a:srgbClr val="1E3A6E"/>
            </a:solidFill>
            <a:prstDash val="solid"/>
          </a:ln>
        </p:spPr>
      </p:sp>
      <p:sp>
        <p:nvSpPr>
          <p:cNvPr id="26" name="Text 24"/>
          <p:cNvSpPr/>
          <p:nvPr/>
        </p:nvSpPr>
        <p:spPr>
          <a:xfrm>
            <a:off x="4828032" y="1399032"/>
            <a:ext cx="411480" cy="438912"/>
          </a:xfrm>
          <a:prstGeom prst="rect">
            <a:avLst/>
          </a:prstGeom>
          <a:noFill/>
          <a:ln/>
        </p:spPr>
        <p:txBody>
          <a:bodyPr wrap="square" rtlCol="0" anchor="ctr"/>
          <a:lstStyle/>
          <a:p>
            <a:pPr marL="0" indent="0" algn="ctr">
              <a:buNone/>
            </a:pPr>
            <a:r>
              <a:rPr lang="en-US" sz="1800" dirty="0">
                <a:solidFill>
                  <a:schemeClr val="accent4"/>
                </a:solidFill>
              </a:rPr>
              <a:t>→</a:t>
            </a:r>
          </a:p>
        </p:txBody>
      </p:sp>
      <p:sp>
        <p:nvSpPr>
          <p:cNvPr id="27" name="Text 25"/>
          <p:cNvSpPr/>
          <p:nvPr/>
        </p:nvSpPr>
        <p:spPr>
          <a:xfrm>
            <a:off x="5285232" y="1362456"/>
            <a:ext cx="3337560" cy="256032"/>
          </a:xfrm>
          <a:prstGeom prst="rect">
            <a:avLst/>
          </a:prstGeom>
          <a:noFill/>
          <a:ln/>
        </p:spPr>
        <p:txBody>
          <a:bodyPr wrap="square" lIns="0" tIns="0" rIns="0" bIns="0" rtlCol="0" anchor="ctr"/>
          <a:lstStyle/>
          <a:p>
            <a:pPr marL="0" indent="0">
              <a:buNone/>
            </a:pPr>
            <a:r>
              <a:rPr lang="en-US" sz="1050" b="1" dirty="0">
                <a:solidFill>
                  <a:srgbClr val="F0B429"/>
                </a:solidFill>
                <a:latin typeface="Calibri" pitchFamily="34" charset="0"/>
                <a:ea typeface="Calibri" pitchFamily="34" charset="-122"/>
                <a:cs typeface="Calibri" pitchFamily="34" charset="-120"/>
              </a:rPr>
              <a:t>All-in-One Platform</a:t>
            </a:r>
            <a:endParaRPr lang="en-US" sz="1050" dirty="0"/>
          </a:p>
        </p:txBody>
      </p:sp>
      <p:sp>
        <p:nvSpPr>
          <p:cNvPr id="28" name="Text 26"/>
          <p:cNvSpPr/>
          <p:nvPr/>
        </p:nvSpPr>
        <p:spPr>
          <a:xfrm>
            <a:off x="5285232" y="1618488"/>
            <a:ext cx="3337560" cy="27432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Combines data cleaning, modelling, and visualization in one integrated tool.</a:t>
            </a:r>
            <a:endParaRPr lang="en-US" sz="950" dirty="0"/>
          </a:p>
        </p:txBody>
      </p:sp>
      <p:sp>
        <p:nvSpPr>
          <p:cNvPr id="29" name="Shape 27"/>
          <p:cNvSpPr/>
          <p:nvPr/>
        </p:nvSpPr>
        <p:spPr>
          <a:xfrm>
            <a:off x="4773168" y="2075688"/>
            <a:ext cx="3977640" cy="594360"/>
          </a:xfrm>
          <a:prstGeom prst="rect">
            <a:avLst/>
          </a:prstGeom>
          <a:solidFill>
            <a:srgbClr val="112244"/>
          </a:solidFill>
          <a:ln w="12700">
            <a:solidFill>
              <a:srgbClr val="1E3A6E"/>
            </a:solidFill>
            <a:prstDash val="solid"/>
          </a:ln>
        </p:spPr>
      </p:sp>
      <p:sp>
        <p:nvSpPr>
          <p:cNvPr id="30" name="Text 28"/>
          <p:cNvSpPr/>
          <p:nvPr/>
        </p:nvSpPr>
        <p:spPr>
          <a:xfrm>
            <a:off x="4828032" y="2148840"/>
            <a:ext cx="411480" cy="438912"/>
          </a:xfrm>
          <a:prstGeom prst="rect">
            <a:avLst/>
          </a:prstGeom>
          <a:noFill/>
          <a:ln/>
        </p:spPr>
        <p:txBody>
          <a:bodyPr wrap="square" rtlCol="0" anchor="ctr"/>
          <a:lstStyle/>
          <a:p>
            <a:pPr marL="0" indent="0" algn="ctr">
              <a:buNone/>
            </a:pPr>
            <a:r>
              <a:rPr lang="en-US" sz="1800" dirty="0">
                <a:solidFill>
                  <a:schemeClr val="accent4"/>
                </a:solidFill>
              </a:rPr>
              <a:t>∑</a:t>
            </a:r>
          </a:p>
        </p:txBody>
      </p:sp>
      <p:sp>
        <p:nvSpPr>
          <p:cNvPr id="31" name="Text 29"/>
          <p:cNvSpPr/>
          <p:nvPr/>
        </p:nvSpPr>
        <p:spPr>
          <a:xfrm>
            <a:off x="5285232" y="2112264"/>
            <a:ext cx="3337560" cy="256032"/>
          </a:xfrm>
          <a:prstGeom prst="rect">
            <a:avLst/>
          </a:prstGeom>
          <a:noFill/>
          <a:ln/>
        </p:spPr>
        <p:txBody>
          <a:bodyPr wrap="square" lIns="0" tIns="0" rIns="0" bIns="0" rtlCol="0" anchor="ctr"/>
          <a:lstStyle/>
          <a:p>
            <a:pPr marL="0" indent="0">
              <a:buNone/>
            </a:pPr>
            <a:r>
              <a:rPr lang="en-US" sz="1050" b="1" dirty="0">
                <a:solidFill>
                  <a:srgbClr val="F0B429"/>
                </a:solidFill>
                <a:latin typeface="Calibri" pitchFamily="34" charset="0"/>
                <a:ea typeface="Calibri" pitchFamily="34" charset="-122"/>
                <a:cs typeface="Calibri" pitchFamily="34" charset="-120"/>
              </a:rPr>
              <a:t>DAX Support</a:t>
            </a:r>
            <a:endParaRPr lang="en-US" sz="1050" dirty="0"/>
          </a:p>
        </p:txBody>
      </p:sp>
      <p:sp>
        <p:nvSpPr>
          <p:cNvPr id="32" name="Text 30"/>
          <p:cNvSpPr/>
          <p:nvPr/>
        </p:nvSpPr>
        <p:spPr>
          <a:xfrm>
            <a:off x="5285232" y="2368296"/>
            <a:ext cx="3337560" cy="27432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Advanced calculated measures for complex business KPIs and metrics.</a:t>
            </a:r>
            <a:endParaRPr lang="en-US" sz="950" dirty="0"/>
          </a:p>
        </p:txBody>
      </p:sp>
      <p:sp>
        <p:nvSpPr>
          <p:cNvPr id="33" name="Shape 31"/>
          <p:cNvSpPr/>
          <p:nvPr/>
        </p:nvSpPr>
        <p:spPr>
          <a:xfrm>
            <a:off x="4773168" y="2825496"/>
            <a:ext cx="3977640" cy="594360"/>
          </a:xfrm>
          <a:prstGeom prst="rect">
            <a:avLst/>
          </a:prstGeom>
          <a:solidFill>
            <a:srgbClr val="112244"/>
          </a:solidFill>
          <a:ln w="12700">
            <a:solidFill>
              <a:srgbClr val="1E3A6E"/>
            </a:solidFill>
            <a:prstDash val="solid"/>
          </a:ln>
        </p:spPr>
      </p:sp>
      <p:sp>
        <p:nvSpPr>
          <p:cNvPr id="34" name="Text 32"/>
          <p:cNvSpPr/>
          <p:nvPr/>
        </p:nvSpPr>
        <p:spPr>
          <a:xfrm>
            <a:off x="4828032" y="2898648"/>
            <a:ext cx="411480" cy="438912"/>
          </a:xfrm>
          <a:prstGeom prst="rect">
            <a:avLst/>
          </a:prstGeom>
          <a:noFill/>
          <a:ln/>
        </p:spPr>
        <p:txBody>
          <a:bodyPr wrap="square" rtlCol="0" anchor="ctr"/>
          <a:lstStyle/>
          <a:p>
            <a:pPr marL="0" indent="0" algn="ctr">
              <a:buNone/>
            </a:pPr>
            <a:r>
              <a:rPr lang="en-US" sz="1800" dirty="0">
                <a:solidFill>
                  <a:schemeClr val="accent4"/>
                </a:solidFill>
              </a:rPr>
              <a:t>◈</a:t>
            </a:r>
          </a:p>
        </p:txBody>
      </p:sp>
      <p:sp>
        <p:nvSpPr>
          <p:cNvPr id="35" name="Text 33"/>
          <p:cNvSpPr/>
          <p:nvPr/>
        </p:nvSpPr>
        <p:spPr>
          <a:xfrm>
            <a:off x="5285232" y="2862072"/>
            <a:ext cx="3337560" cy="256032"/>
          </a:xfrm>
          <a:prstGeom prst="rect">
            <a:avLst/>
          </a:prstGeom>
          <a:noFill/>
          <a:ln/>
        </p:spPr>
        <p:txBody>
          <a:bodyPr wrap="square" lIns="0" tIns="0" rIns="0" bIns="0" rtlCol="0" anchor="ctr"/>
          <a:lstStyle/>
          <a:p>
            <a:pPr marL="0" indent="0">
              <a:buNone/>
            </a:pPr>
            <a:r>
              <a:rPr lang="en-US" sz="1050" b="1" dirty="0">
                <a:solidFill>
                  <a:srgbClr val="F0B429"/>
                </a:solidFill>
                <a:latin typeface="Calibri" pitchFamily="34" charset="0"/>
                <a:ea typeface="Calibri" pitchFamily="34" charset="-122"/>
                <a:cs typeface="Calibri" pitchFamily="34" charset="-120"/>
              </a:rPr>
              <a:t>Easy Dashboard Building</a:t>
            </a:r>
            <a:endParaRPr lang="en-US" sz="1050" dirty="0"/>
          </a:p>
        </p:txBody>
      </p:sp>
      <p:sp>
        <p:nvSpPr>
          <p:cNvPr id="36" name="Text 34"/>
          <p:cNvSpPr/>
          <p:nvPr/>
        </p:nvSpPr>
        <p:spPr>
          <a:xfrm>
            <a:off x="5285232" y="3118104"/>
            <a:ext cx="3337560" cy="27432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Drag-and-drop interface for rapidly building interactive visual reports.</a:t>
            </a:r>
            <a:endParaRPr lang="en-US" sz="950" dirty="0"/>
          </a:p>
        </p:txBody>
      </p:sp>
      <p:sp>
        <p:nvSpPr>
          <p:cNvPr id="37" name="Shape 35"/>
          <p:cNvSpPr/>
          <p:nvPr/>
        </p:nvSpPr>
        <p:spPr>
          <a:xfrm>
            <a:off x="4773168" y="3575304"/>
            <a:ext cx="3977640" cy="594360"/>
          </a:xfrm>
          <a:prstGeom prst="rect">
            <a:avLst/>
          </a:prstGeom>
          <a:solidFill>
            <a:srgbClr val="112244"/>
          </a:solidFill>
          <a:ln w="12700">
            <a:solidFill>
              <a:srgbClr val="1E3A6E"/>
            </a:solidFill>
            <a:prstDash val="solid"/>
          </a:ln>
        </p:spPr>
      </p:sp>
      <p:sp>
        <p:nvSpPr>
          <p:cNvPr id="38" name="Text 36"/>
          <p:cNvSpPr/>
          <p:nvPr/>
        </p:nvSpPr>
        <p:spPr>
          <a:xfrm>
            <a:off x="4828032" y="3648456"/>
            <a:ext cx="411480" cy="438912"/>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39" name="Text 37"/>
          <p:cNvSpPr/>
          <p:nvPr/>
        </p:nvSpPr>
        <p:spPr>
          <a:xfrm>
            <a:off x="5285232" y="3611880"/>
            <a:ext cx="3337560" cy="256032"/>
          </a:xfrm>
          <a:prstGeom prst="rect">
            <a:avLst/>
          </a:prstGeom>
          <a:noFill/>
          <a:ln/>
        </p:spPr>
        <p:txBody>
          <a:bodyPr wrap="square" lIns="0" tIns="0" rIns="0" bIns="0" rtlCol="0" anchor="ctr"/>
          <a:lstStyle/>
          <a:p>
            <a:pPr marL="0" indent="0">
              <a:buNone/>
            </a:pPr>
            <a:r>
              <a:rPr lang="en-US" sz="1050" b="1" dirty="0">
                <a:solidFill>
                  <a:srgbClr val="F0B429"/>
                </a:solidFill>
                <a:latin typeface="Calibri" pitchFamily="34" charset="0"/>
                <a:ea typeface="Calibri" pitchFamily="34" charset="-122"/>
                <a:cs typeface="Calibri" pitchFamily="34" charset="-120"/>
              </a:rPr>
              <a:t>Large Dataset Efficiency</a:t>
            </a:r>
            <a:endParaRPr lang="en-US" sz="1050" dirty="0"/>
          </a:p>
        </p:txBody>
      </p:sp>
      <p:sp>
        <p:nvSpPr>
          <p:cNvPr id="40" name="Text 38"/>
          <p:cNvSpPr/>
          <p:nvPr/>
        </p:nvSpPr>
        <p:spPr>
          <a:xfrm>
            <a:off x="5285232" y="3867912"/>
            <a:ext cx="3337560" cy="274320"/>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Handles 75,000+ records with fast query and refresh performance.</a:t>
            </a:r>
            <a:endParaRPr lang="en-US" sz="950" dirty="0"/>
          </a:p>
        </p:txBody>
      </p:sp>
      <p:sp>
        <p:nvSpPr>
          <p:cNvPr id="41" name="Text 39"/>
          <p:cNvSpPr/>
          <p:nvPr/>
        </p:nvSpPr>
        <p:spPr>
          <a:xfrm>
            <a:off x="256032" y="4681728"/>
            <a:ext cx="8595360" cy="201168"/>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Power BI acts as a complete end-to-end analytics platform for this project.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E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3E"/>
          </a:solidFill>
          <a:ln w="12700">
            <a:solidFill>
              <a:srgbClr val="0D1B3E"/>
            </a:solidFill>
            <a:prstDash val="solid"/>
          </a:ln>
        </p:spPr>
      </p:sp>
      <p:sp>
        <p:nvSpPr>
          <p:cNvPr id="3" name="Shape 1"/>
          <p:cNvSpPr/>
          <p:nvPr/>
        </p:nvSpPr>
        <p:spPr>
          <a:xfrm>
            <a:off x="0" y="594360"/>
            <a:ext cx="9144000" cy="50292"/>
          </a:xfrm>
          <a:prstGeom prst="rect">
            <a:avLst/>
          </a:prstGeom>
          <a:solidFill>
            <a:srgbClr val="00BCD4"/>
          </a:solidFill>
          <a:ln w="12700">
            <a:solidFill>
              <a:srgbClr val="00BCD4"/>
            </a:solidFill>
            <a:prstDash val="solid"/>
          </a:ln>
        </p:spPr>
      </p:sp>
      <p:sp>
        <p:nvSpPr>
          <p:cNvPr id="4" name="Text 2"/>
          <p:cNvSpPr/>
          <p:nvPr/>
        </p:nvSpPr>
        <p:spPr>
          <a:xfrm>
            <a:off x="411480" y="73152"/>
            <a:ext cx="777240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DATA COLLECTION, CLEANING &amp; FEATURE ENGINEERING</a:t>
            </a:r>
            <a:endParaRPr lang="en-US" sz="2000" dirty="0"/>
          </a:p>
        </p:txBody>
      </p:sp>
      <p:sp>
        <p:nvSpPr>
          <p:cNvPr id="5" name="Shape 3"/>
          <p:cNvSpPr/>
          <p:nvPr/>
        </p:nvSpPr>
        <p:spPr>
          <a:xfrm>
            <a:off x="0" y="4892040"/>
            <a:ext cx="9144000" cy="251460"/>
          </a:xfrm>
          <a:prstGeom prst="rect">
            <a:avLst/>
          </a:prstGeom>
          <a:solidFill>
            <a:srgbClr val="0D1B3E"/>
          </a:solidFill>
          <a:ln w="12700">
            <a:solidFill>
              <a:srgbClr val="0D1B3E"/>
            </a:solidFill>
            <a:prstDash val="solid"/>
          </a:ln>
        </p:spPr>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HotelRevAI  |  AI-Driven Revenue Analysis</a:t>
            </a:r>
            <a:endParaRPr lang="en-US" sz="900" dirty="0"/>
          </a:p>
        </p:txBody>
      </p:sp>
      <p:sp>
        <p:nvSpPr>
          <p:cNvPr id="7" name="Shape 5"/>
          <p:cNvSpPr/>
          <p:nvPr/>
        </p:nvSpPr>
        <p:spPr>
          <a:xfrm>
            <a:off x="320040" y="822960"/>
            <a:ext cx="1965960" cy="3913632"/>
          </a:xfrm>
          <a:prstGeom prst="rect">
            <a:avLst/>
          </a:prstGeom>
          <a:solidFill>
            <a:srgbClr val="112244"/>
          </a:solidFill>
          <a:ln w="12700">
            <a:solidFill>
              <a:srgbClr val="1E3A6E"/>
            </a:solidFill>
            <a:prstDash val="solid"/>
          </a:ln>
          <a:effectLst>
            <a:outerShdw blurRad="101600" dist="38100" dir="8100000" algn="bl" rotWithShape="0">
              <a:srgbClr val="000000">
                <a:alpha val="10000"/>
              </a:srgbClr>
            </a:outerShdw>
          </a:effectLst>
        </p:spPr>
      </p:sp>
      <p:sp>
        <p:nvSpPr>
          <p:cNvPr id="8" name="Shape 6"/>
          <p:cNvSpPr/>
          <p:nvPr/>
        </p:nvSpPr>
        <p:spPr>
          <a:xfrm>
            <a:off x="320040" y="822960"/>
            <a:ext cx="1965960" cy="594360"/>
          </a:xfrm>
          <a:prstGeom prst="rect">
            <a:avLst/>
          </a:prstGeom>
          <a:solidFill>
            <a:srgbClr val="00BCD4"/>
          </a:solidFill>
          <a:ln w="12700">
            <a:solidFill>
              <a:srgbClr val="00BCD4"/>
            </a:solidFill>
            <a:prstDash val="solid"/>
          </a:ln>
        </p:spPr>
      </p:sp>
      <p:sp>
        <p:nvSpPr>
          <p:cNvPr id="9" name="Text 7"/>
          <p:cNvSpPr/>
          <p:nvPr/>
        </p:nvSpPr>
        <p:spPr>
          <a:xfrm>
            <a:off x="320040" y="868680"/>
            <a:ext cx="196596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01</a:t>
            </a:r>
            <a:endParaRPr lang="en-US" sz="2600" dirty="0"/>
          </a:p>
        </p:txBody>
      </p:sp>
      <p:sp>
        <p:nvSpPr>
          <p:cNvPr id="10" name="Text 8"/>
          <p:cNvSpPr/>
          <p:nvPr/>
        </p:nvSpPr>
        <p:spPr>
          <a:xfrm>
            <a:off x="429768" y="1508760"/>
            <a:ext cx="1737360" cy="502920"/>
          </a:xfrm>
          <a:prstGeom prst="rect">
            <a:avLst/>
          </a:prstGeom>
          <a:noFill/>
          <a:ln/>
        </p:spPr>
        <p:txBody>
          <a:bodyPr wrap="square" lIns="0" tIns="0" rIns="0" bIns="0" rtlCol="0" anchor="ctr"/>
          <a:lstStyle/>
          <a:p>
            <a:pPr marL="0" indent="0">
              <a:buNone/>
            </a:pPr>
            <a:r>
              <a:rPr lang="en-US" sz="1200" b="1" dirty="0">
                <a:solidFill>
                  <a:srgbClr val="00BCD4"/>
                </a:solidFill>
                <a:latin typeface="Calibri" pitchFamily="34" charset="0"/>
                <a:ea typeface="Calibri" pitchFamily="34" charset="-122"/>
                <a:cs typeface="Calibri" pitchFamily="34" charset="-120"/>
              </a:rPr>
              <a:t>Excel / CSV Import</a:t>
            </a:r>
            <a:endParaRPr lang="en-US" sz="1200" dirty="0"/>
          </a:p>
        </p:txBody>
      </p:sp>
      <p:sp>
        <p:nvSpPr>
          <p:cNvPr id="11" name="Text 9"/>
          <p:cNvSpPr/>
          <p:nvPr/>
        </p:nvSpPr>
        <p:spPr>
          <a:xfrm>
            <a:off x="429768" y="2057400"/>
            <a:ext cx="1737360" cy="2560320"/>
          </a:xfrm>
          <a:prstGeom prst="rect">
            <a:avLst/>
          </a:prstGeom>
          <a:noFill/>
          <a:ln/>
        </p:spPr>
        <p:txBody>
          <a:bodyPr wrap="square" lIns="0" tIns="0" rIns="0" bIns="0" rtlCol="0" anchor="ctr"/>
          <a:lstStyle/>
          <a:p>
            <a:pPr marL="0" indent="0">
              <a:buNone/>
            </a:pPr>
            <a:r>
              <a:rPr lang="en-US" sz="1050" dirty="0">
                <a:solidFill>
                  <a:srgbClr val="CBD5E1"/>
                </a:solidFill>
                <a:latin typeface="Calibri" pitchFamily="34" charset="0"/>
                <a:ea typeface="Calibri" pitchFamily="34" charset="-122"/>
                <a:cs typeface="Calibri" pitchFamily="34" charset="-120"/>
              </a:rPr>
              <a:t>Dataset obtained from Kaggle imported into Power BI via Power Query Editor.</a:t>
            </a:r>
            <a:endParaRPr lang="en-US" sz="1050" dirty="0"/>
          </a:p>
        </p:txBody>
      </p:sp>
      <p:sp>
        <p:nvSpPr>
          <p:cNvPr id="12" name="Shape 10"/>
          <p:cNvSpPr/>
          <p:nvPr/>
        </p:nvSpPr>
        <p:spPr>
          <a:xfrm>
            <a:off x="2468880" y="822960"/>
            <a:ext cx="1965960" cy="3913632"/>
          </a:xfrm>
          <a:prstGeom prst="rect">
            <a:avLst/>
          </a:prstGeom>
          <a:solidFill>
            <a:srgbClr val="112244"/>
          </a:solidFill>
          <a:ln w="12700">
            <a:solidFill>
              <a:srgbClr val="1E3A6E"/>
            </a:solidFill>
            <a:prstDash val="solid"/>
          </a:ln>
          <a:effectLst>
            <a:outerShdw blurRad="101600" dist="38100" dir="8100000" algn="bl" rotWithShape="0">
              <a:srgbClr val="000000">
                <a:alpha val="10000"/>
              </a:srgbClr>
            </a:outerShdw>
          </a:effectLst>
        </p:spPr>
      </p:sp>
      <p:sp>
        <p:nvSpPr>
          <p:cNvPr id="13" name="Shape 11"/>
          <p:cNvSpPr/>
          <p:nvPr/>
        </p:nvSpPr>
        <p:spPr>
          <a:xfrm>
            <a:off x="2468880" y="822960"/>
            <a:ext cx="1965960" cy="594360"/>
          </a:xfrm>
          <a:prstGeom prst="rect">
            <a:avLst/>
          </a:prstGeom>
          <a:solidFill>
            <a:srgbClr val="00BCD4"/>
          </a:solidFill>
          <a:ln w="12700">
            <a:solidFill>
              <a:srgbClr val="00BCD4"/>
            </a:solidFill>
            <a:prstDash val="solid"/>
          </a:ln>
        </p:spPr>
      </p:sp>
      <p:sp>
        <p:nvSpPr>
          <p:cNvPr id="14" name="Text 12"/>
          <p:cNvSpPr/>
          <p:nvPr/>
        </p:nvSpPr>
        <p:spPr>
          <a:xfrm>
            <a:off x="2468880" y="868680"/>
            <a:ext cx="196596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02</a:t>
            </a:r>
            <a:endParaRPr lang="en-US" sz="2600" dirty="0"/>
          </a:p>
        </p:txBody>
      </p:sp>
      <p:sp>
        <p:nvSpPr>
          <p:cNvPr id="15" name="Text 13"/>
          <p:cNvSpPr/>
          <p:nvPr/>
        </p:nvSpPr>
        <p:spPr>
          <a:xfrm>
            <a:off x="2578608" y="1508760"/>
            <a:ext cx="1737360" cy="502920"/>
          </a:xfrm>
          <a:prstGeom prst="rect">
            <a:avLst/>
          </a:prstGeom>
          <a:noFill/>
          <a:ln/>
        </p:spPr>
        <p:txBody>
          <a:bodyPr wrap="square" lIns="0" tIns="0" rIns="0" bIns="0" rtlCol="0" anchor="ctr"/>
          <a:lstStyle/>
          <a:p>
            <a:pPr marL="0" indent="0">
              <a:buNone/>
            </a:pPr>
            <a:r>
              <a:rPr lang="en-US" sz="1200" b="1" dirty="0">
                <a:solidFill>
                  <a:srgbClr val="00BCD4"/>
                </a:solidFill>
                <a:latin typeface="Calibri" pitchFamily="34" charset="0"/>
                <a:ea typeface="Calibri" pitchFamily="34" charset="-122"/>
                <a:cs typeface="Calibri" pitchFamily="34" charset="-120"/>
              </a:rPr>
              <a:t>Data Cleaning</a:t>
            </a:r>
            <a:endParaRPr lang="en-US" sz="1200" dirty="0"/>
          </a:p>
        </p:txBody>
      </p:sp>
      <p:sp>
        <p:nvSpPr>
          <p:cNvPr id="16" name="Text 14"/>
          <p:cNvSpPr/>
          <p:nvPr/>
        </p:nvSpPr>
        <p:spPr>
          <a:xfrm>
            <a:off x="2578608" y="2057400"/>
            <a:ext cx="1737360" cy="2560320"/>
          </a:xfrm>
          <a:prstGeom prst="rect">
            <a:avLst/>
          </a:prstGeom>
          <a:noFill/>
          <a:ln/>
        </p:spPr>
        <p:txBody>
          <a:bodyPr wrap="square" lIns="0" tIns="0" rIns="0" bIns="0" rtlCol="0" anchor="ctr"/>
          <a:lstStyle/>
          <a:p>
            <a:pPr marL="0" indent="0">
              <a:buNone/>
            </a:pPr>
            <a:r>
              <a:rPr lang="en-US" sz="1050" dirty="0">
                <a:solidFill>
                  <a:srgbClr val="CBD5E1"/>
                </a:solidFill>
                <a:latin typeface="Calibri" pitchFamily="34" charset="0"/>
                <a:ea typeface="Calibri" pitchFamily="34" charset="-122"/>
                <a:cs typeface="Calibri" pitchFamily="34" charset="-120"/>
              </a:rPr>
              <a:t>Null values handled · Data types corrected · Duplicates removed · Irrelevant columns dropped.</a:t>
            </a:r>
            <a:endParaRPr lang="en-US" sz="1050" dirty="0"/>
          </a:p>
        </p:txBody>
      </p:sp>
      <p:sp>
        <p:nvSpPr>
          <p:cNvPr id="17" name="Shape 15"/>
          <p:cNvSpPr/>
          <p:nvPr/>
        </p:nvSpPr>
        <p:spPr>
          <a:xfrm>
            <a:off x="4617720" y="822960"/>
            <a:ext cx="1965960" cy="3913632"/>
          </a:xfrm>
          <a:prstGeom prst="rect">
            <a:avLst/>
          </a:prstGeom>
          <a:solidFill>
            <a:srgbClr val="112244"/>
          </a:solidFill>
          <a:ln w="12700">
            <a:solidFill>
              <a:srgbClr val="1E3A6E"/>
            </a:solidFill>
            <a:prstDash val="solid"/>
          </a:ln>
          <a:effectLst>
            <a:outerShdw blurRad="101600" dist="38100" dir="8100000" algn="bl" rotWithShape="0">
              <a:srgbClr val="000000">
                <a:alpha val="10000"/>
              </a:srgbClr>
            </a:outerShdw>
          </a:effectLst>
        </p:spPr>
      </p:sp>
      <p:sp>
        <p:nvSpPr>
          <p:cNvPr id="18" name="Shape 16"/>
          <p:cNvSpPr/>
          <p:nvPr/>
        </p:nvSpPr>
        <p:spPr>
          <a:xfrm>
            <a:off x="4617720" y="822960"/>
            <a:ext cx="1965960" cy="594360"/>
          </a:xfrm>
          <a:prstGeom prst="rect">
            <a:avLst/>
          </a:prstGeom>
          <a:solidFill>
            <a:srgbClr val="F0B429"/>
          </a:solidFill>
          <a:ln w="12700">
            <a:solidFill>
              <a:srgbClr val="F0B429"/>
            </a:solidFill>
            <a:prstDash val="solid"/>
          </a:ln>
        </p:spPr>
      </p:sp>
      <p:sp>
        <p:nvSpPr>
          <p:cNvPr id="19" name="Text 17"/>
          <p:cNvSpPr/>
          <p:nvPr/>
        </p:nvSpPr>
        <p:spPr>
          <a:xfrm>
            <a:off x="4617720" y="868680"/>
            <a:ext cx="196596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03</a:t>
            </a:r>
            <a:endParaRPr lang="en-US" sz="2600" dirty="0"/>
          </a:p>
        </p:txBody>
      </p:sp>
      <p:sp>
        <p:nvSpPr>
          <p:cNvPr id="20" name="Text 18"/>
          <p:cNvSpPr/>
          <p:nvPr/>
        </p:nvSpPr>
        <p:spPr>
          <a:xfrm>
            <a:off x="4727448" y="1508760"/>
            <a:ext cx="1737360" cy="502920"/>
          </a:xfrm>
          <a:prstGeom prst="rect">
            <a:avLst/>
          </a:prstGeom>
          <a:noFill/>
          <a:ln/>
        </p:spPr>
        <p:txBody>
          <a:bodyPr wrap="square" lIns="0" tIns="0" rIns="0" bIns="0" rtlCol="0" anchor="ctr"/>
          <a:lstStyle/>
          <a:p>
            <a:pPr marL="0" indent="0">
              <a:buNone/>
            </a:pPr>
            <a:r>
              <a:rPr lang="en-US" sz="1200" b="1" dirty="0">
                <a:solidFill>
                  <a:srgbClr val="F0B429"/>
                </a:solidFill>
                <a:latin typeface="Calibri" pitchFamily="34" charset="0"/>
                <a:ea typeface="Calibri" pitchFamily="34" charset="-122"/>
                <a:cs typeface="Calibri" pitchFamily="34" charset="-120"/>
              </a:rPr>
              <a:t>Feature Engineering</a:t>
            </a:r>
            <a:endParaRPr lang="en-US" sz="1200" dirty="0"/>
          </a:p>
        </p:txBody>
      </p:sp>
      <p:sp>
        <p:nvSpPr>
          <p:cNvPr id="21" name="Text 19"/>
          <p:cNvSpPr/>
          <p:nvPr/>
        </p:nvSpPr>
        <p:spPr>
          <a:xfrm>
            <a:off x="4727448" y="2057400"/>
            <a:ext cx="1737360" cy="2560320"/>
          </a:xfrm>
          <a:prstGeom prst="rect">
            <a:avLst/>
          </a:prstGeom>
          <a:noFill/>
          <a:ln/>
        </p:spPr>
        <p:txBody>
          <a:bodyPr wrap="square" lIns="0" tIns="0" rIns="0" bIns="0" rtlCol="0" anchor="ctr"/>
          <a:lstStyle/>
          <a:p>
            <a:pPr marL="0" indent="0">
              <a:buNone/>
            </a:pPr>
            <a:r>
              <a:rPr lang="en-US" sz="1050" dirty="0">
                <a:solidFill>
                  <a:srgbClr val="CBD5E1"/>
                </a:solidFill>
                <a:latin typeface="Calibri" pitchFamily="34" charset="0"/>
                <a:ea typeface="Calibri" pitchFamily="34" charset="-122"/>
                <a:cs typeface="Calibri" pitchFamily="34" charset="-120"/>
              </a:rPr>
              <a:t>New columns derived: Total Nights · Total Guests · Revenue (ADR × Nights) · Arrival Date.</a:t>
            </a:r>
            <a:endParaRPr lang="en-US" sz="1050" dirty="0"/>
          </a:p>
        </p:txBody>
      </p:sp>
      <p:sp>
        <p:nvSpPr>
          <p:cNvPr id="22" name="Shape 20"/>
          <p:cNvSpPr/>
          <p:nvPr/>
        </p:nvSpPr>
        <p:spPr>
          <a:xfrm>
            <a:off x="6766560" y="822960"/>
            <a:ext cx="1965960" cy="3913632"/>
          </a:xfrm>
          <a:prstGeom prst="rect">
            <a:avLst/>
          </a:prstGeom>
          <a:solidFill>
            <a:srgbClr val="112244"/>
          </a:solidFill>
          <a:ln w="12700">
            <a:solidFill>
              <a:srgbClr val="1E3A6E"/>
            </a:solidFill>
            <a:prstDash val="solid"/>
          </a:ln>
          <a:effectLst>
            <a:outerShdw blurRad="101600" dist="38100" dir="8100000" algn="bl" rotWithShape="0">
              <a:srgbClr val="000000">
                <a:alpha val="10000"/>
              </a:srgbClr>
            </a:outerShdw>
          </a:effectLst>
        </p:spPr>
      </p:sp>
      <p:sp>
        <p:nvSpPr>
          <p:cNvPr id="23" name="Shape 21"/>
          <p:cNvSpPr/>
          <p:nvPr/>
        </p:nvSpPr>
        <p:spPr>
          <a:xfrm>
            <a:off x="6766560" y="822960"/>
            <a:ext cx="1965960" cy="594360"/>
          </a:xfrm>
          <a:prstGeom prst="rect">
            <a:avLst/>
          </a:prstGeom>
          <a:solidFill>
            <a:srgbClr val="00BCD4"/>
          </a:solidFill>
          <a:ln w="12700">
            <a:solidFill>
              <a:srgbClr val="00BCD4"/>
            </a:solidFill>
            <a:prstDash val="solid"/>
          </a:ln>
        </p:spPr>
      </p:sp>
      <p:sp>
        <p:nvSpPr>
          <p:cNvPr id="24" name="Text 22"/>
          <p:cNvSpPr/>
          <p:nvPr/>
        </p:nvSpPr>
        <p:spPr>
          <a:xfrm>
            <a:off x="6766560" y="868680"/>
            <a:ext cx="196596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04</a:t>
            </a:r>
            <a:endParaRPr lang="en-US" sz="2600" dirty="0"/>
          </a:p>
        </p:txBody>
      </p:sp>
      <p:sp>
        <p:nvSpPr>
          <p:cNvPr id="25" name="Text 23"/>
          <p:cNvSpPr/>
          <p:nvPr/>
        </p:nvSpPr>
        <p:spPr>
          <a:xfrm>
            <a:off x="6876288" y="1508760"/>
            <a:ext cx="1737360" cy="502920"/>
          </a:xfrm>
          <a:prstGeom prst="rect">
            <a:avLst/>
          </a:prstGeom>
          <a:noFill/>
          <a:ln/>
        </p:spPr>
        <p:txBody>
          <a:bodyPr wrap="square" lIns="0" tIns="0" rIns="0" bIns="0" rtlCol="0" anchor="ctr"/>
          <a:lstStyle/>
          <a:p>
            <a:pPr marL="0" indent="0">
              <a:buNone/>
            </a:pPr>
            <a:r>
              <a:rPr lang="en-US" sz="1200" b="1" dirty="0">
                <a:solidFill>
                  <a:srgbClr val="00BCD4"/>
                </a:solidFill>
                <a:latin typeface="Calibri" pitchFamily="34" charset="0"/>
                <a:ea typeface="Calibri" pitchFamily="34" charset="-122"/>
                <a:cs typeface="Calibri" pitchFamily="34" charset="-120"/>
              </a:rPr>
              <a:t>Model Ready</a:t>
            </a:r>
            <a:endParaRPr lang="en-US" sz="1200" dirty="0"/>
          </a:p>
        </p:txBody>
      </p:sp>
      <p:sp>
        <p:nvSpPr>
          <p:cNvPr id="26" name="Text 24"/>
          <p:cNvSpPr/>
          <p:nvPr/>
        </p:nvSpPr>
        <p:spPr>
          <a:xfrm>
            <a:off x="6876288" y="2057400"/>
            <a:ext cx="1737360" cy="2560320"/>
          </a:xfrm>
          <a:prstGeom prst="rect">
            <a:avLst/>
          </a:prstGeom>
          <a:noFill/>
          <a:ln/>
        </p:spPr>
        <p:txBody>
          <a:bodyPr wrap="square" lIns="0" tIns="0" rIns="0" bIns="0" rtlCol="0" anchor="ctr"/>
          <a:lstStyle/>
          <a:p>
            <a:pPr marL="0" indent="0">
              <a:buNone/>
            </a:pPr>
            <a:r>
              <a:rPr lang="en-US" sz="1050" dirty="0">
                <a:solidFill>
                  <a:srgbClr val="CBD5E1"/>
                </a:solidFill>
                <a:latin typeface="Calibri" pitchFamily="34" charset="0"/>
                <a:ea typeface="Calibri" pitchFamily="34" charset="-122"/>
                <a:cs typeface="Calibri" pitchFamily="34" charset="-120"/>
              </a:rPr>
              <a:t>Fact + Dimension tables loaded into Power BI for structured star-schema modelling.</a:t>
            </a:r>
            <a:endParaRPr lang="en-US" sz="1050" dirty="0"/>
          </a:p>
        </p:txBody>
      </p:sp>
      <p:sp>
        <p:nvSpPr>
          <p:cNvPr id="27" name="Shape 25"/>
          <p:cNvSpPr/>
          <p:nvPr/>
        </p:nvSpPr>
        <p:spPr>
          <a:xfrm>
            <a:off x="2359152" y="2606040"/>
            <a:ext cx="82296" cy="109728"/>
          </a:xfrm>
          <a:prstGeom prst="rect">
            <a:avLst/>
          </a:prstGeom>
          <a:solidFill>
            <a:srgbClr val="64748B"/>
          </a:solidFill>
          <a:ln w="12700">
            <a:solidFill>
              <a:srgbClr val="64748B"/>
            </a:solidFill>
            <a:prstDash val="solid"/>
          </a:ln>
        </p:spPr>
      </p:sp>
      <p:sp>
        <p:nvSpPr>
          <p:cNvPr id="28" name="Shape 26"/>
          <p:cNvSpPr/>
          <p:nvPr/>
        </p:nvSpPr>
        <p:spPr>
          <a:xfrm>
            <a:off x="4507992" y="2606040"/>
            <a:ext cx="82296" cy="109728"/>
          </a:xfrm>
          <a:prstGeom prst="rect">
            <a:avLst/>
          </a:prstGeom>
          <a:solidFill>
            <a:srgbClr val="64748B"/>
          </a:solidFill>
          <a:ln w="12700">
            <a:solidFill>
              <a:srgbClr val="64748B"/>
            </a:solidFill>
            <a:prstDash val="solid"/>
          </a:ln>
        </p:spPr>
      </p:sp>
      <p:sp>
        <p:nvSpPr>
          <p:cNvPr id="29" name="Shape 27"/>
          <p:cNvSpPr/>
          <p:nvPr/>
        </p:nvSpPr>
        <p:spPr>
          <a:xfrm>
            <a:off x="6656832" y="2606040"/>
            <a:ext cx="82296" cy="109728"/>
          </a:xfrm>
          <a:prstGeom prst="rect">
            <a:avLst/>
          </a:prstGeom>
          <a:solidFill>
            <a:srgbClr val="64748B"/>
          </a:solidFill>
          <a:ln w="12700">
            <a:solidFill>
              <a:srgbClr val="64748B"/>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E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3E"/>
          </a:solidFill>
          <a:ln w="12700">
            <a:solidFill>
              <a:srgbClr val="0D1B3E"/>
            </a:solidFill>
            <a:prstDash val="solid"/>
          </a:ln>
        </p:spPr>
      </p:sp>
      <p:sp>
        <p:nvSpPr>
          <p:cNvPr id="3" name="Shape 1"/>
          <p:cNvSpPr/>
          <p:nvPr/>
        </p:nvSpPr>
        <p:spPr>
          <a:xfrm>
            <a:off x="0" y="594360"/>
            <a:ext cx="9144000" cy="50292"/>
          </a:xfrm>
          <a:prstGeom prst="rect">
            <a:avLst/>
          </a:prstGeom>
          <a:solidFill>
            <a:srgbClr val="00BCD4"/>
          </a:solidFill>
          <a:ln w="12700">
            <a:solidFill>
              <a:srgbClr val="00BCD4"/>
            </a:solidFill>
            <a:prstDash val="solid"/>
          </a:ln>
        </p:spPr>
      </p:sp>
      <p:sp>
        <p:nvSpPr>
          <p:cNvPr id="4" name="Text 2"/>
          <p:cNvSpPr/>
          <p:nvPr/>
        </p:nvSpPr>
        <p:spPr>
          <a:xfrm>
            <a:off x="411480" y="73152"/>
            <a:ext cx="777240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DATA MODELLING &amp; DAX MEASURE LIBRARY</a:t>
            </a:r>
            <a:endParaRPr lang="en-US" sz="2000" dirty="0"/>
          </a:p>
        </p:txBody>
      </p:sp>
      <p:sp>
        <p:nvSpPr>
          <p:cNvPr id="5" name="Shape 3"/>
          <p:cNvSpPr/>
          <p:nvPr/>
        </p:nvSpPr>
        <p:spPr>
          <a:xfrm>
            <a:off x="0" y="4892040"/>
            <a:ext cx="9144000" cy="251460"/>
          </a:xfrm>
          <a:prstGeom prst="rect">
            <a:avLst/>
          </a:prstGeom>
          <a:solidFill>
            <a:srgbClr val="0D1B3E"/>
          </a:solidFill>
          <a:ln w="12700">
            <a:solidFill>
              <a:srgbClr val="0D1B3E"/>
            </a:solidFill>
            <a:prstDash val="solid"/>
          </a:ln>
        </p:spPr>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HotelRevAI  |  AI-Driven Revenue Analysis</a:t>
            </a:r>
            <a:endParaRPr lang="en-US" sz="900" dirty="0"/>
          </a:p>
        </p:txBody>
      </p:sp>
      <p:sp>
        <p:nvSpPr>
          <p:cNvPr id="7" name="Shape 5"/>
          <p:cNvSpPr/>
          <p:nvPr/>
        </p:nvSpPr>
        <p:spPr>
          <a:xfrm>
            <a:off x="320040" y="777240"/>
            <a:ext cx="4114800" cy="3931920"/>
          </a:xfrm>
          <a:prstGeom prst="rect">
            <a:avLst/>
          </a:prstGeom>
          <a:solidFill>
            <a:srgbClr val="112244"/>
          </a:solidFill>
          <a:ln w="12700">
            <a:solidFill>
              <a:srgbClr val="1E3A6E"/>
            </a:solidFill>
            <a:prstDash val="solid"/>
          </a:ln>
          <a:effectLst>
            <a:outerShdw blurRad="101600" dist="38100" dir="8100000" algn="bl" rotWithShape="0">
              <a:srgbClr val="000000">
                <a:alpha val="10000"/>
              </a:srgbClr>
            </a:outerShdw>
          </a:effectLst>
        </p:spPr>
      </p:sp>
      <p:sp>
        <p:nvSpPr>
          <p:cNvPr id="8" name="Shape 6"/>
          <p:cNvSpPr/>
          <p:nvPr/>
        </p:nvSpPr>
        <p:spPr>
          <a:xfrm>
            <a:off x="320040" y="777240"/>
            <a:ext cx="64008" cy="3931920"/>
          </a:xfrm>
          <a:prstGeom prst="rect">
            <a:avLst/>
          </a:prstGeom>
          <a:solidFill>
            <a:srgbClr val="060E24"/>
          </a:solidFill>
          <a:ln w="12700">
            <a:solidFill>
              <a:srgbClr val="060E24"/>
            </a:solidFill>
            <a:prstDash val="solid"/>
          </a:ln>
        </p:spPr>
      </p:sp>
      <p:sp>
        <p:nvSpPr>
          <p:cNvPr id="9" name="Text 7"/>
          <p:cNvSpPr/>
          <p:nvPr/>
        </p:nvSpPr>
        <p:spPr>
          <a:xfrm>
            <a:off x="457200" y="896112"/>
            <a:ext cx="3840480" cy="320040"/>
          </a:xfrm>
          <a:prstGeom prst="rect">
            <a:avLst/>
          </a:prstGeom>
          <a:noFill/>
          <a:ln/>
        </p:spPr>
        <p:txBody>
          <a:bodyPr wrap="square" lIns="0" tIns="0" rIns="0" bIns="0" rtlCol="0" anchor="ctr"/>
          <a:lstStyle/>
          <a:p>
            <a:pPr marL="0" indent="0">
              <a:buNone/>
            </a:pPr>
            <a:r>
              <a:rPr lang="en-US" sz="1100" b="1" dirty="0">
                <a:solidFill>
                  <a:srgbClr val="00BCD4"/>
                </a:solidFill>
                <a:latin typeface="Calibri" pitchFamily="34" charset="0"/>
                <a:ea typeface="Calibri" pitchFamily="34" charset="-122"/>
                <a:cs typeface="Calibri" pitchFamily="34" charset="-120"/>
              </a:rPr>
              <a:t>STAR SCHEMA MODEL</a:t>
            </a:r>
            <a:endParaRPr lang="en-US" sz="1100" dirty="0"/>
          </a:p>
        </p:txBody>
      </p:sp>
      <p:sp>
        <p:nvSpPr>
          <p:cNvPr id="10" name="Shape 8"/>
          <p:cNvSpPr/>
          <p:nvPr/>
        </p:nvSpPr>
        <p:spPr>
          <a:xfrm>
            <a:off x="640080" y="1371600"/>
            <a:ext cx="2011680" cy="685800"/>
          </a:xfrm>
          <a:prstGeom prst="rect">
            <a:avLst/>
          </a:prstGeom>
          <a:solidFill>
            <a:srgbClr val="00BCD4"/>
          </a:solidFill>
          <a:ln w="12700">
            <a:solidFill>
              <a:srgbClr val="00BCD4"/>
            </a:solidFill>
            <a:prstDash val="solid"/>
          </a:ln>
        </p:spPr>
      </p:sp>
      <p:sp>
        <p:nvSpPr>
          <p:cNvPr id="11" name="Text 9"/>
          <p:cNvSpPr/>
          <p:nvPr/>
        </p:nvSpPr>
        <p:spPr>
          <a:xfrm>
            <a:off x="640080" y="1371600"/>
            <a:ext cx="2011680" cy="685800"/>
          </a:xfrm>
          <a:prstGeom prst="rect">
            <a:avLst/>
          </a:prstGeom>
          <a:noFill/>
          <a:ln/>
        </p:spPr>
        <p:txBody>
          <a:bodyPr wrap="square" lIns="50800" tIns="50800" rIns="50800" bIns="5080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  Calendar Table</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Date · Month · Year</a:t>
            </a:r>
            <a:endParaRPr lang="en-US" sz="1050" dirty="0"/>
          </a:p>
        </p:txBody>
      </p:sp>
      <p:sp>
        <p:nvSpPr>
          <p:cNvPr id="12" name="Shape 10"/>
          <p:cNvSpPr/>
          <p:nvPr/>
        </p:nvSpPr>
        <p:spPr>
          <a:xfrm>
            <a:off x="1609344" y="2084832"/>
            <a:ext cx="73152" cy="320040"/>
          </a:xfrm>
          <a:prstGeom prst="rect">
            <a:avLst/>
          </a:prstGeom>
          <a:solidFill>
            <a:srgbClr val="64748B"/>
          </a:solidFill>
          <a:ln w="12700">
            <a:solidFill>
              <a:srgbClr val="64748B"/>
            </a:solidFill>
            <a:prstDash val="solid"/>
          </a:ln>
        </p:spPr>
      </p:sp>
      <p:sp>
        <p:nvSpPr>
          <p:cNvPr id="13" name="Text 11"/>
          <p:cNvSpPr/>
          <p:nvPr/>
        </p:nvSpPr>
        <p:spPr>
          <a:xfrm>
            <a:off x="1097280" y="2084832"/>
            <a:ext cx="1097280" cy="320040"/>
          </a:xfrm>
          <a:prstGeom prst="rect">
            <a:avLst/>
          </a:prstGeom>
          <a:noFill/>
          <a:ln/>
        </p:spPr>
        <p:txBody>
          <a:bodyPr wrap="square" lIns="0" tIns="0" rIns="0" bIns="0" rtlCol="0" anchor="ctr"/>
          <a:lstStyle/>
          <a:p>
            <a:pPr marL="0" indent="0" algn="ctr">
              <a:buNone/>
            </a:pPr>
            <a:r>
              <a:rPr lang="en-US" sz="900" i="1" dirty="0">
                <a:solidFill>
                  <a:srgbClr val="94A3B8"/>
                </a:solidFill>
                <a:latin typeface="Calibri" pitchFamily="34" charset="0"/>
                <a:ea typeface="Calibri" pitchFamily="34" charset="-122"/>
                <a:cs typeface="Calibri" pitchFamily="34" charset="-120"/>
              </a:rPr>
              <a:t>1 → ∞</a:t>
            </a:r>
            <a:endParaRPr lang="en-US" sz="900" dirty="0"/>
          </a:p>
        </p:txBody>
      </p:sp>
      <p:sp>
        <p:nvSpPr>
          <p:cNvPr id="14" name="Shape 12"/>
          <p:cNvSpPr/>
          <p:nvPr/>
        </p:nvSpPr>
        <p:spPr>
          <a:xfrm>
            <a:off x="640080" y="2423160"/>
            <a:ext cx="2011680" cy="685800"/>
          </a:xfrm>
          <a:prstGeom prst="rect">
            <a:avLst/>
          </a:prstGeom>
          <a:solidFill>
            <a:srgbClr val="060E24"/>
          </a:solidFill>
          <a:ln w="12700">
            <a:solidFill>
              <a:srgbClr val="060E24"/>
            </a:solidFill>
            <a:prstDash val="solid"/>
          </a:ln>
        </p:spPr>
      </p:sp>
      <p:sp>
        <p:nvSpPr>
          <p:cNvPr id="15" name="Text 13"/>
          <p:cNvSpPr/>
          <p:nvPr/>
        </p:nvSpPr>
        <p:spPr>
          <a:xfrm>
            <a:off x="640080" y="2423160"/>
            <a:ext cx="2011680" cy="685800"/>
          </a:xfrm>
          <a:prstGeom prst="rect">
            <a:avLst/>
          </a:prstGeom>
          <a:noFill/>
          <a:ln/>
        </p:spPr>
        <p:txBody>
          <a:bodyPr wrap="square" lIns="50800" tIns="50800" rIns="50800" bIns="508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  Hotel Data (Fact)</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Bookings · ADR · Revenue · Guests</a:t>
            </a:r>
            <a:endParaRPr lang="en-US" sz="1000" dirty="0"/>
          </a:p>
        </p:txBody>
      </p:sp>
      <p:sp>
        <p:nvSpPr>
          <p:cNvPr id="16" name="Text 14"/>
          <p:cNvSpPr/>
          <p:nvPr/>
        </p:nvSpPr>
        <p:spPr>
          <a:xfrm>
            <a:off x="502920" y="3291840"/>
            <a:ext cx="3749040" cy="1097280"/>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Relationship:</a:t>
            </a:r>
            <a:endParaRPr lang="en-US" sz="1000" dirty="0"/>
          </a:p>
          <a:p>
            <a:pPr marL="0" indent="0">
              <a:buNone/>
            </a:pPr>
            <a:r>
              <a:rPr lang="en-US" sz="1000" dirty="0">
                <a:solidFill>
                  <a:srgbClr val="CBD5E1"/>
                </a:solidFill>
                <a:latin typeface="Calibri" pitchFamily="34" charset="0"/>
                <a:ea typeface="Calibri" pitchFamily="34" charset="-122"/>
                <a:cs typeface="Calibri" pitchFamily="34" charset="-120"/>
              </a:rPr>
              <a:t>Calendar[Date] → Hotel_Data[Arrival Date]</a:t>
            </a:r>
            <a:endParaRPr lang="en-US" sz="1000" dirty="0"/>
          </a:p>
          <a:p>
            <a:pPr marL="0" indent="0">
              <a:buNone/>
            </a:pPr>
            <a:r>
              <a:rPr lang="en-US" sz="1000" dirty="0">
                <a:solidFill>
                  <a:srgbClr val="CBD5E1"/>
                </a:solidFill>
                <a:latin typeface="Calibri" pitchFamily="34" charset="0"/>
                <a:ea typeface="Calibri" pitchFamily="34" charset="-122"/>
                <a:cs typeface="Calibri" pitchFamily="34" charset="-120"/>
              </a:rPr>
              <a:t>One-to-Many | Enables time-period filtering</a:t>
            </a:r>
            <a:endParaRPr lang="en-US" sz="1000" dirty="0"/>
          </a:p>
          <a:p>
            <a:pPr marL="0" indent="0">
              <a:buNone/>
            </a:pPr>
            <a:r>
              <a:rPr lang="en-US" sz="1000" dirty="0">
                <a:solidFill>
                  <a:srgbClr val="CBD5E1"/>
                </a:solidFill>
                <a:latin typeface="Calibri" pitchFamily="34" charset="0"/>
                <a:ea typeface="Calibri" pitchFamily="34" charset="-122"/>
                <a:cs typeface="Calibri" pitchFamily="34" charset="-120"/>
              </a:rPr>
              <a:t>across all dashboards.</a:t>
            </a:r>
            <a:endParaRPr lang="en-US" sz="1000" dirty="0"/>
          </a:p>
        </p:txBody>
      </p:sp>
      <p:sp>
        <p:nvSpPr>
          <p:cNvPr id="17" name="Shape 15"/>
          <p:cNvSpPr/>
          <p:nvPr/>
        </p:nvSpPr>
        <p:spPr>
          <a:xfrm>
            <a:off x="4663440" y="777240"/>
            <a:ext cx="4160520" cy="3931920"/>
          </a:xfrm>
          <a:prstGeom prst="rect">
            <a:avLst/>
          </a:prstGeom>
          <a:solidFill>
            <a:srgbClr val="112244"/>
          </a:solidFill>
          <a:ln w="12700">
            <a:solidFill>
              <a:srgbClr val="1E3A6E"/>
            </a:solidFill>
            <a:prstDash val="solid"/>
          </a:ln>
          <a:effectLst>
            <a:outerShdw blurRad="101600" dist="38100" dir="8100000" algn="bl" rotWithShape="0">
              <a:srgbClr val="000000">
                <a:alpha val="10000"/>
              </a:srgbClr>
            </a:outerShdw>
          </a:effectLst>
        </p:spPr>
      </p:sp>
      <p:sp>
        <p:nvSpPr>
          <p:cNvPr id="18" name="Shape 16"/>
          <p:cNvSpPr/>
          <p:nvPr/>
        </p:nvSpPr>
        <p:spPr>
          <a:xfrm>
            <a:off x="4663440" y="777240"/>
            <a:ext cx="64008" cy="3931920"/>
          </a:xfrm>
          <a:prstGeom prst="rect">
            <a:avLst/>
          </a:prstGeom>
          <a:solidFill>
            <a:srgbClr val="F0B429"/>
          </a:solidFill>
          <a:ln w="12700">
            <a:solidFill>
              <a:srgbClr val="F0B429"/>
            </a:solidFill>
            <a:prstDash val="solid"/>
          </a:ln>
        </p:spPr>
      </p:sp>
      <p:sp>
        <p:nvSpPr>
          <p:cNvPr id="19" name="Text 17"/>
          <p:cNvSpPr/>
          <p:nvPr/>
        </p:nvSpPr>
        <p:spPr>
          <a:xfrm>
            <a:off x="4800600" y="896112"/>
            <a:ext cx="3840480" cy="320040"/>
          </a:xfrm>
          <a:prstGeom prst="rect">
            <a:avLst/>
          </a:prstGeom>
          <a:noFill/>
          <a:ln/>
        </p:spPr>
        <p:txBody>
          <a:bodyPr wrap="square" lIns="0" tIns="0" rIns="0" bIns="0" rtlCol="0" anchor="ctr"/>
          <a:lstStyle/>
          <a:p>
            <a:pPr marL="0" indent="0">
              <a:buNone/>
            </a:pPr>
            <a:r>
              <a:rPr lang="en-US" sz="1100" b="1" dirty="0">
                <a:solidFill>
                  <a:srgbClr val="F0B429"/>
                </a:solidFill>
                <a:latin typeface="Calibri" pitchFamily="34" charset="0"/>
                <a:ea typeface="Calibri" pitchFamily="34" charset="-122"/>
                <a:cs typeface="Calibri" pitchFamily="34" charset="-120"/>
              </a:rPr>
              <a:t>16 DAX MEASURES</a:t>
            </a:r>
            <a:endParaRPr lang="en-US" sz="1100" dirty="0"/>
          </a:p>
        </p:txBody>
      </p:sp>
      <p:sp>
        <p:nvSpPr>
          <p:cNvPr id="20" name="Shape 18"/>
          <p:cNvSpPr/>
          <p:nvPr/>
        </p:nvSpPr>
        <p:spPr>
          <a:xfrm>
            <a:off x="4754880" y="1298448"/>
            <a:ext cx="3977640" cy="640080"/>
          </a:xfrm>
          <a:prstGeom prst="rect">
            <a:avLst/>
          </a:prstGeom>
          <a:solidFill>
            <a:srgbClr val="00BCD4">
              <a:alpha val="12000"/>
            </a:srgbClr>
          </a:solidFill>
          <a:ln w="12700">
            <a:solidFill>
              <a:srgbClr val="00BCD4">
                <a:alpha val="40000"/>
              </a:srgbClr>
            </a:solidFill>
            <a:prstDash val="solid"/>
          </a:ln>
        </p:spPr>
      </p:sp>
      <p:sp>
        <p:nvSpPr>
          <p:cNvPr id="21" name="Text 19"/>
          <p:cNvSpPr/>
          <p:nvPr/>
        </p:nvSpPr>
        <p:spPr>
          <a:xfrm>
            <a:off x="4846320" y="1344168"/>
            <a:ext cx="1645920" cy="274320"/>
          </a:xfrm>
          <a:prstGeom prst="rect">
            <a:avLst/>
          </a:prstGeom>
          <a:noFill/>
          <a:ln/>
        </p:spPr>
        <p:txBody>
          <a:bodyPr wrap="square" lIns="0" tIns="0" rIns="0" bIns="0" rtlCol="0" anchor="ctr"/>
          <a:lstStyle/>
          <a:p>
            <a:pPr marL="0" indent="0">
              <a:buNone/>
            </a:pPr>
            <a:r>
              <a:rPr lang="en-US" sz="1050" b="1" dirty="0">
                <a:solidFill>
                  <a:srgbClr val="00BCD4"/>
                </a:solidFill>
                <a:latin typeface="Calibri" pitchFamily="34" charset="0"/>
                <a:ea typeface="Calibri" pitchFamily="34" charset="-122"/>
                <a:cs typeface="Calibri" pitchFamily="34" charset="-120"/>
              </a:rPr>
              <a:t>💰 Revenue</a:t>
            </a:r>
            <a:endParaRPr lang="en-US" sz="1050" dirty="0"/>
          </a:p>
        </p:txBody>
      </p:sp>
      <p:sp>
        <p:nvSpPr>
          <p:cNvPr id="22" name="Text 20"/>
          <p:cNvSpPr/>
          <p:nvPr/>
        </p:nvSpPr>
        <p:spPr>
          <a:xfrm>
            <a:off x="4846320" y="1618488"/>
            <a:ext cx="3749040" cy="256032"/>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Total Revenue · Revenue per Night · Revenue Loss</a:t>
            </a:r>
            <a:endParaRPr lang="en-US" sz="950" dirty="0"/>
          </a:p>
        </p:txBody>
      </p:sp>
      <p:sp>
        <p:nvSpPr>
          <p:cNvPr id="23" name="Shape 21"/>
          <p:cNvSpPr/>
          <p:nvPr/>
        </p:nvSpPr>
        <p:spPr>
          <a:xfrm>
            <a:off x="4754880" y="2057400"/>
            <a:ext cx="3977640" cy="640080"/>
          </a:xfrm>
          <a:prstGeom prst="rect">
            <a:avLst/>
          </a:prstGeom>
          <a:solidFill>
            <a:srgbClr val="F0B429">
              <a:alpha val="12000"/>
            </a:srgbClr>
          </a:solidFill>
          <a:ln w="12700">
            <a:solidFill>
              <a:srgbClr val="F0B429">
                <a:alpha val="40000"/>
              </a:srgbClr>
            </a:solidFill>
            <a:prstDash val="solid"/>
          </a:ln>
        </p:spPr>
      </p:sp>
      <p:sp>
        <p:nvSpPr>
          <p:cNvPr id="24" name="Text 22"/>
          <p:cNvSpPr/>
          <p:nvPr/>
        </p:nvSpPr>
        <p:spPr>
          <a:xfrm>
            <a:off x="4846320" y="2103120"/>
            <a:ext cx="1645920" cy="274320"/>
          </a:xfrm>
          <a:prstGeom prst="rect">
            <a:avLst/>
          </a:prstGeom>
          <a:noFill/>
          <a:ln/>
        </p:spPr>
        <p:txBody>
          <a:bodyPr wrap="square" lIns="0" tIns="0" rIns="0" bIns="0" rtlCol="0" anchor="ctr"/>
          <a:lstStyle/>
          <a:p>
            <a:pPr marL="0" indent="0">
              <a:buNone/>
            </a:pPr>
            <a:r>
              <a:rPr lang="en-US" sz="1050" b="1" dirty="0">
                <a:solidFill>
                  <a:srgbClr val="F0B429"/>
                </a:solidFill>
                <a:latin typeface="Calibri" pitchFamily="34" charset="0"/>
                <a:ea typeface="Calibri" pitchFamily="34" charset="-122"/>
                <a:cs typeface="Calibri" pitchFamily="34" charset="-120"/>
              </a:rPr>
              <a:t>👥 Customer</a:t>
            </a:r>
            <a:endParaRPr lang="en-US" sz="1050" dirty="0"/>
          </a:p>
        </p:txBody>
      </p:sp>
      <p:sp>
        <p:nvSpPr>
          <p:cNvPr id="25" name="Text 23"/>
          <p:cNvSpPr/>
          <p:nvPr/>
        </p:nvSpPr>
        <p:spPr>
          <a:xfrm>
            <a:off x="4846320" y="2377440"/>
            <a:ext cx="3749040" cy="256032"/>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Total Customers · Repeat % · Repeated Guests</a:t>
            </a:r>
            <a:endParaRPr lang="en-US" sz="950" dirty="0"/>
          </a:p>
        </p:txBody>
      </p:sp>
      <p:sp>
        <p:nvSpPr>
          <p:cNvPr id="26" name="Shape 24"/>
          <p:cNvSpPr/>
          <p:nvPr/>
        </p:nvSpPr>
        <p:spPr>
          <a:xfrm>
            <a:off x="4754880" y="2816352"/>
            <a:ext cx="3977640" cy="640080"/>
          </a:xfrm>
          <a:prstGeom prst="rect">
            <a:avLst/>
          </a:prstGeom>
          <a:solidFill>
            <a:srgbClr val="F0B429">
              <a:alpha val="12000"/>
            </a:srgbClr>
          </a:solidFill>
          <a:ln w="12700">
            <a:solidFill>
              <a:srgbClr val="F0B429">
                <a:alpha val="40000"/>
              </a:srgbClr>
            </a:solidFill>
            <a:prstDash val="solid"/>
          </a:ln>
        </p:spPr>
      </p:sp>
      <p:sp>
        <p:nvSpPr>
          <p:cNvPr id="27" name="Text 25"/>
          <p:cNvSpPr/>
          <p:nvPr/>
        </p:nvSpPr>
        <p:spPr>
          <a:xfrm>
            <a:off x="4846320" y="2862072"/>
            <a:ext cx="1645920" cy="274320"/>
          </a:xfrm>
          <a:prstGeom prst="rect">
            <a:avLst/>
          </a:prstGeom>
          <a:noFill/>
          <a:ln/>
        </p:spPr>
        <p:txBody>
          <a:bodyPr wrap="square" lIns="0" tIns="0" rIns="0" bIns="0" rtlCol="0" anchor="ctr"/>
          <a:lstStyle/>
          <a:p>
            <a:pPr marL="0" indent="0">
              <a:buNone/>
            </a:pPr>
            <a:r>
              <a:rPr lang="en-US" sz="1050" b="1" dirty="0">
                <a:solidFill>
                  <a:srgbClr val="F0B429"/>
                </a:solidFill>
                <a:latin typeface="Calibri" pitchFamily="34" charset="0"/>
                <a:ea typeface="Calibri" pitchFamily="34" charset="-122"/>
                <a:cs typeface="Calibri" pitchFamily="34" charset="-120"/>
              </a:rPr>
              <a:t>🛏 Occupancy</a:t>
            </a:r>
            <a:endParaRPr lang="en-US" sz="1050" dirty="0"/>
          </a:p>
        </p:txBody>
      </p:sp>
      <p:sp>
        <p:nvSpPr>
          <p:cNvPr id="28" name="Text 26"/>
          <p:cNvSpPr/>
          <p:nvPr/>
        </p:nvSpPr>
        <p:spPr>
          <a:xfrm>
            <a:off x="4846320" y="3136392"/>
            <a:ext cx="3749040" cy="256032"/>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Total Guest Count · Occupancy Proxy · Stayed</a:t>
            </a:r>
            <a:endParaRPr lang="en-US" sz="950" dirty="0"/>
          </a:p>
        </p:txBody>
      </p:sp>
      <p:sp>
        <p:nvSpPr>
          <p:cNvPr id="29" name="Shape 27"/>
          <p:cNvSpPr/>
          <p:nvPr/>
        </p:nvSpPr>
        <p:spPr>
          <a:xfrm>
            <a:off x="4754880" y="3575304"/>
            <a:ext cx="3977640" cy="640080"/>
          </a:xfrm>
          <a:prstGeom prst="rect">
            <a:avLst/>
          </a:prstGeom>
          <a:solidFill>
            <a:srgbClr val="00BCD4">
              <a:alpha val="12000"/>
            </a:srgbClr>
          </a:solidFill>
          <a:ln w="12700">
            <a:solidFill>
              <a:srgbClr val="00BCD4">
                <a:alpha val="40000"/>
              </a:srgbClr>
            </a:solidFill>
            <a:prstDash val="solid"/>
          </a:ln>
        </p:spPr>
      </p:sp>
      <p:sp>
        <p:nvSpPr>
          <p:cNvPr id="30" name="Text 28"/>
          <p:cNvSpPr/>
          <p:nvPr/>
        </p:nvSpPr>
        <p:spPr>
          <a:xfrm>
            <a:off x="4846320" y="3621024"/>
            <a:ext cx="1645920" cy="274320"/>
          </a:xfrm>
          <a:prstGeom prst="rect">
            <a:avLst/>
          </a:prstGeom>
          <a:noFill/>
          <a:ln/>
        </p:spPr>
        <p:txBody>
          <a:bodyPr wrap="square" lIns="0" tIns="0" rIns="0" bIns="0" rtlCol="0" anchor="ctr"/>
          <a:lstStyle/>
          <a:p>
            <a:pPr marL="0" indent="0">
              <a:buNone/>
            </a:pPr>
            <a:r>
              <a:rPr lang="en-US" sz="1050" b="1" dirty="0">
                <a:solidFill>
                  <a:srgbClr val="00BCD4"/>
                </a:solidFill>
                <a:latin typeface="Calibri" pitchFamily="34" charset="0"/>
                <a:ea typeface="Calibri" pitchFamily="34" charset="-122"/>
                <a:cs typeface="Calibri" pitchFamily="34" charset="-120"/>
              </a:rPr>
              <a:t>📅 Booking</a:t>
            </a:r>
            <a:endParaRPr lang="en-US" sz="1050" dirty="0"/>
          </a:p>
        </p:txBody>
      </p:sp>
      <p:sp>
        <p:nvSpPr>
          <p:cNvPr id="31" name="Text 29"/>
          <p:cNvSpPr/>
          <p:nvPr/>
        </p:nvSpPr>
        <p:spPr>
          <a:xfrm>
            <a:off x="4846320" y="3895344"/>
            <a:ext cx="3749040" cy="256032"/>
          </a:xfrm>
          <a:prstGeom prst="rect">
            <a:avLst/>
          </a:prstGeom>
          <a:noFill/>
          <a:ln/>
        </p:spPr>
        <p:txBody>
          <a:bodyPr wrap="square" lIns="0" tIns="0" rIns="0" bIns="0" rtlCol="0" anchor="ctr"/>
          <a:lstStyle/>
          <a:p>
            <a:pPr marL="0" indent="0">
              <a:buNone/>
            </a:pPr>
            <a:r>
              <a:rPr lang="en-US" sz="950" dirty="0">
                <a:solidFill>
                  <a:srgbClr val="CBD5E1"/>
                </a:solidFill>
                <a:latin typeface="Calibri" pitchFamily="34" charset="0"/>
                <a:ea typeface="Calibri" pitchFamily="34" charset="-122"/>
                <a:cs typeface="Calibri" pitchFamily="34" charset="-120"/>
              </a:rPr>
              <a:t>Total Bookings · New Bookings · Repeated Bookings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E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3E"/>
          </a:solidFill>
          <a:ln w="12700">
            <a:solidFill>
              <a:srgbClr val="0D1B3E"/>
            </a:solidFill>
            <a:prstDash val="solid"/>
          </a:ln>
        </p:spPr>
      </p:sp>
      <p:sp>
        <p:nvSpPr>
          <p:cNvPr id="3" name="Shape 1"/>
          <p:cNvSpPr/>
          <p:nvPr/>
        </p:nvSpPr>
        <p:spPr>
          <a:xfrm>
            <a:off x="0" y="594360"/>
            <a:ext cx="9144000" cy="50292"/>
          </a:xfrm>
          <a:prstGeom prst="rect">
            <a:avLst/>
          </a:prstGeom>
          <a:solidFill>
            <a:srgbClr val="00BCD4"/>
          </a:solidFill>
          <a:ln w="12700">
            <a:solidFill>
              <a:srgbClr val="00BCD4"/>
            </a:solidFill>
            <a:prstDash val="solid"/>
          </a:ln>
        </p:spPr>
      </p:sp>
      <p:sp>
        <p:nvSpPr>
          <p:cNvPr id="4" name="Text 2"/>
          <p:cNvSpPr/>
          <p:nvPr/>
        </p:nvSpPr>
        <p:spPr>
          <a:xfrm>
            <a:off x="411480" y="73152"/>
            <a:ext cx="777240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DASHBOARD SUMMARIES — ALL 4 DASHBOARDS</a:t>
            </a:r>
            <a:endParaRPr lang="en-US" sz="2000" dirty="0"/>
          </a:p>
        </p:txBody>
      </p:sp>
      <p:sp>
        <p:nvSpPr>
          <p:cNvPr id="5" name="Shape 3"/>
          <p:cNvSpPr/>
          <p:nvPr/>
        </p:nvSpPr>
        <p:spPr>
          <a:xfrm>
            <a:off x="0" y="4892040"/>
            <a:ext cx="9144000" cy="251460"/>
          </a:xfrm>
          <a:prstGeom prst="rect">
            <a:avLst/>
          </a:prstGeom>
          <a:solidFill>
            <a:srgbClr val="0D1B3E"/>
          </a:solidFill>
          <a:ln w="12700">
            <a:solidFill>
              <a:srgbClr val="0D1B3E"/>
            </a:solidFill>
            <a:prstDash val="solid"/>
          </a:ln>
        </p:spPr>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HotelRevAI  |  AI-Driven Revenue Analysis</a:t>
            </a:r>
            <a:endParaRPr lang="en-US" sz="900" dirty="0"/>
          </a:p>
        </p:txBody>
      </p:sp>
      <p:sp>
        <p:nvSpPr>
          <p:cNvPr id="7" name="Shape 5"/>
          <p:cNvSpPr/>
          <p:nvPr/>
        </p:nvSpPr>
        <p:spPr>
          <a:xfrm>
            <a:off x="256032" y="749808"/>
            <a:ext cx="4187952" cy="1938528"/>
          </a:xfrm>
          <a:prstGeom prst="rect">
            <a:avLst/>
          </a:prstGeom>
          <a:solidFill>
            <a:srgbClr val="112244"/>
          </a:solidFill>
          <a:ln w="12700">
            <a:solidFill>
              <a:srgbClr val="1E3A6E"/>
            </a:solidFill>
            <a:prstDash val="solid"/>
          </a:ln>
          <a:effectLst>
            <a:outerShdw blurRad="101600" dist="38100" dir="8100000" algn="bl" rotWithShape="0">
              <a:srgbClr val="000000">
                <a:alpha val="10000"/>
              </a:srgbClr>
            </a:outerShdw>
          </a:effectLst>
        </p:spPr>
      </p:sp>
      <p:sp>
        <p:nvSpPr>
          <p:cNvPr id="8" name="Shape 6"/>
          <p:cNvSpPr/>
          <p:nvPr/>
        </p:nvSpPr>
        <p:spPr>
          <a:xfrm>
            <a:off x="256032" y="749808"/>
            <a:ext cx="64008" cy="1938528"/>
          </a:xfrm>
          <a:prstGeom prst="rect">
            <a:avLst/>
          </a:prstGeom>
          <a:solidFill>
            <a:srgbClr val="00BCD4"/>
          </a:solidFill>
          <a:ln w="12700">
            <a:solidFill>
              <a:srgbClr val="00BCD4"/>
            </a:solidFill>
            <a:prstDash val="solid"/>
          </a:ln>
        </p:spPr>
      </p:sp>
      <p:sp>
        <p:nvSpPr>
          <p:cNvPr id="9" name="Shape 7"/>
          <p:cNvSpPr/>
          <p:nvPr/>
        </p:nvSpPr>
        <p:spPr>
          <a:xfrm>
            <a:off x="256032" y="749808"/>
            <a:ext cx="4187952" cy="457200"/>
          </a:xfrm>
          <a:prstGeom prst="rect">
            <a:avLst/>
          </a:prstGeom>
          <a:solidFill>
            <a:srgbClr val="00BCD4">
              <a:alpha val="18000"/>
            </a:srgbClr>
          </a:solidFill>
          <a:ln w="12700">
            <a:solidFill>
              <a:srgbClr val="00BCD4">
                <a:alpha val="40000"/>
              </a:srgbClr>
            </a:solidFill>
            <a:prstDash val="solid"/>
          </a:ln>
        </p:spPr>
      </p:sp>
      <p:sp>
        <p:nvSpPr>
          <p:cNvPr id="10" name="Shape 8"/>
          <p:cNvSpPr/>
          <p:nvPr/>
        </p:nvSpPr>
        <p:spPr>
          <a:xfrm>
            <a:off x="365760" y="822960"/>
            <a:ext cx="347472" cy="310896"/>
          </a:xfrm>
          <a:prstGeom prst="rect">
            <a:avLst/>
          </a:prstGeom>
          <a:solidFill>
            <a:srgbClr val="00BCD4"/>
          </a:solidFill>
          <a:ln w="12700">
            <a:solidFill>
              <a:srgbClr val="00BCD4"/>
            </a:solidFill>
            <a:prstDash val="solid"/>
          </a:ln>
        </p:spPr>
      </p:sp>
      <p:sp>
        <p:nvSpPr>
          <p:cNvPr id="11" name="Text 9"/>
          <p:cNvSpPr/>
          <p:nvPr/>
        </p:nvSpPr>
        <p:spPr>
          <a:xfrm>
            <a:off x="365760" y="822960"/>
            <a:ext cx="347472" cy="310896"/>
          </a:xfrm>
          <a:prstGeom prst="rect">
            <a:avLst/>
          </a:prstGeom>
          <a:noFill/>
          <a:ln/>
        </p:spPr>
        <p:txBody>
          <a:bodyPr wrap="square" lIns="0" tIns="0" rIns="0" bIns="0" rtlCol="0" anchor="ctr"/>
          <a:lstStyle/>
          <a:p>
            <a:pPr marL="0" indent="0" algn="ctr">
              <a:buNone/>
            </a:pPr>
            <a:r>
              <a:rPr lang="en-US" sz="900" b="1" dirty="0">
                <a:solidFill>
                  <a:srgbClr val="060E24"/>
                </a:solidFill>
                <a:latin typeface="Calibri" pitchFamily="34" charset="0"/>
                <a:ea typeface="Calibri" pitchFamily="34" charset="-122"/>
                <a:cs typeface="Calibri" pitchFamily="34" charset="-120"/>
              </a:rPr>
              <a:t>D1</a:t>
            </a:r>
            <a:endParaRPr lang="en-US" sz="900" dirty="0"/>
          </a:p>
        </p:txBody>
      </p:sp>
      <p:sp>
        <p:nvSpPr>
          <p:cNvPr id="12" name="Text 10"/>
          <p:cNvSpPr/>
          <p:nvPr/>
        </p:nvSpPr>
        <p:spPr>
          <a:xfrm>
            <a:off x="786384" y="841248"/>
            <a:ext cx="2560320" cy="292608"/>
          </a:xfrm>
          <a:prstGeom prst="rect">
            <a:avLst/>
          </a:prstGeom>
          <a:noFill/>
          <a:ln/>
        </p:spPr>
        <p:txBody>
          <a:bodyPr wrap="square" lIns="0" tIns="0" rIns="0" bIns="0" rtlCol="0" anchor="ctr"/>
          <a:lstStyle/>
          <a:p>
            <a:pPr marL="0" indent="0">
              <a:buNone/>
            </a:pPr>
            <a:r>
              <a:rPr lang="en-US" sz="1100" b="1" dirty="0">
                <a:solidFill>
                  <a:srgbClr val="00BCD4"/>
                </a:solidFill>
                <a:latin typeface="Calibri" pitchFamily="34" charset="0"/>
                <a:ea typeface="Calibri" pitchFamily="34" charset="-122"/>
                <a:cs typeface="Calibri" pitchFamily="34" charset="-120"/>
              </a:rPr>
              <a:t>Revenue Performance</a:t>
            </a:r>
            <a:endParaRPr lang="en-US" sz="1100" dirty="0"/>
          </a:p>
        </p:txBody>
      </p:sp>
      <p:sp>
        <p:nvSpPr>
          <p:cNvPr id="13" name="Text 11"/>
          <p:cNvSpPr/>
          <p:nvPr/>
        </p:nvSpPr>
        <p:spPr>
          <a:xfrm>
            <a:off x="3273552" y="822960"/>
            <a:ext cx="1005840" cy="530352"/>
          </a:xfrm>
          <a:prstGeom prst="rect">
            <a:avLst/>
          </a:prstGeom>
          <a:noFill/>
          <a:ln/>
        </p:spPr>
        <p:txBody>
          <a:bodyPr wrap="square" lIns="0" tIns="0" rIns="0" bIns="0" rtlCol="0" anchor="ctr"/>
          <a:lstStyle/>
          <a:p>
            <a:pPr marL="0" indent="0" algn="ctr">
              <a:buNone/>
            </a:pPr>
            <a:r>
              <a:rPr lang="en-US" sz="2000" b="1" dirty="0">
                <a:solidFill>
                  <a:srgbClr val="00BCD4"/>
                </a:solidFill>
                <a:latin typeface="Calibri" pitchFamily="34" charset="0"/>
                <a:ea typeface="Calibri" pitchFamily="34" charset="-122"/>
                <a:cs typeface="Calibri" pitchFamily="34" charset="-120"/>
              </a:rPr>
              <a:t>↗ ADR</a:t>
            </a:r>
            <a:endParaRPr lang="en-US" sz="2000" dirty="0"/>
          </a:p>
        </p:txBody>
      </p:sp>
      <p:sp>
        <p:nvSpPr>
          <p:cNvPr id="14" name="Text 12"/>
          <p:cNvSpPr/>
          <p:nvPr/>
        </p:nvSpPr>
        <p:spPr>
          <a:xfrm>
            <a:off x="3227832" y="1316736"/>
            <a:ext cx="1097280" cy="237744"/>
          </a:xfrm>
          <a:prstGeom prst="rect">
            <a:avLst/>
          </a:prstGeom>
          <a:noFill/>
          <a:ln/>
        </p:spPr>
        <p:txBody>
          <a:bodyPr wrap="square" lIns="0" tIns="0" rIns="0" bIns="0" rtlCol="0" anchor="ctr"/>
          <a:lstStyle/>
          <a:p>
            <a:pPr marL="0" indent="0" algn="ctr">
              <a:buNone/>
            </a:pPr>
            <a:r>
              <a:rPr lang="en-US" sz="750" dirty="0">
                <a:solidFill>
                  <a:srgbClr val="64748B"/>
                </a:solidFill>
                <a:latin typeface="Calibri" pitchFamily="34" charset="0"/>
                <a:ea typeface="Calibri" pitchFamily="34" charset="-122"/>
                <a:cs typeface="Calibri" pitchFamily="34" charset="-120"/>
              </a:rPr>
              <a:t>Yearly Growth</a:t>
            </a:r>
            <a:endParaRPr lang="en-US" sz="750" dirty="0"/>
          </a:p>
        </p:txBody>
      </p:sp>
      <p:sp>
        <p:nvSpPr>
          <p:cNvPr id="15" name="Text 13"/>
          <p:cNvSpPr/>
          <p:nvPr/>
        </p:nvSpPr>
        <p:spPr>
          <a:xfrm>
            <a:off x="420624" y="1261872"/>
            <a:ext cx="3822192" cy="1316736"/>
          </a:xfrm>
          <a:prstGeom prst="rect">
            <a:avLst/>
          </a:prstGeom>
          <a:noFill/>
          <a:ln/>
        </p:spPr>
        <p:txBody>
          <a:bodyPr wrap="square" rtlCol="0" anchor="ctr"/>
          <a:lstStyle/>
          <a:p>
            <a:pPr marL="342900" indent="-342900">
              <a:buSzPct val="100000"/>
              <a:buChar char="•"/>
            </a:pPr>
            <a:r>
              <a:rPr lang="en-US" sz="950" dirty="0">
                <a:solidFill>
                  <a:srgbClr val="CBD5E1"/>
                </a:solidFill>
                <a:latin typeface="Calibri" pitchFamily="34" charset="0"/>
                <a:ea typeface="Calibri" pitchFamily="34" charset="-122"/>
                <a:cs typeface="Calibri" pitchFamily="34" charset="-120"/>
              </a:rPr>
              <a:t>OTA channel leads revenue share</a:t>
            </a:r>
            <a:endParaRPr lang="en-US" sz="950" dirty="0"/>
          </a:p>
          <a:p>
            <a:pPr marL="342900" indent="-342900">
              <a:buSzPct val="100000"/>
              <a:buChar char="•"/>
            </a:pPr>
            <a:r>
              <a:rPr lang="en-US" sz="950" dirty="0">
                <a:solidFill>
                  <a:srgbClr val="CBD5E1"/>
                </a:solidFill>
                <a:latin typeface="Calibri" pitchFamily="34" charset="0"/>
                <a:ea typeface="Calibri" pitchFamily="34" charset="-122"/>
                <a:cs typeface="Calibri" pitchFamily="34" charset="-120"/>
              </a:rPr>
              <a:t>ADR rising: 2015 → 2016 → 2017</a:t>
            </a:r>
            <a:endParaRPr lang="en-US" sz="950" dirty="0"/>
          </a:p>
          <a:p>
            <a:pPr marL="342900" indent="-342900">
              <a:buSzPct val="100000"/>
              <a:buChar char="•"/>
            </a:pPr>
            <a:r>
              <a:rPr lang="en-US" sz="950" dirty="0">
                <a:solidFill>
                  <a:srgbClr val="CBD5E1"/>
                </a:solidFill>
                <a:latin typeface="Calibri" pitchFamily="34" charset="0"/>
                <a:ea typeface="Calibri" pitchFamily="34" charset="-122"/>
                <a:cs typeface="Calibri" pitchFamily="34" charset="-120"/>
              </a:rPr>
              <a:t>Cancellations minimal after filtering</a:t>
            </a:r>
            <a:endParaRPr lang="en-US" sz="950" dirty="0"/>
          </a:p>
        </p:txBody>
      </p:sp>
      <p:sp>
        <p:nvSpPr>
          <p:cNvPr id="16" name="Shape 14"/>
          <p:cNvSpPr/>
          <p:nvPr/>
        </p:nvSpPr>
        <p:spPr>
          <a:xfrm>
            <a:off x="4718304" y="749808"/>
            <a:ext cx="4187952" cy="1938528"/>
          </a:xfrm>
          <a:prstGeom prst="rect">
            <a:avLst/>
          </a:prstGeom>
          <a:solidFill>
            <a:srgbClr val="112244"/>
          </a:solidFill>
          <a:ln w="12700">
            <a:solidFill>
              <a:srgbClr val="1E3A6E"/>
            </a:solidFill>
            <a:prstDash val="solid"/>
          </a:ln>
          <a:effectLst>
            <a:outerShdw blurRad="101600" dist="38100" dir="8100000" algn="bl" rotWithShape="0">
              <a:srgbClr val="000000">
                <a:alpha val="10000"/>
              </a:srgbClr>
            </a:outerShdw>
          </a:effectLst>
        </p:spPr>
      </p:sp>
      <p:sp>
        <p:nvSpPr>
          <p:cNvPr id="17" name="Shape 15"/>
          <p:cNvSpPr/>
          <p:nvPr/>
        </p:nvSpPr>
        <p:spPr>
          <a:xfrm>
            <a:off x="4718304" y="749808"/>
            <a:ext cx="64008" cy="1938528"/>
          </a:xfrm>
          <a:prstGeom prst="rect">
            <a:avLst/>
          </a:prstGeom>
          <a:solidFill>
            <a:srgbClr val="F0B429"/>
          </a:solidFill>
          <a:ln w="12700">
            <a:solidFill>
              <a:srgbClr val="F0B429"/>
            </a:solidFill>
            <a:prstDash val="solid"/>
          </a:ln>
        </p:spPr>
      </p:sp>
      <p:sp>
        <p:nvSpPr>
          <p:cNvPr id="18" name="Shape 16"/>
          <p:cNvSpPr/>
          <p:nvPr/>
        </p:nvSpPr>
        <p:spPr>
          <a:xfrm>
            <a:off x="4718304" y="749808"/>
            <a:ext cx="4187952" cy="457200"/>
          </a:xfrm>
          <a:prstGeom prst="rect">
            <a:avLst/>
          </a:prstGeom>
          <a:solidFill>
            <a:srgbClr val="F0B429">
              <a:alpha val="18000"/>
            </a:srgbClr>
          </a:solidFill>
          <a:ln w="12700">
            <a:solidFill>
              <a:srgbClr val="F0B429">
                <a:alpha val="40000"/>
              </a:srgbClr>
            </a:solidFill>
            <a:prstDash val="solid"/>
          </a:ln>
        </p:spPr>
      </p:sp>
      <p:sp>
        <p:nvSpPr>
          <p:cNvPr id="19" name="Shape 17"/>
          <p:cNvSpPr/>
          <p:nvPr/>
        </p:nvSpPr>
        <p:spPr>
          <a:xfrm>
            <a:off x="4828032" y="822960"/>
            <a:ext cx="347472" cy="310896"/>
          </a:xfrm>
          <a:prstGeom prst="rect">
            <a:avLst/>
          </a:prstGeom>
          <a:solidFill>
            <a:srgbClr val="F0B429"/>
          </a:solidFill>
          <a:ln w="12700">
            <a:solidFill>
              <a:srgbClr val="F0B429"/>
            </a:solidFill>
            <a:prstDash val="solid"/>
          </a:ln>
        </p:spPr>
      </p:sp>
      <p:sp>
        <p:nvSpPr>
          <p:cNvPr id="20" name="Text 18"/>
          <p:cNvSpPr/>
          <p:nvPr/>
        </p:nvSpPr>
        <p:spPr>
          <a:xfrm>
            <a:off x="4828032" y="822960"/>
            <a:ext cx="347472" cy="310896"/>
          </a:xfrm>
          <a:prstGeom prst="rect">
            <a:avLst/>
          </a:prstGeom>
          <a:noFill/>
          <a:ln/>
        </p:spPr>
        <p:txBody>
          <a:bodyPr wrap="square" lIns="0" tIns="0" rIns="0" bIns="0" rtlCol="0" anchor="ctr"/>
          <a:lstStyle/>
          <a:p>
            <a:pPr marL="0" indent="0" algn="ctr">
              <a:buNone/>
            </a:pPr>
            <a:r>
              <a:rPr lang="en-US" sz="900" b="1" dirty="0">
                <a:solidFill>
                  <a:srgbClr val="060E24"/>
                </a:solidFill>
                <a:latin typeface="Calibri" pitchFamily="34" charset="0"/>
                <a:ea typeface="Calibri" pitchFamily="34" charset="-122"/>
                <a:cs typeface="Calibri" pitchFamily="34" charset="-120"/>
              </a:rPr>
              <a:t>D2</a:t>
            </a:r>
            <a:endParaRPr lang="en-US" sz="900" dirty="0"/>
          </a:p>
        </p:txBody>
      </p:sp>
      <p:sp>
        <p:nvSpPr>
          <p:cNvPr id="21" name="Text 19"/>
          <p:cNvSpPr/>
          <p:nvPr/>
        </p:nvSpPr>
        <p:spPr>
          <a:xfrm>
            <a:off x="5248656" y="841248"/>
            <a:ext cx="2560320" cy="292608"/>
          </a:xfrm>
          <a:prstGeom prst="rect">
            <a:avLst/>
          </a:prstGeom>
          <a:noFill/>
          <a:ln/>
        </p:spPr>
        <p:txBody>
          <a:bodyPr wrap="square" lIns="0" tIns="0" rIns="0" bIns="0" rtlCol="0" anchor="ctr"/>
          <a:lstStyle/>
          <a:p>
            <a:pPr marL="0" indent="0">
              <a:buNone/>
            </a:pPr>
            <a:r>
              <a:rPr lang="en-US" sz="1100" b="1" dirty="0">
                <a:solidFill>
                  <a:srgbClr val="F0B429"/>
                </a:solidFill>
                <a:latin typeface="Calibri" pitchFamily="34" charset="0"/>
                <a:ea typeface="Calibri" pitchFamily="34" charset="-122"/>
                <a:cs typeface="Calibri" pitchFamily="34" charset="-120"/>
              </a:rPr>
              <a:t>Customer &amp; Booking Behaviour</a:t>
            </a:r>
            <a:endParaRPr lang="en-US" sz="1100" dirty="0"/>
          </a:p>
        </p:txBody>
      </p:sp>
      <p:sp>
        <p:nvSpPr>
          <p:cNvPr id="22" name="Text 20"/>
          <p:cNvSpPr/>
          <p:nvPr/>
        </p:nvSpPr>
        <p:spPr>
          <a:xfrm>
            <a:off x="7735824" y="822960"/>
            <a:ext cx="1005840" cy="530352"/>
          </a:xfrm>
          <a:prstGeom prst="rect">
            <a:avLst/>
          </a:prstGeom>
          <a:noFill/>
          <a:ln/>
        </p:spPr>
        <p:txBody>
          <a:bodyPr wrap="square" lIns="0" tIns="0" rIns="0" bIns="0" rtlCol="0" anchor="ctr"/>
          <a:lstStyle/>
          <a:p>
            <a:pPr marL="0" indent="0" algn="ctr">
              <a:buNone/>
            </a:pPr>
            <a:r>
              <a:rPr lang="en-US" sz="2000" b="1" dirty="0">
                <a:solidFill>
                  <a:srgbClr val="F0B429"/>
                </a:solidFill>
                <a:latin typeface="Calibri" pitchFamily="34" charset="0"/>
                <a:ea typeface="Calibri" pitchFamily="34" charset="-122"/>
                <a:cs typeface="Calibri" pitchFamily="34" charset="-120"/>
              </a:rPr>
              <a:t>4.33%</a:t>
            </a:r>
            <a:endParaRPr lang="en-US" sz="2000" dirty="0"/>
          </a:p>
        </p:txBody>
      </p:sp>
      <p:sp>
        <p:nvSpPr>
          <p:cNvPr id="23" name="Text 21"/>
          <p:cNvSpPr/>
          <p:nvPr/>
        </p:nvSpPr>
        <p:spPr>
          <a:xfrm>
            <a:off x="7690104" y="1316736"/>
            <a:ext cx="1097280" cy="237744"/>
          </a:xfrm>
          <a:prstGeom prst="rect">
            <a:avLst/>
          </a:prstGeom>
          <a:noFill/>
          <a:ln/>
        </p:spPr>
        <p:txBody>
          <a:bodyPr wrap="square" lIns="0" tIns="0" rIns="0" bIns="0" rtlCol="0" anchor="ctr"/>
          <a:lstStyle/>
          <a:p>
            <a:pPr marL="0" indent="0" algn="ctr">
              <a:buNone/>
            </a:pPr>
            <a:r>
              <a:rPr lang="en-US" sz="750" dirty="0">
                <a:solidFill>
                  <a:srgbClr val="64748B"/>
                </a:solidFill>
                <a:latin typeface="Calibri" pitchFamily="34" charset="0"/>
                <a:ea typeface="Calibri" pitchFamily="34" charset="-122"/>
                <a:cs typeface="Calibri" pitchFamily="34" charset="-120"/>
              </a:rPr>
              <a:t>Repeat Rate</a:t>
            </a:r>
            <a:endParaRPr lang="en-US" sz="750" dirty="0"/>
          </a:p>
        </p:txBody>
      </p:sp>
      <p:sp>
        <p:nvSpPr>
          <p:cNvPr id="24" name="Text 22"/>
          <p:cNvSpPr/>
          <p:nvPr/>
        </p:nvSpPr>
        <p:spPr>
          <a:xfrm>
            <a:off x="4882896" y="1261872"/>
            <a:ext cx="3822192" cy="1316736"/>
          </a:xfrm>
          <a:prstGeom prst="rect">
            <a:avLst/>
          </a:prstGeom>
          <a:noFill/>
          <a:ln/>
        </p:spPr>
        <p:txBody>
          <a:bodyPr wrap="square" rtlCol="0" anchor="ctr"/>
          <a:lstStyle/>
          <a:p>
            <a:pPr marL="342900" indent="-342900">
              <a:buSzPct val="100000"/>
              <a:buChar char="•"/>
            </a:pPr>
            <a:r>
              <a:rPr lang="en-US" sz="950" dirty="0">
                <a:solidFill>
                  <a:srgbClr val="CBD5E1"/>
                </a:solidFill>
                <a:latin typeface="Calibri" pitchFamily="34" charset="0"/>
                <a:ea typeface="Calibri" pitchFamily="34" charset="-122"/>
                <a:cs typeface="Calibri" pitchFamily="34" charset="-120"/>
              </a:rPr>
              <a:t>Only 4.33% repeat guests (low loyalty)</a:t>
            </a:r>
            <a:endParaRPr lang="en-US" sz="950" dirty="0"/>
          </a:p>
          <a:p>
            <a:pPr marL="342900" indent="-342900">
              <a:buSzPct val="100000"/>
              <a:buChar char="•"/>
            </a:pPr>
            <a:r>
              <a:rPr lang="en-US" sz="950" dirty="0">
                <a:solidFill>
                  <a:srgbClr val="CBD5E1"/>
                </a:solidFill>
                <a:latin typeface="Calibri" pitchFamily="34" charset="0"/>
                <a:ea typeface="Calibri" pitchFamily="34" charset="-122"/>
                <a:cs typeface="Calibri" pitchFamily="34" charset="-120"/>
              </a:rPr>
              <a:t>Portugal: 20K+ bookings — top country</a:t>
            </a:r>
            <a:endParaRPr lang="en-US" sz="950" dirty="0"/>
          </a:p>
          <a:p>
            <a:pPr marL="342900" indent="-342900">
              <a:buSzPct val="100000"/>
              <a:buChar char="•"/>
            </a:pPr>
            <a:r>
              <a:rPr lang="en-US" sz="950" dirty="0">
                <a:solidFill>
                  <a:srgbClr val="CBD5E1"/>
                </a:solidFill>
                <a:latin typeface="Calibri" pitchFamily="34" charset="0"/>
                <a:ea typeface="Calibri" pitchFamily="34" charset="-122"/>
                <a:cs typeface="Calibri" pitchFamily="34" charset="-120"/>
              </a:rPr>
              <a:t>~70% bookings from Transient customers</a:t>
            </a:r>
            <a:endParaRPr lang="en-US" sz="950" dirty="0"/>
          </a:p>
        </p:txBody>
      </p:sp>
      <p:sp>
        <p:nvSpPr>
          <p:cNvPr id="25" name="Shape 23"/>
          <p:cNvSpPr/>
          <p:nvPr/>
        </p:nvSpPr>
        <p:spPr>
          <a:xfrm>
            <a:off x="256032" y="2852928"/>
            <a:ext cx="4187952" cy="1938528"/>
          </a:xfrm>
          <a:prstGeom prst="rect">
            <a:avLst/>
          </a:prstGeom>
          <a:solidFill>
            <a:srgbClr val="112244"/>
          </a:solidFill>
          <a:ln w="12700">
            <a:solidFill>
              <a:srgbClr val="1E3A6E"/>
            </a:solidFill>
            <a:prstDash val="solid"/>
          </a:ln>
          <a:effectLst>
            <a:outerShdw blurRad="101600" dist="38100" dir="8100000" algn="bl" rotWithShape="0">
              <a:srgbClr val="000000">
                <a:alpha val="10000"/>
              </a:srgbClr>
            </a:outerShdw>
          </a:effectLst>
        </p:spPr>
      </p:sp>
      <p:sp>
        <p:nvSpPr>
          <p:cNvPr id="26" name="Shape 24"/>
          <p:cNvSpPr/>
          <p:nvPr/>
        </p:nvSpPr>
        <p:spPr>
          <a:xfrm>
            <a:off x="256032" y="2852928"/>
            <a:ext cx="64008" cy="1938528"/>
          </a:xfrm>
          <a:prstGeom prst="rect">
            <a:avLst/>
          </a:prstGeom>
          <a:solidFill>
            <a:srgbClr val="00BCD4"/>
          </a:solidFill>
          <a:ln w="12700">
            <a:solidFill>
              <a:srgbClr val="00BCD4"/>
            </a:solidFill>
            <a:prstDash val="solid"/>
          </a:ln>
        </p:spPr>
      </p:sp>
      <p:sp>
        <p:nvSpPr>
          <p:cNvPr id="27" name="Shape 25"/>
          <p:cNvSpPr/>
          <p:nvPr/>
        </p:nvSpPr>
        <p:spPr>
          <a:xfrm>
            <a:off x="256032" y="2852928"/>
            <a:ext cx="4187952" cy="457200"/>
          </a:xfrm>
          <a:prstGeom prst="rect">
            <a:avLst/>
          </a:prstGeom>
          <a:solidFill>
            <a:srgbClr val="00BCD4">
              <a:alpha val="18000"/>
            </a:srgbClr>
          </a:solidFill>
          <a:ln w="12700">
            <a:solidFill>
              <a:srgbClr val="00BCD4">
                <a:alpha val="40000"/>
              </a:srgbClr>
            </a:solidFill>
            <a:prstDash val="solid"/>
          </a:ln>
        </p:spPr>
      </p:sp>
      <p:sp>
        <p:nvSpPr>
          <p:cNvPr id="28" name="Shape 26"/>
          <p:cNvSpPr/>
          <p:nvPr/>
        </p:nvSpPr>
        <p:spPr>
          <a:xfrm>
            <a:off x="365760" y="2926080"/>
            <a:ext cx="347472" cy="310896"/>
          </a:xfrm>
          <a:prstGeom prst="rect">
            <a:avLst/>
          </a:prstGeom>
          <a:solidFill>
            <a:srgbClr val="00BCD4"/>
          </a:solidFill>
          <a:ln w="12700">
            <a:solidFill>
              <a:srgbClr val="00BCD4"/>
            </a:solidFill>
            <a:prstDash val="solid"/>
          </a:ln>
        </p:spPr>
      </p:sp>
      <p:sp>
        <p:nvSpPr>
          <p:cNvPr id="29" name="Text 27"/>
          <p:cNvSpPr/>
          <p:nvPr/>
        </p:nvSpPr>
        <p:spPr>
          <a:xfrm>
            <a:off x="365760" y="2926080"/>
            <a:ext cx="347472" cy="310896"/>
          </a:xfrm>
          <a:prstGeom prst="rect">
            <a:avLst/>
          </a:prstGeom>
          <a:noFill/>
          <a:ln/>
        </p:spPr>
        <p:txBody>
          <a:bodyPr wrap="square" lIns="0" tIns="0" rIns="0" bIns="0" rtlCol="0" anchor="ctr"/>
          <a:lstStyle/>
          <a:p>
            <a:pPr marL="0" indent="0" algn="ctr">
              <a:buNone/>
            </a:pPr>
            <a:r>
              <a:rPr lang="en-US" sz="900" b="1" dirty="0">
                <a:solidFill>
                  <a:srgbClr val="060E24"/>
                </a:solidFill>
                <a:latin typeface="Calibri" pitchFamily="34" charset="0"/>
                <a:ea typeface="Calibri" pitchFamily="34" charset="-122"/>
                <a:cs typeface="Calibri" pitchFamily="34" charset="-120"/>
              </a:rPr>
              <a:t>D3</a:t>
            </a:r>
            <a:endParaRPr lang="en-US" sz="900" dirty="0"/>
          </a:p>
        </p:txBody>
      </p:sp>
      <p:sp>
        <p:nvSpPr>
          <p:cNvPr id="30" name="Text 28"/>
          <p:cNvSpPr/>
          <p:nvPr/>
        </p:nvSpPr>
        <p:spPr>
          <a:xfrm>
            <a:off x="786384" y="2944368"/>
            <a:ext cx="2560320" cy="292608"/>
          </a:xfrm>
          <a:prstGeom prst="rect">
            <a:avLst/>
          </a:prstGeom>
          <a:noFill/>
          <a:ln/>
        </p:spPr>
        <p:txBody>
          <a:bodyPr wrap="square" lIns="0" tIns="0" rIns="0" bIns="0" rtlCol="0" anchor="ctr"/>
          <a:lstStyle/>
          <a:p>
            <a:pPr marL="0" indent="0">
              <a:buNone/>
            </a:pPr>
            <a:r>
              <a:rPr lang="en-US" sz="1100" b="1" dirty="0">
                <a:solidFill>
                  <a:srgbClr val="00BCD4"/>
                </a:solidFill>
                <a:latin typeface="Calibri" pitchFamily="34" charset="0"/>
                <a:ea typeface="Calibri" pitchFamily="34" charset="-122"/>
                <a:cs typeface="Calibri" pitchFamily="34" charset="-120"/>
              </a:rPr>
              <a:t>Revenue Optimization</a:t>
            </a:r>
            <a:endParaRPr lang="en-US" sz="1100" dirty="0"/>
          </a:p>
        </p:txBody>
      </p:sp>
      <p:sp>
        <p:nvSpPr>
          <p:cNvPr id="31" name="Text 29"/>
          <p:cNvSpPr/>
          <p:nvPr/>
        </p:nvSpPr>
        <p:spPr>
          <a:xfrm>
            <a:off x="3273552" y="2926080"/>
            <a:ext cx="1005840" cy="530352"/>
          </a:xfrm>
          <a:prstGeom prst="rect">
            <a:avLst/>
          </a:prstGeom>
          <a:noFill/>
          <a:ln/>
        </p:spPr>
        <p:txBody>
          <a:bodyPr wrap="square" lIns="0" tIns="0" rIns="0" bIns="0" rtlCol="0" anchor="ctr"/>
          <a:lstStyle/>
          <a:p>
            <a:pPr marL="0" indent="0" algn="ctr">
              <a:buNone/>
            </a:pPr>
            <a:r>
              <a:rPr lang="en-US" sz="2000" b="1" dirty="0">
                <a:solidFill>
                  <a:srgbClr val="00BCD4"/>
                </a:solidFill>
                <a:latin typeface="Calibri" pitchFamily="34" charset="0"/>
                <a:ea typeface="Calibri" pitchFamily="34" charset="-122"/>
                <a:cs typeface="Calibri" pitchFamily="34" charset="-120"/>
              </a:rPr>
              <a:t>Aug</a:t>
            </a:r>
            <a:endParaRPr lang="en-US" sz="2000" dirty="0"/>
          </a:p>
        </p:txBody>
      </p:sp>
      <p:sp>
        <p:nvSpPr>
          <p:cNvPr id="32" name="Text 30"/>
          <p:cNvSpPr/>
          <p:nvPr/>
        </p:nvSpPr>
        <p:spPr>
          <a:xfrm>
            <a:off x="3227832" y="3419856"/>
            <a:ext cx="1097280" cy="237744"/>
          </a:xfrm>
          <a:prstGeom prst="rect">
            <a:avLst/>
          </a:prstGeom>
          <a:noFill/>
          <a:ln/>
        </p:spPr>
        <p:txBody>
          <a:bodyPr wrap="square" lIns="0" tIns="0" rIns="0" bIns="0" rtlCol="0" anchor="ctr"/>
          <a:lstStyle/>
          <a:p>
            <a:pPr marL="0" indent="0" algn="ctr">
              <a:buNone/>
            </a:pPr>
            <a:r>
              <a:rPr lang="en-US" sz="750" dirty="0">
                <a:solidFill>
                  <a:srgbClr val="64748B"/>
                </a:solidFill>
                <a:latin typeface="Calibri" pitchFamily="34" charset="0"/>
                <a:ea typeface="Calibri" pitchFamily="34" charset="-122"/>
                <a:cs typeface="Calibri" pitchFamily="34" charset="-120"/>
              </a:rPr>
              <a:t>Peak Month</a:t>
            </a:r>
            <a:endParaRPr lang="en-US" sz="750" dirty="0"/>
          </a:p>
        </p:txBody>
      </p:sp>
      <p:sp>
        <p:nvSpPr>
          <p:cNvPr id="33" name="Text 31"/>
          <p:cNvSpPr/>
          <p:nvPr/>
        </p:nvSpPr>
        <p:spPr>
          <a:xfrm>
            <a:off x="420624" y="3364992"/>
            <a:ext cx="3822192" cy="1316736"/>
          </a:xfrm>
          <a:prstGeom prst="rect">
            <a:avLst/>
          </a:prstGeom>
          <a:noFill/>
          <a:ln/>
        </p:spPr>
        <p:txBody>
          <a:bodyPr wrap="square" rtlCol="0" anchor="ctr"/>
          <a:lstStyle/>
          <a:p>
            <a:pPr marL="342900" indent="-342900">
              <a:buSzPct val="100000"/>
              <a:buChar char="•"/>
            </a:pPr>
            <a:r>
              <a:rPr lang="en-US" sz="950" dirty="0">
                <a:solidFill>
                  <a:srgbClr val="CBD5E1"/>
                </a:solidFill>
                <a:latin typeface="Calibri" pitchFamily="34" charset="0"/>
                <a:ea typeface="Calibri" pitchFamily="34" charset="-122"/>
                <a:cs typeface="Calibri" pitchFamily="34" charset="-120"/>
              </a:rPr>
              <a:t>August: peak demand, ADR &amp; revenue</a:t>
            </a:r>
            <a:endParaRPr lang="en-US" sz="950" dirty="0"/>
          </a:p>
          <a:p>
            <a:pPr marL="342900" indent="-342900">
              <a:buSzPct val="100000"/>
              <a:buChar char="•"/>
            </a:pPr>
            <a:r>
              <a:rPr lang="en-US" sz="950" dirty="0">
                <a:solidFill>
                  <a:srgbClr val="CBD5E1"/>
                </a:solidFill>
                <a:latin typeface="Calibri" pitchFamily="34" charset="0"/>
                <a:ea typeface="Calibri" pitchFamily="34" charset="-122"/>
                <a:cs typeface="Calibri" pitchFamily="34" charset="-120"/>
              </a:rPr>
              <a:t>31–90 day lead time = best ADR</a:t>
            </a:r>
            <a:endParaRPr lang="en-US" sz="950" dirty="0"/>
          </a:p>
          <a:p>
            <a:pPr marL="342900" indent="-342900">
              <a:buSzPct val="100000"/>
              <a:buChar char="•"/>
            </a:pPr>
            <a:r>
              <a:rPr lang="en-US" sz="950" dirty="0">
                <a:solidFill>
                  <a:srgbClr val="CBD5E1"/>
                </a:solidFill>
                <a:latin typeface="Calibri" pitchFamily="34" charset="0"/>
                <a:ea typeface="Calibri" pitchFamily="34" charset="-122"/>
                <a:cs typeface="Calibri" pitchFamily="34" charset="-120"/>
              </a:rPr>
              <a:t>OTA dominates across both hotel types</a:t>
            </a:r>
            <a:endParaRPr lang="en-US" sz="950" dirty="0"/>
          </a:p>
        </p:txBody>
      </p:sp>
      <p:sp>
        <p:nvSpPr>
          <p:cNvPr id="34" name="Shape 32"/>
          <p:cNvSpPr/>
          <p:nvPr/>
        </p:nvSpPr>
        <p:spPr>
          <a:xfrm>
            <a:off x="4718304" y="2852928"/>
            <a:ext cx="4187952" cy="1938528"/>
          </a:xfrm>
          <a:prstGeom prst="rect">
            <a:avLst/>
          </a:prstGeom>
          <a:solidFill>
            <a:srgbClr val="112244"/>
          </a:solidFill>
          <a:ln w="12700">
            <a:solidFill>
              <a:srgbClr val="1E3A6E"/>
            </a:solidFill>
            <a:prstDash val="solid"/>
          </a:ln>
          <a:effectLst>
            <a:outerShdw blurRad="101600" dist="38100" dir="8100000" algn="bl" rotWithShape="0">
              <a:srgbClr val="000000">
                <a:alpha val="10000"/>
              </a:srgbClr>
            </a:outerShdw>
          </a:effectLst>
        </p:spPr>
      </p:sp>
      <p:sp>
        <p:nvSpPr>
          <p:cNvPr id="35" name="Shape 33"/>
          <p:cNvSpPr/>
          <p:nvPr/>
        </p:nvSpPr>
        <p:spPr>
          <a:xfrm>
            <a:off x="4718304" y="2852928"/>
            <a:ext cx="64008" cy="1938528"/>
          </a:xfrm>
          <a:prstGeom prst="rect">
            <a:avLst/>
          </a:prstGeom>
          <a:solidFill>
            <a:srgbClr val="F0B429"/>
          </a:solidFill>
          <a:ln w="12700">
            <a:solidFill>
              <a:srgbClr val="F0B429"/>
            </a:solidFill>
            <a:prstDash val="solid"/>
          </a:ln>
        </p:spPr>
      </p:sp>
      <p:sp>
        <p:nvSpPr>
          <p:cNvPr id="36" name="Shape 34"/>
          <p:cNvSpPr/>
          <p:nvPr/>
        </p:nvSpPr>
        <p:spPr>
          <a:xfrm>
            <a:off x="4718304" y="2852928"/>
            <a:ext cx="4187952" cy="457200"/>
          </a:xfrm>
          <a:prstGeom prst="rect">
            <a:avLst/>
          </a:prstGeom>
          <a:solidFill>
            <a:srgbClr val="F0B429">
              <a:alpha val="18000"/>
            </a:srgbClr>
          </a:solidFill>
          <a:ln w="12700">
            <a:solidFill>
              <a:srgbClr val="F0B429">
                <a:alpha val="40000"/>
              </a:srgbClr>
            </a:solidFill>
            <a:prstDash val="solid"/>
          </a:ln>
        </p:spPr>
      </p:sp>
      <p:sp>
        <p:nvSpPr>
          <p:cNvPr id="37" name="Shape 35"/>
          <p:cNvSpPr/>
          <p:nvPr/>
        </p:nvSpPr>
        <p:spPr>
          <a:xfrm>
            <a:off x="4828032" y="2926080"/>
            <a:ext cx="347472" cy="310896"/>
          </a:xfrm>
          <a:prstGeom prst="rect">
            <a:avLst/>
          </a:prstGeom>
          <a:solidFill>
            <a:srgbClr val="F0B429"/>
          </a:solidFill>
          <a:ln w="12700">
            <a:solidFill>
              <a:srgbClr val="F0B429"/>
            </a:solidFill>
            <a:prstDash val="solid"/>
          </a:ln>
        </p:spPr>
      </p:sp>
      <p:sp>
        <p:nvSpPr>
          <p:cNvPr id="38" name="Text 36"/>
          <p:cNvSpPr/>
          <p:nvPr/>
        </p:nvSpPr>
        <p:spPr>
          <a:xfrm>
            <a:off x="4828032" y="2926080"/>
            <a:ext cx="347472" cy="310896"/>
          </a:xfrm>
          <a:prstGeom prst="rect">
            <a:avLst/>
          </a:prstGeom>
          <a:noFill/>
          <a:ln/>
        </p:spPr>
        <p:txBody>
          <a:bodyPr wrap="square" lIns="0" tIns="0" rIns="0" bIns="0" rtlCol="0" anchor="ctr"/>
          <a:lstStyle/>
          <a:p>
            <a:pPr marL="0" indent="0" algn="ctr">
              <a:buNone/>
            </a:pPr>
            <a:r>
              <a:rPr lang="en-US" sz="900" b="1" dirty="0">
                <a:solidFill>
                  <a:srgbClr val="060E24"/>
                </a:solidFill>
                <a:latin typeface="Calibri" pitchFamily="34" charset="0"/>
                <a:ea typeface="Calibri" pitchFamily="34" charset="-122"/>
                <a:cs typeface="Calibri" pitchFamily="34" charset="-120"/>
              </a:rPr>
              <a:t>D4</a:t>
            </a:r>
            <a:endParaRPr lang="en-US" sz="900" dirty="0"/>
          </a:p>
        </p:txBody>
      </p:sp>
      <p:sp>
        <p:nvSpPr>
          <p:cNvPr id="39" name="Text 37"/>
          <p:cNvSpPr/>
          <p:nvPr/>
        </p:nvSpPr>
        <p:spPr>
          <a:xfrm>
            <a:off x="5248656" y="2944368"/>
            <a:ext cx="2560320" cy="292608"/>
          </a:xfrm>
          <a:prstGeom prst="rect">
            <a:avLst/>
          </a:prstGeom>
          <a:noFill/>
          <a:ln/>
        </p:spPr>
        <p:txBody>
          <a:bodyPr wrap="square" lIns="0" tIns="0" rIns="0" bIns="0" rtlCol="0" anchor="ctr"/>
          <a:lstStyle/>
          <a:p>
            <a:pPr marL="0" indent="0">
              <a:buNone/>
            </a:pPr>
            <a:r>
              <a:rPr lang="en-US" sz="1100" b="1" dirty="0">
                <a:solidFill>
                  <a:srgbClr val="F0B429"/>
                </a:solidFill>
                <a:latin typeface="Calibri" pitchFamily="34" charset="0"/>
                <a:ea typeface="Calibri" pitchFamily="34" charset="-122"/>
                <a:cs typeface="Calibri" pitchFamily="34" charset="-120"/>
              </a:rPr>
              <a:t>Seasonality &amp; Stay Patterns</a:t>
            </a:r>
            <a:endParaRPr lang="en-US" sz="1100" dirty="0"/>
          </a:p>
        </p:txBody>
      </p:sp>
      <p:sp>
        <p:nvSpPr>
          <p:cNvPr id="40" name="Text 38"/>
          <p:cNvSpPr/>
          <p:nvPr/>
        </p:nvSpPr>
        <p:spPr>
          <a:xfrm>
            <a:off x="7735824" y="2926080"/>
            <a:ext cx="1005840" cy="530352"/>
          </a:xfrm>
          <a:prstGeom prst="rect">
            <a:avLst/>
          </a:prstGeom>
          <a:noFill/>
          <a:ln/>
        </p:spPr>
        <p:txBody>
          <a:bodyPr wrap="square" lIns="0" tIns="0" rIns="0" bIns="0" rtlCol="0" anchor="ctr"/>
          <a:lstStyle/>
          <a:p>
            <a:pPr marL="0" indent="0" algn="ctr">
              <a:buNone/>
            </a:pPr>
            <a:r>
              <a:rPr lang="en-US" sz="2000" b="1" dirty="0">
                <a:solidFill>
                  <a:srgbClr val="F0B429"/>
                </a:solidFill>
                <a:latin typeface="Calibri" pitchFamily="34" charset="0"/>
                <a:ea typeface="Calibri" pitchFamily="34" charset="-122"/>
                <a:cs typeface="Calibri" pitchFamily="34" charset="-120"/>
              </a:rPr>
              <a:t>49%</a:t>
            </a:r>
            <a:endParaRPr lang="en-US" sz="2000" dirty="0"/>
          </a:p>
        </p:txBody>
      </p:sp>
      <p:sp>
        <p:nvSpPr>
          <p:cNvPr id="41" name="Text 39"/>
          <p:cNvSpPr/>
          <p:nvPr/>
        </p:nvSpPr>
        <p:spPr>
          <a:xfrm>
            <a:off x="7690104" y="3419856"/>
            <a:ext cx="1097280" cy="237744"/>
          </a:xfrm>
          <a:prstGeom prst="rect">
            <a:avLst/>
          </a:prstGeom>
          <a:noFill/>
          <a:ln/>
        </p:spPr>
        <p:txBody>
          <a:bodyPr wrap="square" lIns="0" tIns="0" rIns="0" bIns="0" rtlCol="0" anchor="ctr"/>
          <a:lstStyle/>
          <a:p>
            <a:pPr marL="0" indent="0" algn="ctr">
              <a:buNone/>
            </a:pPr>
            <a:r>
              <a:rPr lang="en-US" sz="750" dirty="0">
                <a:solidFill>
                  <a:srgbClr val="64748B"/>
                </a:solidFill>
                <a:latin typeface="Calibri" pitchFamily="34" charset="0"/>
                <a:ea typeface="Calibri" pitchFamily="34" charset="-122"/>
                <a:cs typeface="Calibri" pitchFamily="34" charset="-120"/>
              </a:rPr>
              <a:t>Rev: 4–7 Nights</a:t>
            </a:r>
            <a:endParaRPr lang="en-US" sz="750" dirty="0"/>
          </a:p>
        </p:txBody>
      </p:sp>
      <p:sp>
        <p:nvSpPr>
          <p:cNvPr id="42" name="Text 40"/>
          <p:cNvSpPr/>
          <p:nvPr/>
        </p:nvSpPr>
        <p:spPr>
          <a:xfrm>
            <a:off x="4882896" y="3364992"/>
            <a:ext cx="3822192" cy="1316736"/>
          </a:xfrm>
          <a:prstGeom prst="rect">
            <a:avLst/>
          </a:prstGeom>
          <a:noFill/>
          <a:ln/>
        </p:spPr>
        <p:txBody>
          <a:bodyPr wrap="square" rtlCol="0" anchor="ctr"/>
          <a:lstStyle/>
          <a:p>
            <a:pPr marL="342900" indent="-342900">
              <a:buSzPct val="100000"/>
              <a:buChar char="•"/>
            </a:pPr>
            <a:r>
              <a:rPr lang="en-US" sz="950" dirty="0">
                <a:solidFill>
                  <a:srgbClr val="CBD5E1"/>
                </a:solidFill>
                <a:latin typeface="Calibri" pitchFamily="34" charset="0"/>
                <a:ea typeface="Calibri" pitchFamily="34" charset="-122"/>
                <a:cs typeface="Calibri" pitchFamily="34" charset="-120"/>
              </a:rPr>
              <a:t>3–4 night stays most common pattern</a:t>
            </a:r>
            <a:endParaRPr lang="en-US" sz="950" dirty="0"/>
          </a:p>
          <a:p>
            <a:pPr marL="342900" indent="-342900">
              <a:buSzPct val="100000"/>
              <a:buChar char="•"/>
            </a:pPr>
            <a:r>
              <a:rPr lang="en-US" sz="950" dirty="0">
                <a:solidFill>
                  <a:srgbClr val="CBD5E1"/>
                </a:solidFill>
                <a:latin typeface="Calibri" pitchFamily="34" charset="0"/>
                <a:ea typeface="Calibri" pitchFamily="34" charset="-122"/>
                <a:cs typeface="Calibri" pitchFamily="34" charset="-120"/>
              </a:rPr>
              <a:t>4–7 nights drives ~49% of revenue</a:t>
            </a:r>
            <a:endParaRPr lang="en-US" sz="950" dirty="0"/>
          </a:p>
          <a:p>
            <a:pPr marL="342900" indent="-342900">
              <a:buSzPct val="100000"/>
              <a:buChar char="•"/>
            </a:pPr>
            <a:r>
              <a:rPr lang="en-US" sz="950" dirty="0">
                <a:solidFill>
                  <a:srgbClr val="CBD5E1"/>
                </a:solidFill>
                <a:latin typeface="Calibri" pitchFamily="34" charset="0"/>
                <a:ea typeface="Calibri" pitchFamily="34" charset="-122"/>
                <a:cs typeface="Calibri" pitchFamily="34" charset="-120"/>
              </a:rPr>
              <a:t>Jan &amp; Nov are low-demand months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060E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3E"/>
          </a:solidFill>
          <a:ln w="12700">
            <a:solidFill>
              <a:srgbClr val="0D1B3E"/>
            </a:solidFill>
            <a:prstDash val="solid"/>
          </a:ln>
        </p:spPr>
      </p:sp>
      <p:sp>
        <p:nvSpPr>
          <p:cNvPr id="3" name="Shape 1"/>
          <p:cNvSpPr/>
          <p:nvPr/>
        </p:nvSpPr>
        <p:spPr>
          <a:xfrm>
            <a:off x="0" y="594360"/>
            <a:ext cx="9144000" cy="50292"/>
          </a:xfrm>
          <a:prstGeom prst="rect">
            <a:avLst/>
          </a:prstGeom>
          <a:solidFill>
            <a:srgbClr val="00BCD4"/>
          </a:solidFill>
          <a:ln w="12700">
            <a:solidFill>
              <a:srgbClr val="00BCD4"/>
            </a:solidFill>
            <a:prstDash val="solid"/>
          </a:ln>
        </p:spPr>
      </p:sp>
      <p:sp>
        <p:nvSpPr>
          <p:cNvPr id="4" name="Text 2"/>
          <p:cNvSpPr/>
          <p:nvPr/>
        </p:nvSpPr>
        <p:spPr>
          <a:xfrm>
            <a:off x="411480" y="73152"/>
            <a:ext cx="777240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KEY FINDINGS SUMMARY</a:t>
            </a:r>
            <a:endParaRPr lang="en-US" sz="2000" dirty="0"/>
          </a:p>
        </p:txBody>
      </p:sp>
      <p:sp>
        <p:nvSpPr>
          <p:cNvPr id="5" name="Shape 3"/>
          <p:cNvSpPr/>
          <p:nvPr/>
        </p:nvSpPr>
        <p:spPr>
          <a:xfrm>
            <a:off x="0" y="4892040"/>
            <a:ext cx="9144000" cy="251460"/>
          </a:xfrm>
          <a:prstGeom prst="rect">
            <a:avLst/>
          </a:prstGeom>
          <a:solidFill>
            <a:srgbClr val="0D1B3E"/>
          </a:solidFill>
          <a:ln w="12700">
            <a:solidFill>
              <a:srgbClr val="0D1B3E"/>
            </a:solidFill>
            <a:prstDash val="solid"/>
          </a:ln>
        </p:spPr>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HotelRevAI  |  AI-Driven Revenue Analysis</a:t>
            </a:r>
            <a:endParaRPr lang="en-US" sz="900" dirty="0"/>
          </a:p>
        </p:txBody>
      </p:sp>
      <p:sp>
        <p:nvSpPr>
          <p:cNvPr id="7" name="Shape 5"/>
          <p:cNvSpPr/>
          <p:nvPr/>
        </p:nvSpPr>
        <p:spPr>
          <a:xfrm>
            <a:off x="320040" y="886968"/>
            <a:ext cx="54864" cy="274320"/>
          </a:xfrm>
          <a:prstGeom prst="rect">
            <a:avLst/>
          </a:prstGeom>
          <a:solidFill>
            <a:srgbClr val="00BCD4"/>
          </a:solidFill>
          <a:ln w="12700">
            <a:solidFill>
              <a:srgbClr val="00BCD4"/>
            </a:solidFill>
            <a:prstDash val="solid"/>
          </a:ln>
        </p:spPr>
      </p:sp>
      <p:sp>
        <p:nvSpPr>
          <p:cNvPr id="8" name="Text 6"/>
          <p:cNvSpPr/>
          <p:nvPr/>
        </p:nvSpPr>
        <p:spPr>
          <a:xfrm>
            <a:off x="502920" y="804672"/>
            <a:ext cx="4114800" cy="47548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Online travel agencies (OTA) generate the highest share of revenue</a:t>
            </a:r>
            <a:endParaRPr lang="en-US" sz="1100" dirty="0"/>
          </a:p>
        </p:txBody>
      </p:sp>
      <p:sp>
        <p:nvSpPr>
          <p:cNvPr id="9" name="Shape 7"/>
          <p:cNvSpPr/>
          <p:nvPr/>
        </p:nvSpPr>
        <p:spPr>
          <a:xfrm>
            <a:off x="320040" y="1499616"/>
            <a:ext cx="54864" cy="274320"/>
          </a:xfrm>
          <a:prstGeom prst="rect">
            <a:avLst/>
          </a:prstGeom>
          <a:solidFill>
            <a:srgbClr val="00BCD4"/>
          </a:solidFill>
          <a:ln w="12700">
            <a:solidFill>
              <a:srgbClr val="00BCD4"/>
            </a:solidFill>
            <a:prstDash val="solid"/>
          </a:ln>
        </p:spPr>
      </p:sp>
      <p:sp>
        <p:nvSpPr>
          <p:cNvPr id="10" name="Text 8"/>
          <p:cNvSpPr/>
          <p:nvPr/>
        </p:nvSpPr>
        <p:spPr>
          <a:xfrm>
            <a:off x="502920" y="1417320"/>
            <a:ext cx="4114800" cy="47548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Transient customers contribute the majority of bookings (~70%)</a:t>
            </a:r>
            <a:endParaRPr lang="en-US" sz="1100" dirty="0"/>
          </a:p>
        </p:txBody>
      </p:sp>
      <p:sp>
        <p:nvSpPr>
          <p:cNvPr id="11" name="Shape 9"/>
          <p:cNvSpPr/>
          <p:nvPr/>
        </p:nvSpPr>
        <p:spPr>
          <a:xfrm>
            <a:off x="320040" y="2112264"/>
            <a:ext cx="54864" cy="274320"/>
          </a:xfrm>
          <a:prstGeom prst="rect">
            <a:avLst/>
          </a:prstGeom>
          <a:solidFill>
            <a:srgbClr val="00BCD4"/>
          </a:solidFill>
          <a:ln w="12700">
            <a:solidFill>
              <a:srgbClr val="00BCD4"/>
            </a:solidFill>
            <a:prstDash val="solid"/>
          </a:ln>
        </p:spPr>
      </p:sp>
      <p:sp>
        <p:nvSpPr>
          <p:cNvPr id="12" name="Text 10"/>
          <p:cNvSpPr/>
          <p:nvPr/>
        </p:nvSpPr>
        <p:spPr>
          <a:xfrm>
            <a:off x="502920" y="2029968"/>
            <a:ext cx="4114800" cy="47548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Repeat guest percentage is very low (~4%), indicating low customer loyalty</a:t>
            </a:r>
            <a:endParaRPr lang="en-US" sz="1100" dirty="0"/>
          </a:p>
        </p:txBody>
      </p:sp>
      <p:sp>
        <p:nvSpPr>
          <p:cNvPr id="13" name="Shape 11"/>
          <p:cNvSpPr/>
          <p:nvPr/>
        </p:nvSpPr>
        <p:spPr>
          <a:xfrm>
            <a:off x="320040" y="2724912"/>
            <a:ext cx="54864" cy="274320"/>
          </a:xfrm>
          <a:prstGeom prst="rect">
            <a:avLst/>
          </a:prstGeom>
          <a:solidFill>
            <a:srgbClr val="00BCD4"/>
          </a:solidFill>
          <a:ln w="12700">
            <a:solidFill>
              <a:srgbClr val="00BCD4"/>
            </a:solidFill>
            <a:prstDash val="solid"/>
          </a:ln>
        </p:spPr>
      </p:sp>
      <p:sp>
        <p:nvSpPr>
          <p:cNvPr id="14" name="Text 12"/>
          <p:cNvSpPr/>
          <p:nvPr/>
        </p:nvSpPr>
        <p:spPr>
          <a:xfrm>
            <a:off x="502920" y="2642616"/>
            <a:ext cx="4114800" cy="47548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August is the peak demand and revenue month across all metrics</a:t>
            </a:r>
            <a:endParaRPr lang="en-US" sz="1100" dirty="0"/>
          </a:p>
        </p:txBody>
      </p:sp>
      <p:sp>
        <p:nvSpPr>
          <p:cNvPr id="15" name="Shape 13"/>
          <p:cNvSpPr/>
          <p:nvPr/>
        </p:nvSpPr>
        <p:spPr>
          <a:xfrm>
            <a:off x="320040" y="3337560"/>
            <a:ext cx="54864" cy="274320"/>
          </a:xfrm>
          <a:prstGeom prst="rect">
            <a:avLst/>
          </a:prstGeom>
          <a:solidFill>
            <a:srgbClr val="00BCD4"/>
          </a:solidFill>
          <a:ln w="12700">
            <a:solidFill>
              <a:srgbClr val="00BCD4"/>
            </a:solidFill>
            <a:prstDash val="solid"/>
          </a:ln>
        </p:spPr>
      </p:sp>
      <p:sp>
        <p:nvSpPr>
          <p:cNvPr id="16" name="Text 14"/>
          <p:cNvSpPr/>
          <p:nvPr/>
        </p:nvSpPr>
        <p:spPr>
          <a:xfrm>
            <a:off x="502920" y="3255264"/>
            <a:ext cx="4114800" cy="47548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Early bookings (31–90 days lead time) generate higher revenue</a:t>
            </a:r>
            <a:endParaRPr lang="en-US" sz="1100" dirty="0"/>
          </a:p>
        </p:txBody>
      </p:sp>
      <p:sp>
        <p:nvSpPr>
          <p:cNvPr id="17" name="Shape 15"/>
          <p:cNvSpPr/>
          <p:nvPr/>
        </p:nvSpPr>
        <p:spPr>
          <a:xfrm>
            <a:off x="320040" y="3950208"/>
            <a:ext cx="54864" cy="274320"/>
          </a:xfrm>
          <a:prstGeom prst="rect">
            <a:avLst/>
          </a:prstGeom>
          <a:solidFill>
            <a:srgbClr val="00BCD4"/>
          </a:solidFill>
          <a:ln w="12700">
            <a:solidFill>
              <a:srgbClr val="00BCD4"/>
            </a:solidFill>
            <a:prstDash val="solid"/>
          </a:ln>
        </p:spPr>
      </p:sp>
      <p:sp>
        <p:nvSpPr>
          <p:cNvPr id="18" name="Text 16"/>
          <p:cNvSpPr/>
          <p:nvPr/>
        </p:nvSpPr>
        <p:spPr>
          <a:xfrm>
            <a:off x="502920" y="3867912"/>
            <a:ext cx="4114800" cy="47548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Short stays (3–4 nights) are the most common booking pattern</a:t>
            </a:r>
            <a:endParaRPr lang="en-US" sz="1100" dirty="0"/>
          </a:p>
        </p:txBody>
      </p:sp>
      <p:sp>
        <p:nvSpPr>
          <p:cNvPr id="19" name="Shape 17"/>
          <p:cNvSpPr/>
          <p:nvPr/>
        </p:nvSpPr>
        <p:spPr>
          <a:xfrm>
            <a:off x="320040" y="4562856"/>
            <a:ext cx="54864" cy="274320"/>
          </a:xfrm>
          <a:prstGeom prst="rect">
            <a:avLst/>
          </a:prstGeom>
          <a:solidFill>
            <a:srgbClr val="00BCD4"/>
          </a:solidFill>
          <a:ln w="12700">
            <a:solidFill>
              <a:srgbClr val="00BCD4"/>
            </a:solidFill>
            <a:prstDash val="solid"/>
          </a:ln>
        </p:spPr>
      </p:sp>
      <p:sp>
        <p:nvSpPr>
          <p:cNvPr id="20" name="Text 18"/>
          <p:cNvSpPr/>
          <p:nvPr/>
        </p:nvSpPr>
        <p:spPr>
          <a:xfrm>
            <a:off x="502920" y="4480560"/>
            <a:ext cx="4114800" cy="47548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Longer stays (4–7 nights) contribute ~49% to total revenue</a:t>
            </a:r>
            <a:endParaRPr lang="en-US" sz="1100" dirty="0"/>
          </a:p>
        </p:txBody>
      </p:sp>
      <p:sp>
        <p:nvSpPr>
          <p:cNvPr id="21" name="Shape 19"/>
          <p:cNvSpPr/>
          <p:nvPr/>
        </p:nvSpPr>
        <p:spPr>
          <a:xfrm>
            <a:off x="4754880" y="886968"/>
            <a:ext cx="54864" cy="274320"/>
          </a:xfrm>
          <a:prstGeom prst="rect">
            <a:avLst/>
          </a:prstGeom>
          <a:solidFill>
            <a:srgbClr val="00BCD4"/>
          </a:solidFill>
          <a:ln w="12700">
            <a:solidFill>
              <a:srgbClr val="00BCD4"/>
            </a:solidFill>
            <a:prstDash val="solid"/>
          </a:ln>
        </p:spPr>
      </p:sp>
      <p:sp>
        <p:nvSpPr>
          <p:cNvPr id="22" name="Text 20"/>
          <p:cNvSpPr/>
          <p:nvPr/>
        </p:nvSpPr>
        <p:spPr>
          <a:xfrm>
            <a:off x="4937760" y="804672"/>
            <a:ext cx="4114800" cy="47548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Demand is comparatively low during January and November</a:t>
            </a:r>
            <a:endParaRPr lang="en-US" sz="1100" dirty="0"/>
          </a:p>
        </p:txBody>
      </p:sp>
      <p:sp>
        <p:nvSpPr>
          <p:cNvPr id="23" name="Shape 21"/>
          <p:cNvSpPr/>
          <p:nvPr/>
        </p:nvSpPr>
        <p:spPr>
          <a:xfrm>
            <a:off x="4754880" y="1499616"/>
            <a:ext cx="54864" cy="274320"/>
          </a:xfrm>
          <a:prstGeom prst="rect">
            <a:avLst/>
          </a:prstGeom>
          <a:solidFill>
            <a:srgbClr val="00BCD4"/>
          </a:solidFill>
          <a:ln w="12700">
            <a:solidFill>
              <a:srgbClr val="00BCD4"/>
            </a:solidFill>
            <a:prstDash val="solid"/>
          </a:ln>
        </p:spPr>
      </p:sp>
      <p:sp>
        <p:nvSpPr>
          <p:cNvPr id="24" name="Text 22"/>
          <p:cNvSpPr/>
          <p:nvPr/>
        </p:nvSpPr>
        <p:spPr>
          <a:xfrm>
            <a:off x="4937760" y="1417320"/>
            <a:ext cx="4114800" cy="47548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Revenue shows a clear seasonal trend across different months</a:t>
            </a:r>
            <a:endParaRPr lang="en-US" sz="1100" dirty="0"/>
          </a:p>
        </p:txBody>
      </p:sp>
      <p:sp>
        <p:nvSpPr>
          <p:cNvPr id="25" name="Shape 23"/>
          <p:cNvSpPr/>
          <p:nvPr/>
        </p:nvSpPr>
        <p:spPr>
          <a:xfrm>
            <a:off x="4754880" y="2112264"/>
            <a:ext cx="54864" cy="274320"/>
          </a:xfrm>
          <a:prstGeom prst="rect">
            <a:avLst/>
          </a:prstGeom>
          <a:solidFill>
            <a:srgbClr val="00BCD4"/>
          </a:solidFill>
          <a:ln w="12700">
            <a:solidFill>
              <a:srgbClr val="00BCD4"/>
            </a:solidFill>
            <a:prstDash val="solid"/>
          </a:ln>
        </p:spPr>
      </p:sp>
      <p:sp>
        <p:nvSpPr>
          <p:cNvPr id="26" name="Text 24"/>
          <p:cNvSpPr/>
          <p:nvPr/>
        </p:nvSpPr>
        <p:spPr>
          <a:xfrm>
            <a:off x="4937760" y="2029968"/>
            <a:ext cx="4114800" cy="47548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Pricing (ADR) shows a gradual increase over the 2015–2017 period</a:t>
            </a:r>
            <a:endParaRPr lang="en-US" sz="1100" dirty="0"/>
          </a:p>
        </p:txBody>
      </p:sp>
      <p:sp>
        <p:nvSpPr>
          <p:cNvPr id="27" name="Shape 25"/>
          <p:cNvSpPr/>
          <p:nvPr/>
        </p:nvSpPr>
        <p:spPr>
          <a:xfrm>
            <a:off x="4754880" y="2724912"/>
            <a:ext cx="54864" cy="274320"/>
          </a:xfrm>
          <a:prstGeom prst="rect">
            <a:avLst/>
          </a:prstGeom>
          <a:solidFill>
            <a:srgbClr val="00BCD4"/>
          </a:solidFill>
          <a:ln w="12700">
            <a:solidFill>
              <a:srgbClr val="00BCD4"/>
            </a:solidFill>
            <a:prstDash val="solid"/>
          </a:ln>
        </p:spPr>
      </p:sp>
      <p:sp>
        <p:nvSpPr>
          <p:cNvPr id="28" name="Text 26"/>
          <p:cNvSpPr/>
          <p:nvPr/>
        </p:nvSpPr>
        <p:spPr>
          <a:xfrm>
            <a:off x="4937760" y="2642616"/>
            <a:ext cx="4114800" cy="47548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Booking demand is concentrated in specific countries (e.g., Portugal)</a:t>
            </a:r>
            <a:endParaRPr lang="en-US" sz="1100" dirty="0"/>
          </a:p>
        </p:txBody>
      </p:sp>
      <p:sp>
        <p:nvSpPr>
          <p:cNvPr id="29" name="Shape 27"/>
          <p:cNvSpPr/>
          <p:nvPr/>
        </p:nvSpPr>
        <p:spPr>
          <a:xfrm>
            <a:off x="4754880" y="3337560"/>
            <a:ext cx="54864" cy="274320"/>
          </a:xfrm>
          <a:prstGeom prst="rect">
            <a:avLst/>
          </a:prstGeom>
          <a:solidFill>
            <a:srgbClr val="00BCD4"/>
          </a:solidFill>
          <a:ln w="12700">
            <a:solidFill>
              <a:srgbClr val="00BCD4"/>
            </a:solidFill>
            <a:prstDash val="solid"/>
          </a:ln>
        </p:spPr>
      </p:sp>
      <p:sp>
        <p:nvSpPr>
          <p:cNvPr id="30" name="Text 28"/>
          <p:cNvSpPr/>
          <p:nvPr/>
        </p:nvSpPr>
        <p:spPr>
          <a:xfrm>
            <a:off x="4937760" y="3255264"/>
            <a:ext cx="4114800" cy="47548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Cancellation impact is minimal after data filtering applied</a:t>
            </a:r>
            <a:endParaRPr lang="en-US" sz="1100" dirty="0"/>
          </a:p>
        </p:txBody>
      </p:sp>
      <p:sp>
        <p:nvSpPr>
          <p:cNvPr id="31" name="Shape 29"/>
          <p:cNvSpPr/>
          <p:nvPr/>
        </p:nvSpPr>
        <p:spPr>
          <a:xfrm>
            <a:off x="4754880" y="3950208"/>
            <a:ext cx="54864" cy="274320"/>
          </a:xfrm>
          <a:prstGeom prst="rect">
            <a:avLst/>
          </a:prstGeom>
          <a:solidFill>
            <a:srgbClr val="00BCD4"/>
          </a:solidFill>
          <a:ln w="12700">
            <a:solidFill>
              <a:srgbClr val="00BCD4"/>
            </a:solidFill>
            <a:prstDash val="solid"/>
          </a:ln>
        </p:spPr>
      </p:sp>
      <p:sp>
        <p:nvSpPr>
          <p:cNvPr id="32" name="Text 30"/>
          <p:cNvSpPr/>
          <p:nvPr/>
        </p:nvSpPr>
        <p:spPr>
          <a:xfrm>
            <a:off x="4937760" y="3867912"/>
            <a:ext cx="4114800" cy="47548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Room demand is relatively evenly distributed across room types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060E24"/>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1B3E"/>
          </a:solidFill>
          <a:ln w="12700">
            <a:solidFill>
              <a:srgbClr val="0D1B3E"/>
            </a:solidFill>
            <a:prstDash val="solid"/>
          </a:ln>
        </p:spPr>
      </p:sp>
      <p:sp>
        <p:nvSpPr>
          <p:cNvPr id="3" name="Shape 1"/>
          <p:cNvSpPr/>
          <p:nvPr/>
        </p:nvSpPr>
        <p:spPr>
          <a:xfrm>
            <a:off x="0" y="594360"/>
            <a:ext cx="9144000" cy="50292"/>
          </a:xfrm>
          <a:prstGeom prst="rect">
            <a:avLst/>
          </a:prstGeom>
          <a:solidFill>
            <a:srgbClr val="00BCD4"/>
          </a:solidFill>
          <a:ln w="12700">
            <a:solidFill>
              <a:srgbClr val="00BCD4"/>
            </a:solidFill>
            <a:prstDash val="solid"/>
          </a:ln>
        </p:spPr>
      </p:sp>
      <p:sp>
        <p:nvSpPr>
          <p:cNvPr id="4" name="Text 2"/>
          <p:cNvSpPr/>
          <p:nvPr/>
        </p:nvSpPr>
        <p:spPr>
          <a:xfrm>
            <a:off x="411480" y="73152"/>
            <a:ext cx="777240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CONCLUSION &amp; FUTURE ENHANCEMENTS</a:t>
            </a:r>
            <a:endParaRPr lang="en-US" sz="2000" dirty="0"/>
          </a:p>
        </p:txBody>
      </p:sp>
      <p:sp>
        <p:nvSpPr>
          <p:cNvPr id="5" name="Shape 3"/>
          <p:cNvSpPr/>
          <p:nvPr/>
        </p:nvSpPr>
        <p:spPr>
          <a:xfrm>
            <a:off x="0" y="4892040"/>
            <a:ext cx="9144000" cy="251460"/>
          </a:xfrm>
          <a:prstGeom prst="rect">
            <a:avLst/>
          </a:prstGeom>
          <a:solidFill>
            <a:srgbClr val="0D1B3E"/>
          </a:solidFill>
          <a:ln w="12700">
            <a:solidFill>
              <a:srgbClr val="0D1B3E"/>
            </a:solidFill>
            <a:prstDash val="solid"/>
          </a:ln>
        </p:spPr>
      </p:sp>
      <p:sp>
        <p:nvSpPr>
          <p:cNvPr id="6" name="Text 4"/>
          <p:cNvSpPr/>
          <p:nvPr/>
        </p:nvSpPr>
        <p:spPr>
          <a:xfrm>
            <a:off x="274320" y="4892040"/>
            <a:ext cx="8595360" cy="25146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HotelRevAI  |  AI-Driven Revenue Analysis</a:t>
            </a:r>
            <a:endParaRPr lang="en-US" sz="900" dirty="0"/>
          </a:p>
        </p:txBody>
      </p:sp>
      <p:sp>
        <p:nvSpPr>
          <p:cNvPr id="7" name="Shape 5"/>
          <p:cNvSpPr/>
          <p:nvPr/>
        </p:nvSpPr>
        <p:spPr>
          <a:xfrm>
            <a:off x="320040" y="777240"/>
            <a:ext cx="4937760" cy="3931920"/>
          </a:xfrm>
          <a:prstGeom prst="rect">
            <a:avLst/>
          </a:prstGeom>
          <a:solidFill>
            <a:srgbClr val="112244"/>
          </a:solidFill>
          <a:ln w="12700">
            <a:solidFill>
              <a:srgbClr val="1E3A6E"/>
            </a:solidFill>
            <a:prstDash val="solid"/>
          </a:ln>
          <a:effectLst>
            <a:outerShdw blurRad="101600" dist="38100" dir="8100000" algn="bl" rotWithShape="0">
              <a:srgbClr val="000000">
                <a:alpha val="10000"/>
              </a:srgbClr>
            </a:outerShdw>
          </a:effectLst>
        </p:spPr>
      </p:sp>
      <p:sp>
        <p:nvSpPr>
          <p:cNvPr id="8" name="Shape 6"/>
          <p:cNvSpPr/>
          <p:nvPr/>
        </p:nvSpPr>
        <p:spPr>
          <a:xfrm>
            <a:off x="320040" y="777240"/>
            <a:ext cx="64008" cy="3931920"/>
          </a:xfrm>
          <a:prstGeom prst="rect">
            <a:avLst/>
          </a:prstGeom>
          <a:solidFill>
            <a:srgbClr val="00BCD4"/>
          </a:solidFill>
          <a:ln w="12700">
            <a:solidFill>
              <a:srgbClr val="00BCD4"/>
            </a:solidFill>
            <a:prstDash val="solid"/>
          </a:ln>
        </p:spPr>
      </p:sp>
      <p:sp>
        <p:nvSpPr>
          <p:cNvPr id="9" name="Text 7"/>
          <p:cNvSpPr/>
          <p:nvPr/>
        </p:nvSpPr>
        <p:spPr>
          <a:xfrm>
            <a:off x="457200" y="896112"/>
            <a:ext cx="4572000" cy="320040"/>
          </a:xfrm>
          <a:prstGeom prst="rect">
            <a:avLst/>
          </a:prstGeom>
          <a:noFill/>
          <a:ln/>
        </p:spPr>
        <p:txBody>
          <a:bodyPr wrap="square" lIns="0" tIns="0" rIns="0" bIns="0" rtlCol="0" anchor="ctr"/>
          <a:lstStyle/>
          <a:p>
            <a:pPr marL="0" indent="0">
              <a:buNone/>
            </a:pPr>
            <a:r>
              <a:rPr lang="en-US" sz="1100" b="1" dirty="0">
                <a:solidFill>
                  <a:srgbClr val="00BCD4"/>
                </a:solidFill>
                <a:latin typeface="Calibri" pitchFamily="34" charset="0"/>
                <a:ea typeface="Calibri" pitchFamily="34" charset="-122"/>
                <a:cs typeface="Calibri" pitchFamily="34" charset="-120"/>
              </a:rPr>
              <a:t>CONCLUSION</a:t>
            </a:r>
            <a:endParaRPr lang="en-US" sz="1100" dirty="0"/>
          </a:p>
        </p:txBody>
      </p:sp>
      <p:sp>
        <p:nvSpPr>
          <p:cNvPr id="10" name="Text 8"/>
          <p:cNvSpPr/>
          <p:nvPr/>
        </p:nvSpPr>
        <p:spPr>
          <a:xfrm>
            <a:off x="457200" y="1298448"/>
            <a:ext cx="4572000" cy="2560320"/>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The HotelRevAI project demonstrates how Power BI can transform raw hotel booking data into actionable business insights through data loading, modelling, and interactive dashboards.</a:t>
            </a:r>
            <a:endParaRPr lang="en-US" sz="1150" dirty="0"/>
          </a:p>
          <a:p>
            <a:pPr marL="0" indent="0">
              <a:buNone/>
            </a:pPr>
            <a:endParaRPr lang="en-US" sz="1150" dirty="0"/>
          </a:p>
          <a:p>
            <a:pPr marL="0" indent="0">
              <a:buNone/>
            </a:pPr>
            <a:r>
              <a:rPr lang="en-US" sz="1150" dirty="0">
                <a:solidFill>
                  <a:srgbClr val="CBD5E1"/>
                </a:solidFill>
                <a:latin typeface="Calibri" pitchFamily="34" charset="0"/>
                <a:ea typeface="Calibri" pitchFamily="34" charset="-122"/>
                <a:cs typeface="Calibri" pitchFamily="34" charset="-120"/>
              </a:rPr>
              <a:t>The analysis highlights key revenue drivers such as OTA channels, Transient customers, peak demand in August, and longer stays. These insights support strategic decisions like dynamic pricing, improved cancellation policies, loyalty programs, and growth of direct booking channels to enhance overall revenue performance.</a:t>
            </a:r>
            <a:endParaRPr lang="en-US" sz="1150" dirty="0"/>
          </a:p>
        </p:txBody>
      </p:sp>
      <p:sp>
        <p:nvSpPr>
          <p:cNvPr id="11" name="Shape 9"/>
          <p:cNvSpPr/>
          <p:nvPr/>
        </p:nvSpPr>
        <p:spPr>
          <a:xfrm>
            <a:off x="5440680" y="777240"/>
            <a:ext cx="3383280" cy="3931920"/>
          </a:xfrm>
          <a:prstGeom prst="rect">
            <a:avLst/>
          </a:prstGeom>
          <a:solidFill>
            <a:srgbClr val="112244"/>
          </a:solidFill>
          <a:ln w="12700">
            <a:solidFill>
              <a:srgbClr val="1E3A6E"/>
            </a:solidFill>
            <a:prstDash val="solid"/>
          </a:ln>
          <a:effectLst>
            <a:outerShdw blurRad="101600" dist="38100" dir="8100000" algn="bl" rotWithShape="0">
              <a:srgbClr val="000000">
                <a:alpha val="10000"/>
              </a:srgbClr>
            </a:outerShdw>
          </a:effectLst>
        </p:spPr>
      </p:sp>
      <p:sp>
        <p:nvSpPr>
          <p:cNvPr id="12" name="Shape 10"/>
          <p:cNvSpPr/>
          <p:nvPr/>
        </p:nvSpPr>
        <p:spPr>
          <a:xfrm>
            <a:off x="5440680" y="777240"/>
            <a:ext cx="64008" cy="3931920"/>
          </a:xfrm>
          <a:prstGeom prst="rect">
            <a:avLst/>
          </a:prstGeom>
          <a:solidFill>
            <a:srgbClr val="F0B429"/>
          </a:solidFill>
          <a:ln w="12700">
            <a:solidFill>
              <a:srgbClr val="F0B429"/>
            </a:solidFill>
            <a:prstDash val="solid"/>
          </a:ln>
        </p:spPr>
      </p:sp>
      <p:sp>
        <p:nvSpPr>
          <p:cNvPr id="13" name="Text 11"/>
          <p:cNvSpPr/>
          <p:nvPr/>
        </p:nvSpPr>
        <p:spPr>
          <a:xfrm>
            <a:off x="5577840" y="896112"/>
            <a:ext cx="3108960" cy="320040"/>
          </a:xfrm>
          <a:prstGeom prst="rect">
            <a:avLst/>
          </a:prstGeom>
          <a:noFill/>
          <a:ln/>
        </p:spPr>
        <p:txBody>
          <a:bodyPr wrap="square" lIns="0" tIns="0" rIns="0" bIns="0" rtlCol="0" anchor="ctr"/>
          <a:lstStyle/>
          <a:p>
            <a:pPr marL="0" indent="0">
              <a:buNone/>
            </a:pPr>
            <a:r>
              <a:rPr lang="en-US" sz="1100" b="1" dirty="0">
                <a:solidFill>
                  <a:srgbClr val="F0B429"/>
                </a:solidFill>
                <a:latin typeface="Calibri" pitchFamily="34" charset="0"/>
                <a:ea typeface="Calibri" pitchFamily="34" charset="-122"/>
                <a:cs typeface="Calibri" pitchFamily="34" charset="-120"/>
              </a:rPr>
              <a:t>FUTURE ENHANCEMENTS</a:t>
            </a:r>
            <a:endParaRPr lang="en-US" sz="1100" dirty="0"/>
          </a:p>
        </p:txBody>
      </p:sp>
      <p:sp>
        <p:nvSpPr>
          <p:cNvPr id="14" name="Text 12"/>
          <p:cNvSpPr/>
          <p:nvPr/>
        </p:nvSpPr>
        <p:spPr>
          <a:xfrm>
            <a:off x="5532120" y="1371600"/>
            <a:ext cx="411480" cy="457200"/>
          </a:xfrm>
          <a:prstGeom prst="rect">
            <a:avLst/>
          </a:prstGeom>
          <a:noFill/>
          <a:ln/>
        </p:spPr>
        <p:txBody>
          <a:bodyPr wrap="square" rtlCol="0" anchor="ctr"/>
          <a:lstStyle/>
          <a:p>
            <a:pPr marL="0" indent="0" algn="ctr">
              <a:buNone/>
            </a:pPr>
            <a:r>
              <a:rPr lang="en-US" sz="1800" dirty="0">
                <a:solidFill>
                  <a:srgbClr val="000000"/>
                </a:solidFill>
              </a:rPr>
              <a:t>ML</a:t>
            </a:r>
            <a:endParaRPr lang="en-US" sz="1800" dirty="0"/>
          </a:p>
        </p:txBody>
      </p:sp>
      <p:sp>
        <p:nvSpPr>
          <p:cNvPr id="15" name="Text 13"/>
          <p:cNvSpPr/>
          <p:nvPr/>
        </p:nvSpPr>
        <p:spPr>
          <a:xfrm>
            <a:off x="5989320" y="1426464"/>
            <a:ext cx="2651760" cy="38404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ML models for demand forecasting</a:t>
            </a:r>
            <a:endParaRPr lang="en-US" sz="1100" dirty="0"/>
          </a:p>
        </p:txBody>
      </p:sp>
      <p:sp>
        <p:nvSpPr>
          <p:cNvPr id="16" name="Text 14"/>
          <p:cNvSpPr/>
          <p:nvPr/>
        </p:nvSpPr>
        <p:spPr>
          <a:xfrm>
            <a:off x="5532120" y="2029968"/>
            <a:ext cx="411480" cy="457200"/>
          </a:xfrm>
          <a:prstGeom prst="rect">
            <a:avLst/>
          </a:prstGeom>
          <a:noFill/>
          <a:ln/>
        </p:spPr>
        <p:txBody>
          <a:bodyPr wrap="square" rtlCol="0" anchor="ctr"/>
          <a:lstStyle/>
          <a:p>
            <a:pPr marL="0" indent="0" algn="ctr">
              <a:buNone/>
            </a:pPr>
            <a:r>
              <a:rPr lang="en-US" sz="1800" dirty="0">
                <a:solidFill>
                  <a:srgbClr val="000000"/>
                </a:solidFill>
              </a:rPr>
              <a:t>&gt;&gt;</a:t>
            </a:r>
            <a:endParaRPr lang="en-US" sz="1800" dirty="0"/>
          </a:p>
        </p:txBody>
      </p:sp>
      <p:sp>
        <p:nvSpPr>
          <p:cNvPr id="17" name="Text 15"/>
          <p:cNvSpPr/>
          <p:nvPr/>
        </p:nvSpPr>
        <p:spPr>
          <a:xfrm>
            <a:off x="5989320" y="2084832"/>
            <a:ext cx="2651760" cy="38404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Real-time live booking pipeline</a:t>
            </a:r>
            <a:endParaRPr lang="en-US" sz="1100" dirty="0"/>
          </a:p>
        </p:txBody>
      </p:sp>
      <p:sp>
        <p:nvSpPr>
          <p:cNvPr id="18" name="Text 16"/>
          <p:cNvSpPr/>
          <p:nvPr/>
        </p:nvSpPr>
        <p:spPr>
          <a:xfrm>
            <a:off x="5532120" y="2688336"/>
            <a:ext cx="411480" cy="457200"/>
          </a:xfrm>
          <a:prstGeom prst="rect">
            <a:avLst/>
          </a:prstGeom>
          <a:noFill/>
          <a:ln/>
        </p:spPr>
        <p:txBody>
          <a:bodyPr wrap="square" rtlCol="0" anchor="ctr"/>
          <a:lstStyle/>
          <a:p>
            <a:pPr marL="0" indent="0" algn="ctr">
              <a:buNone/>
            </a:pPr>
            <a:r>
              <a:rPr lang="en-US" sz="1800" dirty="0">
                <a:solidFill>
                  <a:srgbClr val="000000"/>
                </a:solidFill>
              </a:rPr>
              <a:t>CL</a:t>
            </a:r>
            <a:endParaRPr lang="en-US" sz="1800" dirty="0"/>
          </a:p>
        </p:txBody>
      </p:sp>
      <p:sp>
        <p:nvSpPr>
          <p:cNvPr id="19" name="Text 17"/>
          <p:cNvSpPr/>
          <p:nvPr/>
        </p:nvSpPr>
        <p:spPr>
          <a:xfrm>
            <a:off x="5989320" y="2743200"/>
            <a:ext cx="2651760" cy="38404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Customer segmentation via clustering</a:t>
            </a:r>
            <a:endParaRPr lang="en-US" sz="1100" dirty="0"/>
          </a:p>
        </p:txBody>
      </p:sp>
      <p:sp>
        <p:nvSpPr>
          <p:cNvPr id="20" name="Text 18"/>
          <p:cNvSpPr/>
          <p:nvPr/>
        </p:nvSpPr>
        <p:spPr>
          <a:xfrm>
            <a:off x="5532120" y="3346704"/>
            <a:ext cx="411480" cy="457200"/>
          </a:xfrm>
          <a:prstGeom prst="rect">
            <a:avLst/>
          </a:prstGeom>
          <a:noFill/>
          <a:ln/>
        </p:spPr>
        <p:txBody>
          <a:bodyPr wrap="square" rtlCol="0" anchor="ctr"/>
          <a:lstStyle/>
          <a:p>
            <a:pPr marL="0" indent="0" algn="ctr">
              <a:buNone/>
            </a:pPr>
            <a:r>
              <a:rPr lang="en-US" sz="1800" dirty="0">
                <a:solidFill>
                  <a:srgbClr val="000000"/>
                </a:solidFill>
              </a:rPr>
              <a:t>#1</a:t>
            </a:r>
            <a:endParaRPr lang="en-US" sz="1800" dirty="0"/>
          </a:p>
        </p:txBody>
      </p:sp>
      <p:sp>
        <p:nvSpPr>
          <p:cNvPr id="21" name="Text 19"/>
          <p:cNvSpPr/>
          <p:nvPr/>
        </p:nvSpPr>
        <p:spPr>
          <a:xfrm>
            <a:off x="5989320" y="3401568"/>
            <a:ext cx="2651760" cy="38404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Competitor rate benchmarking</a:t>
            </a:r>
            <a:endParaRPr lang="en-US" sz="1100" dirty="0"/>
          </a:p>
        </p:txBody>
      </p:sp>
      <p:sp>
        <p:nvSpPr>
          <p:cNvPr id="22" name="Text 20"/>
          <p:cNvSpPr/>
          <p:nvPr/>
        </p:nvSpPr>
        <p:spPr>
          <a:xfrm>
            <a:off x="5532120" y="4005072"/>
            <a:ext cx="411480" cy="45720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3" name="Text 21"/>
          <p:cNvSpPr/>
          <p:nvPr/>
        </p:nvSpPr>
        <p:spPr>
          <a:xfrm>
            <a:off x="5989320" y="4059936"/>
            <a:ext cx="2651760" cy="38404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Automated anomaly detection alerts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060E24"/>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0BCD4"/>
          </a:solidFill>
          <a:ln w="12700">
            <a:solidFill>
              <a:srgbClr val="00BCD4"/>
            </a:solidFill>
            <a:prstDash val="solid"/>
          </a:ln>
        </p:spPr>
      </p:sp>
      <p:sp>
        <p:nvSpPr>
          <p:cNvPr id="3" name="Shape 1"/>
          <p:cNvSpPr/>
          <p:nvPr/>
        </p:nvSpPr>
        <p:spPr>
          <a:xfrm>
            <a:off x="0" y="4023360"/>
            <a:ext cx="9144000" cy="1120140"/>
          </a:xfrm>
          <a:prstGeom prst="rect">
            <a:avLst/>
          </a:prstGeom>
          <a:solidFill>
            <a:srgbClr val="0A1628"/>
          </a:solidFill>
          <a:ln w="12700">
            <a:solidFill>
              <a:srgbClr val="0A1628"/>
            </a:solidFill>
            <a:prstDash val="solid"/>
          </a:ln>
        </p:spPr>
      </p:sp>
      <p:sp>
        <p:nvSpPr>
          <p:cNvPr id="4" name="Shape 2"/>
          <p:cNvSpPr/>
          <p:nvPr/>
        </p:nvSpPr>
        <p:spPr>
          <a:xfrm>
            <a:off x="0" y="4005072"/>
            <a:ext cx="9144000" cy="54864"/>
          </a:xfrm>
          <a:prstGeom prst="rect">
            <a:avLst/>
          </a:prstGeom>
          <a:solidFill>
            <a:srgbClr val="F0B429"/>
          </a:solidFill>
          <a:ln w="12700">
            <a:solidFill>
              <a:srgbClr val="F0B429"/>
            </a:solidFill>
            <a:prstDash val="solid"/>
          </a:ln>
        </p:spPr>
      </p:sp>
      <p:sp>
        <p:nvSpPr>
          <p:cNvPr id="5" name="Text 3"/>
          <p:cNvSpPr/>
          <p:nvPr/>
        </p:nvSpPr>
        <p:spPr>
          <a:xfrm>
            <a:off x="457200" y="1463040"/>
            <a:ext cx="8229600" cy="1005840"/>
          </a:xfrm>
          <a:prstGeom prst="rect">
            <a:avLst/>
          </a:prstGeom>
          <a:noFill/>
          <a:ln/>
        </p:spPr>
        <p:txBody>
          <a:bodyPr wrap="square" lIns="0" tIns="0" rIns="0" bIns="0" rtlCol="0" anchor="ctr"/>
          <a:lstStyle/>
          <a:p>
            <a:pPr marL="0" indent="0" algn="ctr">
              <a:buNone/>
            </a:pPr>
            <a:r>
              <a:rPr lang="en-US" sz="5600" b="1" kern="0" spc="1000" dirty="0">
                <a:solidFill>
                  <a:srgbClr val="FFFFFF"/>
                </a:solidFill>
                <a:latin typeface="Calibri" pitchFamily="34" charset="0"/>
                <a:ea typeface="Calibri" pitchFamily="34" charset="-122"/>
                <a:cs typeface="Calibri" pitchFamily="34" charset="-120"/>
              </a:rPr>
              <a:t>THANK YOU</a:t>
            </a:r>
            <a:endParaRPr lang="en-US" sz="5600" dirty="0"/>
          </a:p>
        </p:txBody>
      </p:sp>
      <p:sp>
        <p:nvSpPr>
          <p:cNvPr id="6" name="Text 4"/>
          <p:cNvSpPr/>
          <p:nvPr/>
        </p:nvSpPr>
        <p:spPr>
          <a:xfrm>
            <a:off x="457200" y="2606040"/>
            <a:ext cx="8229600" cy="457200"/>
          </a:xfrm>
          <a:prstGeom prst="rect">
            <a:avLst/>
          </a:prstGeom>
          <a:noFill/>
          <a:ln/>
        </p:spPr>
        <p:txBody>
          <a:bodyPr wrap="square" lIns="0" tIns="0" rIns="0" bIns="0" rtlCol="0" anchor="ctr"/>
          <a:lstStyle/>
          <a:p>
            <a:pPr marL="0" indent="0" algn="ctr">
              <a:buNone/>
            </a:pPr>
            <a:r>
              <a:rPr lang="en-US" sz="1500" i="1" dirty="0">
                <a:solidFill>
                  <a:srgbClr val="F0B429"/>
                </a:solidFill>
                <a:latin typeface="Calibri" pitchFamily="34" charset="0"/>
                <a:ea typeface="Calibri" pitchFamily="34" charset="-122"/>
                <a:cs typeface="Calibri" pitchFamily="34" charset="-120"/>
              </a:rPr>
              <a:t>HotelRevAI  |  AI-Driven Revenue Analysis for Hotels</a:t>
            </a:r>
            <a:endParaRPr lang="en-US" sz="1500" dirty="0"/>
          </a:p>
        </p:txBody>
      </p:sp>
      <p:sp>
        <p:nvSpPr>
          <p:cNvPr id="7" name="Text 5"/>
          <p:cNvSpPr/>
          <p:nvPr/>
        </p:nvSpPr>
        <p:spPr>
          <a:xfrm>
            <a:off x="457200" y="4160520"/>
            <a:ext cx="8229600" cy="411480"/>
          </a:xfrm>
          <a:prstGeom prst="rect">
            <a:avLst/>
          </a:prstGeom>
          <a:noFill/>
          <a:ln/>
        </p:spPr>
        <p:txBody>
          <a:bodyPr wrap="square" lIns="0" tIns="0" rIns="0" bIns="0"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Team D: A. Vedavarshini  ·  Anwesha Barpanda  ·  V. Sathvikkummar  ·  Nivetha L  ·  Kashish Patel  ·  Marasu Vijaya Lakshmi</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1082</Words>
  <Application>Microsoft Office PowerPoint</Application>
  <PresentationFormat>On-screen Show (16:9)</PresentationFormat>
  <Paragraphs>196</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HotelRevAI — AI-Driven Revenue Analysis</dc:title>
  <dc:subject>PptxGenJS Presentation</dc:subject>
  <dc:creator>PptxGenJS</dc:creator>
  <cp:lastModifiedBy>Kashish Patel</cp:lastModifiedBy>
  <cp:revision>4</cp:revision>
  <dcterms:created xsi:type="dcterms:W3CDTF">2026-03-28T06:58:37Z</dcterms:created>
  <dcterms:modified xsi:type="dcterms:W3CDTF">2026-03-28T07:12:45Z</dcterms:modified>
</cp:coreProperties>
</file>