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8229600" cx="14630400"/>
  <p:notesSz cx="8229600" cy="14630400"/>
  <p:embeddedFontLst>
    <p:embeddedFont>
      <p:font typeface="Fraunces"/>
      <p:regular r:id="rId15"/>
      <p:bold r:id="rId16"/>
      <p:italic r:id="rId17"/>
      <p:boldItalic r:id="rId18"/>
    </p:embeddedFont>
    <p:embeddedFont>
      <p:font typeface="Nobile"/>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Nobile-bold.fntdata"/><Relationship Id="rId11" Type="http://schemas.openxmlformats.org/officeDocument/2006/relationships/slide" Target="slides/slide7.xml"/><Relationship Id="rId22" Type="http://schemas.openxmlformats.org/officeDocument/2006/relationships/font" Target="fonts/Nobile-boldItalic.fntdata"/><Relationship Id="rId10" Type="http://schemas.openxmlformats.org/officeDocument/2006/relationships/slide" Target="slides/slide6.xml"/><Relationship Id="rId21" Type="http://schemas.openxmlformats.org/officeDocument/2006/relationships/font" Target="fonts/Nobile-italic.fnt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Fraunces-regular.fntdata"/><Relationship Id="rId14" Type="http://schemas.openxmlformats.org/officeDocument/2006/relationships/slide" Target="slides/slide10.xml"/><Relationship Id="rId17" Type="http://schemas.openxmlformats.org/officeDocument/2006/relationships/font" Target="fonts/Fraunces-italic.fntdata"/><Relationship Id="rId16" Type="http://schemas.openxmlformats.org/officeDocument/2006/relationships/font" Target="fonts/Fraunces-bold.fntdata"/><Relationship Id="rId5" Type="http://schemas.openxmlformats.org/officeDocument/2006/relationships/slide" Target="slides/slide1.xml"/><Relationship Id="rId19" Type="http://schemas.openxmlformats.org/officeDocument/2006/relationships/font" Target="fonts/Nobile-regular.fntdata"/><Relationship Id="rId6" Type="http://schemas.openxmlformats.org/officeDocument/2006/relationships/slide" Target="slides/slide2.xml"/><Relationship Id="rId18" Type="http://schemas.openxmlformats.org/officeDocument/2006/relationships/font" Target="fonts/Fraunces-boldItalic.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 name="Google Shape;5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 name="Google Shape;6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 name="Google Shape;6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 name="Google Shape;7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 name="Google Shape;7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 name="Google Shape;7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 name="Google Shape;8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0" name="Shape 10"/>
        <p:cNvGrpSpPr/>
        <p:nvPr/>
      </p:nvGrpSpPr>
      <p:grpSpPr>
        <a:xfrm>
          <a:off x="0" y="0"/>
          <a:ext cx="0" cy="0"/>
          <a:chOff x="0" y="0"/>
          <a:chExt cx="0" cy="0"/>
        </a:xfrm>
      </p:grpSpPr>
      <p:sp>
        <p:nvSpPr>
          <p:cNvPr id="11" name="Google Shape;11;p2"/>
          <p:cNvSpPr/>
          <p:nvPr/>
        </p:nvSpPr>
        <p:spPr>
          <a:xfrm>
            <a:off x="0" y="0"/>
            <a:ext cx="14630400" cy="8229600"/>
          </a:xfrm>
          <a:prstGeom prst="rect">
            <a:avLst/>
          </a:prstGeom>
          <a:solidFill>
            <a:srgbClr val="DEEE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0" y="0"/>
            <a:ext cx="14630400" cy="8229600"/>
          </a:xfrm>
          <a:prstGeom prst="rect">
            <a:avLst/>
          </a:prstGeom>
          <a:solidFill>
            <a:srgbClr val="FAFF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 name="Google Shape;13;p2">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4" name="Shape 14"/>
        <p:cNvGrpSpPr/>
        <p:nvPr/>
      </p:nvGrpSpPr>
      <p:grpSpPr>
        <a:xfrm>
          <a:off x="0" y="0"/>
          <a:ext cx="0" cy="0"/>
          <a:chOff x="0" y="0"/>
          <a:chExt cx="0" cy="0"/>
        </a:xfrm>
      </p:grpSpPr>
      <p:sp>
        <p:nvSpPr>
          <p:cNvPr id="15" name="Google Shape;15;p3"/>
          <p:cNvSpPr/>
          <p:nvPr/>
        </p:nvSpPr>
        <p:spPr>
          <a:xfrm>
            <a:off x="0" y="0"/>
            <a:ext cx="14630400" cy="8229600"/>
          </a:xfrm>
          <a:prstGeom prst="rect">
            <a:avLst/>
          </a:prstGeom>
          <a:solidFill>
            <a:srgbClr val="DEEE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p:nvPr/>
        </p:nvSpPr>
        <p:spPr>
          <a:xfrm>
            <a:off x="0" y="0"/>
            <a:ext cx="14630400" cy="8229600"/>
          </a:xfrm>
          <a:prstGeom prst="rect">
            <a:avLst/>
          </a:prstGeom>
          <a:solidFill>
            <a:srgbClr val="FAFF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 name="Google Shape;17;p3">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8" name="Shape 18"/>
        <p:cNvGrpSpPr/>
        <p:nvPr/>
      </p:nvGrpSpPr>
      <p:grpSpPr>
        <a:xfrm>
          <a:off x="0" y="0"/>
          <a:ext cx="0" cy="0"/>
          <a:chOff x="0" y="0"/>
          <a:chExt cx="0" cy="0"/>
        </a:xfrm>
      </p:grpSpPr>
      <p:sp>
        <p:nvSpPr>
          <p:cNvPr id="19" name="Google Shape;19;p4"/>
          <p:cNvSpPr/>
          <p:nvPr/>
        </p:nvSpPr>
        <p:spPr>
          <a:xfrm>
            <a:off x="0" y="0"/>
            <a:ext cx="14630400" cy="8229600"/>
          </a:xfrm>
          <a:prstGeom prst="rect">
            <a:avLst/>
          </a:prstGeom>
          <a:solidFill>
            <a:srgbClr val="DEEE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0"/>
            <a:ext cx="14630400" cy="8229600"/>
          </a:xfrm>
          <a:prstGeom prst="rect">
            <a:avLst/>
          </a:prstGeom>
          <a:solidFill>
            <a:srgbClr val="FAFF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 name="Google Shape;21;p4">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22" name="Shape 22"/>
        <p:cNvGrpSpPr/>
        <p:nvPr/>
      </p:nvGrpSpPr>
      <p:grpSpPr>
        <a:xfrm>
          <a:off x="0" y="0"/>
          <a:ext cx="0" cy="0"/>
          <a:chOff x="0" y="0"/>
          <a:chExt cx="0" cy="0"/>
        </a:xfrm>
      </p:grpSpPr>
      <p:sp>
        <p:nvSpPr>
          <p:cNvPr id="23" name="Google Shape;23;p5"/>
          <p:cNvSpPr/>
          <p:nvPr/>
        </p:nvSpPr>
        <p:spPr>
          <a:xfrm>
            <a:off x="0" y="0"/>
            <a:ext cx="14630400" cy="8229600"/>
          </a:xfrm>
          <a:prstGeom prst="rect">
            <a:avLst/>
          </a:prstGeom>
          <a:solidFill>
            <a:srgbClr val="DEEE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5"/>
          <p:cNvSpPr/>
          <p:nvPr/>
        </p:nvSpPr>
        <p:spPr>
          <a:xfrm>
            <a:off x="0" y="0"/>
            <a:ext cx="14630400" cy="8229600"/>
          </a:xfrm>
          <a:prstGeom prst="rect">
            <a:avLst/>
          </a:prstGeom>
          <a:solidFill>
            <a:srgbClr val="FAFF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 name="Google Shape;25;p5">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6" name="Shape 26"/>
        <p:cNvGrpSpPr/>
        <p:nvPr/>
      </p:nvGrpSpPr>
      <p:grpSpPr>
        <a:xfrm>
          <a:off x="0" y="0"/>
          <a:ext cx="0" cy="0"/>
          <a:chOff x="0" y="0"/>
          <a:chExt cx="0" cy="0"/>
        </a:xfrm>
      </p:grpSpPr>
      <p:sp>
        <p:nvSpPr>
          <p:cNvPr id="27" name="Google Shape;27;p6"/>
          <p:cNvSpPr/>
          <p:nvPr/>
        </p:nvSpPr>
        <p:spPr>
          <a:xfrm>
            <a:off x="0" y="0"/>
            <a:ext cx="14630400" cy="8229600"/>
          </a:xfrm>
          <a:prstGeom prst="rect">
            <a:avLst/>
          </a:prstGeom>
          <a:solidFill>
            <a:srgbClr val="DEEE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6"/>
          <p:cNvSpPr/>
          <p:nvPr/>
        </p:nvSpPr>
        <p:spPr>
          <a:xfrm>
            <a:off x="0" y="0"/>
            <a:ext cx="14630400" cy="8229600"/>
          </a:xfrm>
          <a:prstGeom prst="rect">
            <a:avLst/>
          </a:prstGeom>
          <a:solidFill>
            <a:srgbClr val="FAFF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 name="Google Shape;29;p6">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30" name="Shape 30"/>
        <p:cNvGrpSpPr/>
        <p:nvPr/>
      </p:nvGrpSpPr>
      <p:grpSpPr>
        <a:xfrm>
          <a:off x="0" y="0"/>
          <a:ext cx="0" cy="0"/>
          <a:chOff x="0" y="0"/>
          <a:chExt cx="0" cy="0"/>
        </a:xfrm>
      </p:grpSpPr>
      <p:sp>
        <p:nvSpPr>
          <p:cNvPr id="31" name="Google Shape;31;p7"/>
          <p:cNvSpPr/>
          <p:nvPr/>
        </p:nvSpPr>
        <p:spPr>
          <a:xfrm>
            <a:off x="0" y="0"/>
            <a:ext cx="14630400" cy="8229600"/>
          </a:xfrm>
          <a:prstGeom prst="rect">
            <a:avLst/>
          </a:prstGeom>
          <a:solidFill>
            <a:srgbClr val="DEEE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7"/>
          <p:cNvSpPr/>
          <p:nvPr/>
        </p:nvSpPr>
        <p:spPr>
          <a:xfrm>
            <a:off x="0" y="0"/>
            <a:ext cx="14630400" cy="8229600"/>
          </a:xfrm>
          <a:prstGeom prst="rect">
            <a:avLst/>
          </a:prstGeom>
          <a:solidFill>
            <a:srgbClr val="FAFF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 name="Google Shape;33;p7">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34" name="Shape 34"/>
        <p:cNvGrpSpPr/>
        <p:nvPr/>
      </p:nvGrpSpPr>
      <p:grpSpPr>
        <a:xfrm>
          <a:off x="0" y="0"/>
          <a:ext cx="0" cy="0"/>
          <a:chOff x="0" y="0"/>
          <a:chExt cx="0" cy="0"/>
        </a:xfrm>
      </p:grpSpPr>
      <p:sp>
        <p:nvSpPr>
          <p:cNvPr id="35" name="Google Shape;35;p8"/>
          <p:cNvSpPr/>
          <p:nvPr/>
        </p:nvSpPr>
        <p:spPr>
          <a:xfrm>
            <a:off x="0" y="0"/>
            <a:ext cx="14630400" cy="8229600"/>
          </a:xfrm>
          <a:prstGeom prst="rect">
            <a:avLst/>
          </a:prstGeom>
          <a:solidFill>
            <a:srgbClr val="DEEE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8"/>
          <p:cNvSpPr/>
          <p:nvPr/>
        </p:nvSpPr>
        <p:spPr>
          <a:xfrm>
            <a:off x="0" y="0"/>
            <a:ext cx="14630400" cy="8229600"/>
          </a:xfrm>
          <a:prstGeom prst="rect">
            <a:avLst/>
          </a:prstGeom>
          <a:solidFill>
            <a:srgbClr val="FAFF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 name="Google Shape;37;p8">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38" name="Shape 38"/>
        <p:cNvGrpSpPr/>
        <p:nvPr/>
      </p:nvGrpSpPr>
      <p:grpSpPr>
        <a:xfrm>
          <a:off x="0" y="0"/>
          <a:ext cx="0" cy="0"/>
          <a:chOff x="0" y="0"/>
          <a:chExt cx="0" cy="0"/>
        </a:xfrm>
      </p:grpSpPr>
      <p:sp>
        <p:nvSpPr>
          <p:cNvPr id="39" name="Google Shape;39;p9"/>
          <p:cNvSpPr/>
          <p:nvPr/>
        </p:nvSpPr>
        <p:spPr>
          <a:xfrm>
            <a:off x="0" y="0"/>
            <a:ext cx="14630400" cy="8229600"/>
          </a:xfrm>
          <a:prstGeom prst="rect">
            <a:avLst/>
          </a:prstGeom>
          <a:solidFill>
            <a:srgbClr val="DEEE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9"/>
          <p:cNvSpPr/>
          <p:nvPr/>
        </p:nvSpPr>
        <p:spPr>
          <a:xfrm>
            <a:off x="0" y="0"/>
            <a:ext cx="14630400" cy="8229600"/>
          </a:xfrm>
          <a:prstGeom prst="rect">
            <a:avLst/>
          </a:prstGeom>
          <a:solidFill>
            <a:srgbClr val="FAFF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1" name="Google Shape;41;p9">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42" name="Shape 42"/>
        <p:cNvGrpSpPr/>
        <p:nvPr/>
      </p:nvGrpSpPr>
      <p:grpSpPr>
        <a:xfrm>
          <a:off x="0" y="0"/>
          <a:ext cx="0" cy="0"/>
          <a:chOff x="0" y="0"/>
          <a:chExt cx="0" cy="0"/>
        </a:xfrm>
      </p:grpSpPr>
      <p:sp>
        <p:nvSpPr>
          <p:cNvPr id="43" name="Google Shape;43;p10"/>
          <p:cNvSpPr/>
          <p:nvPr/>
        </p:nvSpPr>
        <p:spPr>
          <a:xfrm>
            <a:off x="0" y="0"/>
            <a:ext cx="14630400" cy="8229600"/>
          </a:xfrm>
          <a:prstGeom prst="rect">
            <a:avLst/>
          </a:prstGeom>
          <a:solidFill>
            <a:srgbClr val="DEEE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10"/>
          <p:cNvSpPr/>
          <p:nvPr/>
        </p:nvSpPr>
        <p:spPr>
          <a:xfrm>
            <a:off x="0" y="0"/>
            <a:ext cx="14630400" cy="8229600"/>
          </a:xfrm>
          <a:prstGeom prst="rect">
            <a:avLst/>
          </a:prstGeom>
          <a:solidFill>
            <a:srgbClr val="FAFF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5" name="Google Shape;45;p10">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spTree>
      <p:nvGrpSpPr>
        <p:cNvPr id="46" name="Shape 46"/>
        <p:cNvGrpSpPr/>
        <p:nvPr/>
      </p:nvGrpSpPr>
      <p:grpSpPr>
        <a:xfrm>
          <a:off x="0" y="0"/>
          <a:ext cx="0" cy="0"/>
          <a:chOff x="0" y="0"/>
          <a:chExt cx="0" cy="0"/>
        </a:xfrm>
      </p:grpSpPr>
      <p:sp>
        <p:nvSpPr>
          <p:cNvPr id="47" name="Google Shape;47;p11"/>
          <p:cNvSpPr/>
          <p:nvPr/>
        </p:nvSpPr>
        <p:spPr>
          <a:xfrm>
            <a:off x="0" y="0"/>
            <a:ext cx="14630400" cy="8229600"/>
          </a:xfrm>
          <a:prstGeom prst="rect">
            <a:avLst/>
          </a:prstGeom>
          <a:solidFill>
            <a:srgbClr val="DEEE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11"/>
          <p:cNvSpPr/>
          <p:nvPr/>
        </p:nvSpPr>
        <p:spPr>
          <a:xfrm>
            <a:off x="0" y="0"/>
            <a:ext cx="14630400" cy="8229600"/>
          </a:xfrm>
          <a:prstGeom prst="rect">
            <a:avLst/>
          </a:prstGeom>
          <a:solidFill>
            <a:srgbClr val="FAFF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9" name="Google Shape;49;p11">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0" name="Shape 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11.png"/><Relationship Id="rId7" Type="http://schemas.openxmlformats.org/officeDocument/2006/relationships/image" Target="../media/image2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 Id="rId3"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pic>
        <p:nvPicPr>
          <p:cNvPr descr="preencoded.png" id="56" name="Google Shape;56;p13"/>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57" name="Google Shape;57;p13"/>
          <p:cNvSpPr/>
          <p:nvPr/>
        </p:nvSpPr>
        <p:spPr>
          <a:xfrm>
            <a:off x="6280190" y="2337197"/>
            <a:ext cx="7556421" cy="2126337"/>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3B4540"/>
              </a:buClr>
              <a:buSzPts val="4450"/>
              <a:buFont typeface="Fraunces"/>
              <a:buNone/>
            </a:pPr>
            <a:r>
              <a:rPr b="1" i="0" lang="en-US" sz="4450" u="none" cap="none" strike="noStrike">
                <a:solidFill>
                  <a:srgbClr val="3B4540"/>
                </a:solidFill>
                <a:latin typeface="Fraunces"/>
                <a:ea typeface="Fraunces"/>
                <a:cs typeface="Fraunces"/>
                <a:sym typeface="Fraunces"/>
              </a:rPr>
              <a:t>HotelRevAI — AI-Driven Revenue Analysis for Hotels</a:t>
            </a:r>
            <a:endParaRPr b="0" i="0" sz="4450" u="none" cap="none" strike="noStrike"/>
          </a:p>
        </p:txBody>
      </p:sp>
      <p:sp>
        <p:nvSpPr>
          <p:cNvPr id="58" name="Google Shape;58;p13"/>
          <p:cNvSpPr/>
          <p:nvPr/>
        </p:nvSpPr>
        <p:spPr>
          <a:xfrm>
            <a:off x="6280190" y="4803696"/>
            <a:ext cx="7556421"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5449"/>
              </a:buClr>
              <a:buSzPts val="1750"/>
              <a:buFont typeface="Nobile"/>
              <a:buNone/>
            </a:pPr>
            <a:r>
              <a:rPr b="0" i="0" lang="en-US" sz="1750" u="none" cap="none" strike="noStrike">
                <a:solidFill>
                  <a:srgbClr val="405449"/>
                </a:solidFill>
                <a:latin typeface="Nobile"/>
                <a:ea typeface="Nobile"/>
                <a:cs typeface="Nobile"/>
                <a:sym typeface="Nobile"/>
              </a:rPr>
              <a:t>Milestone 2: Data Loading &amp; Modelling. Using Power BI to transform booking records into interactive dashboards that reveal revenue drivers, booking patterns, and cancellation impact.</a:t>
            </a:r>
            <a:endParaRPr b="0" i="0" sz="1750" u="none" cap="none" strike="noStrike"/>
          </a:p>
        </p:txBody>
      </p:sp>
      <p:sp>
        <p:nvSpPr>
          <p:cNvPr id="59" name="Google Shape;59;p13"/>
          <p:cNvSpPr/>
          <p:nvPr/>
        </p:nvSpPr>
        <p:spPr>
          <a:xfrm>
            <a:off x="12848600" y="7634350"/>
            <a:ext cx="1781700" cy="595200"/>
          </a:xfrm>
          <a:prstGeom prst="rect">
            <a:avLst/>
          </a:prstGeom>
          <a:solidFill>
            <a:srgbClr val="FAFF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pic>
        <p:nvPicPr>
          <p:cNvPr descr="preencoded.png" id="65" name="Google Shape;65;p14"/>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66" name="Google Shape;66;p14"/>
          <p:cNvSpPr/>
          <p:nvPr/>
        </p:nvSpPr>
        <p:spPr>
          <a:xfrm>
            <a:off x="6280190" y="2864525"/>
            <a:ext cx="567059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3B4540"/>
              </a:buClr>
              <a:buSzPts val="4450"/>
              <a:buFont typeface="Fraunces"/>
              <a:buNone/>
            </a:pPr>
            <a:r>
              <a:rPr b="1" i="0" lang="en-US" sz="4450" u="none" cap="none" strike="noStrike">
                <a:solidFill>
                  <a:srgbClr val="3B4540"/>
                </a:solidFill>
                <a:latin typeface="Fraunces"/>
                <a:ea typeface="Fraunces"/>
                <a:cs typeface="Fraunces"/>
                <a:sym typeface="Fraunces"/>
              </a:rPr>
              <a:t>Project Abstract</a:t>
            </a:r>
            <a:endParaRPr b="0" i="0" sz="4450" u="none" cap="none" strike="noStrike"/>
          </a:p>
        </p:txBody>
      </p:sp>
      <p:sp>
        <p:nvSpPr>
          <p:cNvPr id="67" name="Google Shape;67;p14"/>
          <p:cNvSpPr/>
          <p:nvPr/>
        </p:nvSpPr>
        <p:spPr>
          <a:xfrm>
            <a:off x="6280190" y="3913465"/>
            <a:ext cx="7556421"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5449"/>
              </a:buClr>
              <a:buSzPts val="1750"/>
              <a:buFont typeface="Nobile"/>
              <a:buNone/>
            </a:pPr>
            <a:r>
              <a:rPr b="0" i="0" lang="en-US" sz="1750" u="none" cap="none" strike="noStrike">
                <a:solidFill>
                  <a:srgbClr val="405449"/>
                </a:solidFill>
                <a:latin typeface="Nobile"/>
                <a:ea typeface="Nobile"/>
                <a:cs typeface="Nobile"/>
                <a:sym typeface="Nobile"/>
              </a:rPr>
              <a:t>Analyze hotel bookings to identify revenue trends and performance. Data cleaning and preprocessing fed Power BI dashboards that visualize total revenue, monthly trends, occupancy proxy, ADR, and cancellation rate to inform management decisions.</a:t>
            </a:r>
            <a:endParaRPr b="0" i="0" sz="1750" u="none" cap="none" strike="noStrike"/>
          </a:p>
        </p:txBody>
      </p:sp>
      <p:sp>
        <p:nvSpPr>
          <p:cNvPr id="68" name="Google Shape;68;p14"/>
          <p:cNvSpPr/>
          <p:nvPr/>
        </p:nvSpPr>
        <p:spPr>
          <a:xfrm>
            <a:off x="12848600" y="7634350"/>
            <a:ext cx="1781700" cy="595200"/>
          </a:xfrm>
          <a:prstGeom prst="rect">
            <a:avLst/>
          </a:prstGeom>
          <a:solidFill>
            <a:srgbClr val="FAFF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pic>
        <p:nvPicPr>
          <p:cNvPr descr="preencoded.png" id="74" name="Google Shape;74;p15"/>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75" name="Google Shape;75;p15"/>
          <p:cNvSpPr/>
          <p:nvPr/>
        </p:nvSpPr>
        <p:spPr>
          <a:xfrm>
            <a:off x="793790" y="2864525"/>
            <a:ext cx="567059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3B4540"/>
              </a:buClr>
              <a:buSzPts val="4450"/>
              <a:buFont typeface="Fraunces"/>
              <a:buNone/>
            </a:pPr>
            <a:r>
              <a:rPr b="1" i="0" lang="en-US" sz="4450" u="none" cap="none" strike="noStrike">
                <a:solidFill>
                  <a:srgbClr val="3B4540"/>
                </a:solidFill>
                <a:latin typeface="Fraunces"/>
                <a:ea typeface="Fraunces"/>
                <a:cs typeface="Fraunces"/>
                <a:sym typeface="Fraunces"/>
              </a:rPr>
              <a:t>Problem Statement</a:t>
            </a:r>
            <a:endParaRPr b="0" i="0" sz="4450" u="none" cap="none" strike="noStrike"/>
          </a:p>
        </p:txBody>
      </p:sp>
      <p:sp>
        <p:nvSpPr>
          <p:cNvPr id="76" name="Google Shape;76;p15"/>
          <p:cNvSpPr/>
          <p:nvPr/>
        </p:nvSpPr>
        <p:spPr>
          <a:xfrm>
            <a:off x="793790" y="3913465"/>
            <a:ext cx="7556421"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5449"/>
              </a:buClr>
              <a:buSzPts val="1750"/>
              <a:buFont typeface="Nobile"/>
              <a:buNone/>
            </a:pPr>
            <a:r>
              <a:rPr b="0" i="0" lang="en-US" sz="1750" u="none" cap="none" strike="noStrike">
                <a:solidFill>
                  <a:srgbClr val="405449"/>
                </a:solidFill>
                <a:latin typeface="Nobile"/>
                <a:ea typeface="Nobile"/>
                <a:cs typeface="Nobile"/>
                <a:sym typeface="Nobile"/>
              </a:rPr>
              <a:t>Hotels struggle to interpret large volumes of booking data to spot peak seasons, top revenue sources, and cancellation effects. This project uses Power BI to create interactive visualizations that make patterns and impacts obvious for decision-making.</a:t>
            </a:r>
            <a:endParaRPr b="0" i="0" sz="1750" u="none" cap="none" strike="noStrike"/>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pic>
        <p:nvPicPr>
          <p:cNvPr descr="preencoded.png" id="82" name="Google Shape;82;p16"/>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83" name="Google Shape;83;p16"/>
          <p:cNvSpPr/>
          <p:nvPr/>
        </p:nvSpPr>
        <p:spPr>
          <a:xfrm>
            <a:off x="6280190" y="658892"/>
            <a:ext cx="567059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3B4540"/>
              </a:buClr>
              <a:buSzPts val="4450"/>
              <a:buFont typeface="Fraunces"/>
              <a:buNone/>
            </a:pPr>
            <a:r>
              <a:rPr b="1" i="0" lang="en-US" sz="4450" u="none" cap="none" strike="noStrike">
                <a:solidFill>
                  <a:srgbClr val="3B4540"/>
                </a:solidFill>
                <a:latin typeface="Fraunces"/>
                <a:ea typeface="Fraunces"/>
                <a:cs typeface="Fraunces"/>
                <a:sym typeface="Fraunces"/>
              </a:rPr>
              <a:t>Objectives</a:t>
            </a:r>
            <a:endParaRPr b="0" i="0" sz="4450" u="none" cap="none" strike="noStrike"/>
          </a:p>
        </p:txBody>
      </p:sp>
      <p:pic>
        <p:nvPicPr>
          <p:cNvPr descr="preencoded.png" id="84" name="Google Shape;84;p16"/>
          <p:cNvPicPr preferRelativeResize="0"/>
          <p:nvPr/>
        </p:nvPicPr>
        <p:blipFill rotWithShape="1">
          <a:blip r:embed="rId4">
            <a:alphaModFix/>
          </a:blip>
          <a:srcRect b="0" l="0" r="0" t="0"/>
          <a:stretch/>
        </p:blipFill>
        <p:spPr>
          <a:xfrm>
            <a:off x="6280190" y="1707832"/>
            <a:ext cx="566976" cy="566976"/>
          </a:xfrm>
          <a:prstGeom prst="rect">
            <a:avLst/>
          </a:prstGeom>
          <a:noFill/>
          <a:ln>
            <a:noFill/>
          </a:ln>
        </p:spPr>
      </p:pic>
      <p:sp>
        <p:nvSpPr>
          <p:cNvPr id="85" name="Google Shape;85;p16"/>
          <p:cNvSpPr/>
          <p:nvPr/>
        </p:nvSpPr>
        <p:spPr>
          <a:xfrm>
            <a:off x="7130653" y="1707832"/>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05449"/>
              </a:buClr>
              <a:buSzPts val="2200"/>
              <a:buFont typeface="Fraunces"/>
              <a:buNone/>
            </a:pPr>
            <a:r>
              <a:rPr b="1" i="0" lang="en-US" sz="2200" u="none" cap="none" strike="noStrike">
                <a:solidFill>
                  <a:srgbClr val="405449"/>
                </a:solidFill>
                <a:latin typeface="Fraunces"/>
                <a:ea typeface="Fraunces"/>
                <a:cs typeface="Fraunces"/>
                <a:sym typeface="Fraunces"/>
              </a:rPr>
              <a:t>Revenue Trends</a:t>
            </a:r>
            <a:endParaRPr b="0" i="0" sz="2200" u="none" cap="none" strike="noStrike"/>
          </a:p>
        </p:txBody>
      </p:sp>
      <p:sp>
        <p:nvSpPr>
          <p:cNvPr id="86" name="Google Shape;86;p16"/>
          <p:cNvSpPr/>
          <p:nvPr/>
        </p:nvSpPr>
        <p:spPr>
          <a:xfrm>
            <a:off x="7130653" y="2198251"/>
            <a:ext cx="6705957"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5449"/>
              </a:buClr>
              <a:buSzPts val="1750"/>
              <a:buFont typeface="Nobile"/>
              <a:buNone/>
            </a:pPr>
            <a:r>
              <a:rPr b="0" i="0" lang="en-US" sz="1750" u="none" cap="none" strike="noStrike">
                <a:solidFill>
                  <a:srgbClr val="405449"/>
                </a:solidFill>
                <a:latin typeface="Nobile"/>
                <a:ea typeface="Nobile"/>
                <a:cs typeface="Nobile"/>
                <a:sym typeface="Nobile"/>
              </a:rPr>
              <a:t>Analyze overall revenue performance and growth over time.</a:t>
            </a:r>
            <a:endParaRPr b="0" i="0" sz="1750" u="none" cap="none" strike="noStrike"/>
          </a:p>
        </p:txBody>
      </p:sp>
      <p:pic>
        <p:nvPicPr>
          <p:cNvPr descr="preencoded.png" id="87" name="Google Shape;87;p16"/>
          <p:cNvPicPr preferRelativeResize="0"/>
          <p:nvPr/>
        </p:nvPicPr>
        <p:blipFill rotWithShape="1">
          <a:blip r:embed="rId5">
            <a:alphaModFix/>
          </a:blip>
          <a:srcRect b="0" l="0" r="0" t="0"/>
          <a:stretch/>
        </p:blipFill>
        <p:spPr>
          <a:xfrm>
            <a:off x="6280190" y="3014782"/>
            <a:ext cx="566976" cy="566976"/>
          </a:xfrm>
          <a:prstGeom prst="rect">
            <a:avLst/>
          </a:prstGeom>
          <a:noFill/>
          <a:ln>
            <a:noFill/>
          </a:ln>
        </p:spPr>
      </p:pic>
      <p:sp>
        <p:nvSpPr>
          <p:cNvPr id="88" name="Google Shape;88;p16"/>
          <p:cNvSpPr/>
          <p:nvPr/>
        </p:nvSpPr>
        <p:spPr>
          <a:xfrm>
            <a:off x="7130653" y="3014782"/>
            <a:ext cx="3061097"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05449"/>
              </a:buClr>
              <a:buSzPts val="2200"/>
              <a:buFont typeface="Fraunces"/>
              <a:buNone/>
            </a:pPr>
            <a:r>
              <a:rPr b="1" i="0" lang="en-US" sz="2200" u="none" cap="none" strike="noStrike">
                <a:solidFill>
                  <a:srgbClr val="405449"/>
                </a:solidFill>
                <a:latin typeface="Fraunces"/>
                <a:ea typeface="Fraunces"/>
                <a:cs typeface="Fraunces"/>
                <a:sym typeface="Fraunces"/>
              </a:rPr>
              <a:t>Performance Metrics</a:t>
            </a:r>
            <a:endParaRPr b="0" i="0" sz="2200" u="none" cap="none" strike="noStrike"/>
          </a:p>
        </p:txBody>
      </p:sp>
      <p:sp>
        <p:nvSpPr>
          <p:cNvPr id="89" name="Google Shape;89;p16"/>
          <p:cNvSpPr/>
          <p:nvPr/>
        </p:nvSpPr>
        <p:spPr>
          <a:xfrm>
            <a:off x="7130653" y="3505200"/>
            <a:ext cx="6705957"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5449"/>
              </a:buClr>
              <a:buSzPts val="1750"/>
              <a:buFont typeface="Nobile"/>
              <a:buNone/>
            </a:pPr>
            <a:r>
              <a:rPr b="0" i="0" lang="en-US" sz="1750" u="none" cap="none" strike="noStrike">
                <a:solidFill>
                  <a:srgbClr val="405449"/>
                </a:solidFill>
                <a:latin typeface="Nobile"/>
                <a:ea typeface="Nobile"/>
                <a:cs typeface="Nobile"/>
                <a:sym typeface="Nobile"/>
              </a:rPr>
              <a:t>Evaluate ADR, cancellation rate, booking nights, and guest counts.</a:t>
            </a:r>
            <a:endParaRPr b="0" i="0" sz="1750" u="none" cap="none" strike="noStrike"/>
          </a:p>
        </p:txBody>
      </p:sp>
      <p:pic>
        <p:nvPicPr>
          <p:cNvPr descr="preencoded.png" id="90" name="Google Shape;90;p16"/>
          <p:cNvPicPr preferRelativeResize="0"/>
          <p:nvPr/>
        </p:nvPicPr>
        <p:blipFill rotWithShape="1">
          <a:blip r:embed="rId6">
            <a:alphaModFix/>
          </a:blip>
          <a:srcRect b="0" l="0" r="0" t="0"/>
          <a:stretch/>
        </p:blipFill>
        <p:spPr>
          <a:xfrm>
            <a:off x="6280190" y="4684633"/>
            <a:ext cx="566976" cy="566976"/>
          </a:xfrm>
          <a:prstGeom prst="rect">
            <a:avLst/>
          </a:prstGeom>
          <a:noFill/>
          <a:ln>
            <a:noFill/>
          </a:ln>
        </p:spPr>
      </p:pic>
      <p:sp>
        <p:nvSpPr>
          <p:cNvPr id="91" name="Google Shape;91;p16"/>
          <p:cNvSpPr/>
          <p:nvPr/>
        </p:nvSpPr>
        <p:spPr>
          <a:xfrm>
            <a:off x="7130653" y="4684633"/>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05449"/>
              </a:buClr>
              <a:buSzPts val="2200"/>
              <a:buFont typeface="Fraunces"/>
              <a:buNone/>
            </a:pPr>
            <a:r>
              <a:rPr b="1" i="0" lang="en-US" sz="2200" u="none" cap="none" strike="noStrike">
                <a:solidFill>
                  <a:srgbClr val="405449"/>
                </a:solidFill>
                <a:latin typeface="Fraunces"/>
                <a:ea typeface="Fraunces"/>
                <a:cs typeface="Fraunces"/>
                <a:sym typeface="Fraunces"/>
              </a:rPr>
              <a:t>Customer Behavior</a:t>
            </a:r>
            <a:endParaRPr b="0" i="0" sz="2200" u="none" cap="none" strike="noStrike"/>
          </a:p>
        </p:txBody>
      </p:sp>
      <p:sp>
        <p:nvSpPr>
          <p:cNvPr id="92" name="Google Shape;92;p16"/>
          <p:cNvSpPr/>
          <p:nvPr/>
        </p:nvSpPr>
        <p:spPr>
          <a:xfrm>
            <a:off x="7130653" y="5175052"/>
            <a:ext cx="6705957"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5449"/>
              </a:buClr>
              <a:buSzPts val="1750"/>
              <a:buFont typeface="Nobile"/>
              <a:buNone/>
            </a:pPr>
            <a:r>
              <a:rPr b="0" i="0" lang="en-US" sz="1750" u="none" cap="none" strike="noStrike">
                <a:solidFill>
                  <a:srgbClr val="405449"/>
                </a:solidFill>
                <a:latin typeface="Nobile"/>
                <a:ea typeface="Nobile"/>
                <a:cs typeface="Nobile"/>
                <a:sym typeface="Nobile"/>
              </a:rPr>
              <a:t>Segment booking patterns by customer type, room type, and repeat guests.</a:t>
            </a:r>
            <a:endParaRPr b="0" i="0" sz="1750" u="none" cap="none" strike="noStrike"/>
          </a:p>
        </p:txBody>
      </p:sp>
      <p:pic>
        <p:nvPicPr>
          <p:cNvPr descr="preencoded.png" id="93" name="Google Shape;93;p16"/>
          <p:cNvPicPr preferRelativeResize="0"/>
          <p:nvPr/>
        </p:nvPicPr>
        <p:blipFill rotWithShape="1">
          <a:blip r:embed="rId7">
            <a:alphaModFix/>
          </a:blip>
          <a:srcRect b="0" l="0" r="0" t="0"/>
          <a:stretch/>
        </p:blipFill>
        <p:spPr>
          <a:xfrm>
            <a:off x="6280190" y="6354485"/>
            <a:ext cx="566976" cy="566976"/>
          </a:xfrm>
          <a:prstGeom prst="rect">
            <a:avLst/>
          </a:prstGeom>
          <a:noFill/>
          <a:ln>
            <a:noFill/>
          </a:ln>
        </p:spPr>
      </p:pic>
      <p:sp>
        <p:nvSpPr>
          <p:cNvPr id="94" name="Google Shape;94;p16"/>
          <p:cNvSpPr/>
          <p:nvPr/>
        </p:nvSpPr>
        <p:spPr>
          <a:xfrm>
            <a:off x="7130653" y="6354485"/>
            <a:ext cx="3396853"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05449"/>
              </a:buClr>
              <a:buSzPts val="2200"/>
              <a:buFont typeface="Fraunces"/>
              <a:buNone/>
            </a:pPr>
            <a:r>
              <a:rPr b="1" i="0" lang="en-US" sz="2200" u="none" cap="none" strike="noStrike">
                <a:solidFill>
                  <a:srgbClr val="405449"/>
                </a:solidFill>
                <a:latin typeface="Fraunces"/>
                <a:ea typeface="Fraunces"/>
                <a:cs typeface="Fraunces"/>
                <a:sym typeface="Fraunces"/>
              </a:rPr>
              <a:t>Interactive Dashboards</a:t>
            </a:r>
            <a:endParaRPr b="0" i="0" sz="2200" u="none" cap="none" strike="noStrike"/>
          </a:p>
        </p:txBody>
      </p:sp>
      <p:sp>
        <p:nvSpPr>
          <p:cNvPr id="95" name="Google Shape;95;p16"/>
          <p:cNvSpPr/>
          <p:nvPr/>
        </p:nvSpPr>
        <p:spPr>
          <a:xfrm>
            <a:off x="7130653" y="6844903"/>
            <a:ext cx="6705957"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5449"/>
              </a:buClr>
              <a:buSzPts val="1750"/>
              <a:buFont typeface="Nobile"/>
              <a:buNone/>
            </a:pPr>
            <a:r>
              <a:rPr b="0" i="0" lang="en-US" sz="1750" u="none" cap="none" strike="noStrike">
                <a:solidFill>
                  <a:srgbClr val="405449"/>
                </a:solidFill>
                <a:latin typeface="Nobile"/>
                <a:ea typeface="Nobile"/>
                <a:cs typeface="Nobile"/>
                <a:sym typeface="Nobile"/>
              </a:rPr>
              <a:t>Build Power BI dashboards with year filters and behavior charts for insights.</a:t>
            </a:r>
            <a:endParaRPr b="0" i="0" sz="1750" u="none" cap="none" strike="noStrike"/>
          </a:p>
        </p:txBody>
      </p:sp>
      <p:sp>
        <p:nvSpPr>
          <p:cNvPr id="96" name="Google Shape;96;p16"/>
          <p:cNvSpPr/>
          <p:nvPr/>
        </p:nvSpPr>
        <p:spPr>
          <a:xfrm>
            <a:off x="12848600" y="7634350"/>
            <a:ext cx="1781700" cy="595200"/>
          </a:xfrm>
          <a:prstGeom prst="rect">
            <a:avLst/>
          </a:prstGeom>
          <a:solidFill>
            <a:srgbClr val="FAFF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pic>
        <p:nvPicPr>
          <p:cNvPr descr="preencoded.png" id="102" name="Google Shape;102;p17"/>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103" name="Google Shape;103;p17"/>
          <p:cNvSpPr/>
          <p:nvPr/>
        </p:nvSpPr>
        <p:spPr>
          <a:xfrm>
            <a:off x="6280190" y="2864525"/>
            <a:ext cx="7068026"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3B4540"/>
              </a:buClr>
              <a:buSzPts val="4450"/>
              <a:buFont typeface="Fraunces"/>
              <a:buNone/>
            </a:pPr>
            <a:r>
              <a:rPr b="1" i="0" lang="en-US" sz="4450" u="none" cap="none" strike="noStrike">
                <a:solidFill>
                  <a:srgbClr val="3B4540"/>
                </a:solidFill>
                <a:latin typeface="Fraunces"/>
                <a:ea typeface="Fraunces"/>
                <a:cs typeface="Fraunces"/>
                <a:sym typeface="Fraunces"/>
              </a:rPr>
              <a:t>Data Loading &amp; Cleaning</a:t>
            </a:r>
            <a:endParaRPr b="0" i="0" sz="4450" u="none" cap="none" strike="noStrike"/>
          </a:p>
        </p:txBody>
      </p:sp>
      <p:sp>
        <p:nvSpPr>
          <p:cNvPr id="104" name="Google Shape;104;p17"/>
          <p:cNvSpPr/>
          <p:nvPr/>
        </p:nvSpPr>
        <p:spPr>
          <a:xfrm>
            <a:off x="6280190" y="3913465"/>
            <a:ext cx="7556421"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5449"/>
              </a:buClr>
              <a:buSzPts val="1750"/>
              <a:buFont typeface="Nobile"/>
              <a:buNone/>
            </a:pPr>
            <a:r>
              <a:rPr b="0" i="0" lang="en-US" sz="1750" u="none" cap="none" strike="noStrike">
                <a:solidFill>
                  <a:srgbClr val="405449"/>
                </a:solidFill>
                <a:latin typeface="Nobile"/>
                <a:ea typeface="Nobile"/>
                <a:cs typeface="Nobile"/>
                <a:sym typeface="Nobile"/>
              </a:rPr>
              <a:t>Imported CSV into Power BI. Used Power Query to handle missing/null values, correct data types, remove duplicates and irrelevant columns. Created calculated columns: Total Stay Duration, Total Guests, revenue measures, and unified arrival date column.</a:t>
            </a:r>
            <a:endParaRPr b="0" i="0" sz="1750" u="none" cap="none" strike="noStrike"/>
          </a:p>
        </p:txBody>
      </p:sp>
      <p:sp>
        <p:nvSpPr>
          <p:cNvPr id="105" name="Google Shape;105;p17"/>
          <p:cNvSpPr/>
          <p:nvPr/>
        </p:nvSpPr>
        <p:spPr>
          <a:xfrm>
            <a:off x="12848600" y="7634350"/>
            <a:ext cx="1781700" cy="595200"/>
          </a:xfrm>
          <a:prstGeom prst="rect">
            <a:avLst/>
          </a:prstGeom>
          <a:solidFill>
            <a:srgbClr val="FAFF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pic>
        <p:nvPicPr>
          <p:cNvPr descr="preencoded.png" id="111" name="Google Shape;111;p18"/>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112" name="Google Shape;112;p18"/>
          <p:cNvSpPr/>
          <p:nvPr/>
        </p:nvSpPr>
        <p:spPr>
          <a:xfrm>
            <a:off x="6280190" y="2864525"/>
            <a:ext cx="567059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3B4540"/>
              </a:buClr>
              <a:buSzPts val="4450"/>
              <a:buFont typeface="Fraunces"/>
              <a:buNone/>
            </a:pPr>
            <a:r>
              <a:rPr b="1" i="0" lang="en-US" sz="4450" u="none" cap="none" strike="noStrike">
                <a:solidFill>
                  <a:srgbClr val="3B4540"/>
                </a:solidFill>
                <a:latin typeface="Fraunces"/>
                <a:ea typeface="Fraunces"/>
                <a:cs typeface="Fraunces"/>
                <a:sym typeface="Fraunces"/>
              </a:rPr>
              <a:t>Data Modelling</a:t>
            </a:r>
            <a:endParaRPr b="0" i="0" sz="4450" u="none" cap="none" strike="noStrike"/>
          </a:p>
        </p:txBody>
      </p:sp>
      <p:sp>
        <p:nvSpPr>
          <p:cNvPr id="113" name="Google Shape;113;p18"/>
          <p:cNvSpPr/>
          <p:nvPr/>
        </p:nvSpPr>
        <p:spPr>
          <a:xfrm>
            <a:off x="6280190" y="3913465"/>
            <a:ext cx="7556421"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5449"/>
              </a:buClr>
              <a:buSzPts val="1750"/>
              <a:buFont typeface="Nobile"/>
              <a:buNone/>
            </a:pPr>
            <a:r>
              <a:rPr b="0" i="0" lang="en-US" sz="1750" u="none" cap="none" strike="noStrike">
                <a:solidFill>
                  <a:srgbClr val="405449"/>
                </a:solidFill>
                <a:latin typeface="Nobile"/>
                <a:ea typeface="Nobile"/>
                <a:cs typeface="Nobile"/>
                <a:sym typeface="Nobile"/>
              </a:rPr>
              <a:t>Built a relational model to enable time-based analysis. Key components: Fact table (Hotel_Data), Calendar dimension (Date, Month, Year), and Measures table (d3_measures) holding DAX metrics for aggregation and filtering.</a:t>
            </a:r>
            <a:endParaRPr b="0" i="0" sz="1750" u="none" cap="none" strike="noStrike"/>
          </a:p>
        </p:txBody>
      </p:sp>
      <p:sp>
        <p:nvSpPr>
          <p:cNvPr id="114" name="Google Shape;114;p18"/>
          <p:cNvSpPr/>
          <p:nvPr/>
        </p:nvSpPr>
        <p:spPr>
          <a:xfrm>
            <a:off x="12848600" y="7634350"/>
            <a:ext cx="1781700" cy="595200"/>
          </a:xfrm>
          <a:prstGeom prst="rect">
            <a:avLst/>
          </a:prstGeom>
          <a:solidFill>
            <a:srgbClr val="FAFF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pic>
        <p:nvPicPr>
          <p:cNvPr descr="preencoded.png" id="120" name="Google Shape;120;p19"/>
          <p:cNvPicPr preferRelativeResize="0"/>
          <p:nvPr/>
        </p:nvPicPr>
        <p:blipFill rotWithShape="1">
          <a:blip r:embed="rId3">
            <a:alphaModFix/>
          </a:blip>
          <a:srcRect b="0" l="0" r="0" t="0"/>
          <a:stretch/>
        </p:blipFill>
        <p:spPr>
          <a:xfrm>
            <a:off x="793790" y="1498044"/>
            <a:ext cx="8284131" cy="4666417"/>
          </a:xfrm>
          <a:prstGeom prst="rect">
            <a:avLst/>
          </a:prstGeom>
          <a:noFill/>
          <a:ln>
            <a:noFill/>
          </a:ln>
        </p:spPr>
      </p:pic>
      <p:sp>
        <p:nvSpPr>
          <p:cNvPr id="121" name="Google Shape;121;p19"/>
          <p:cNvSpPr/>
          <p:nvPr/>
        </p:nvSpPr>
        <p:spPr>
          <a:xfrm>
            <a:off x="793790" y="6419612"/>
            <a:ext cx="8284131"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SzPts val="1750"/>
              <a:buFont typeface="Arial"/>
              <a:buNone/>
            </a:pPr>
            <a:r>
              <a:t/>
            </a:r>
            <a:endParaRPr b="0" i="0" sz="1750" u="none" cap="none" strike="noStrike"/>
          </a:p>
        </p:txBody>
      </p:sp>
      <p:sp>
        <p:nvSpPr>
          <p:cNvPr id="122" name="Google Shape;122;p19"/>
          <p:cNvSpPr/>
          <p:nvPr/>
        </p:nvSpPr>
        <p:spPr>
          <a:xfrm>
            <a:off x="9638943" y="1892022"/>
            <a:ext cx="4205168" cy="1700927"/>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Clr>
                <a:srgbClr val="3B4540"/>
              </a:buClr>
              <a:buSzPts val="3550"/>
              <a:buFont typeface="Fraunces"/>
              <a:buNone/>
            </a:pPr>
            <a:r>
              <a:rPr b="1" i="0" lang="en-US" sz="3550" u="none" cap="none" strike="noStrike">
                <a:solidFill>
                  <a:srgbClr val="3B4540"/>
                </a:solidFill>
                <a:latin typeface="Fraunces"/>
                <a:ea typeface="Fraunces"/>
                <a:cs typeface="Fraunces"/>
                <a:sym typeface="Fraunces"/>
              </a:rPr>
              <a:t>Dashboard 1 — Hotel Revenue Performance</a:t>
            </a:r>
            <a:endParaRPr b="0" i="0" sz="3550" u="none" cap="none" strike="noStrike"/>
          </a:p>
        </p:txBody>
      </p:sp>
      <p:sp>
        <p:nvSpPr>
          <p:cNvPr id="123" name="Google Shape;123;p19"/>
          <p:cNvSpPr/>
          <p:nvPr/>
        </p:nvSpPr>
        <p:spPr>
          <a:xfrm>
            <a:off x="9638943" y="3819763"/>
            <a:ext cx="4205168" cy="254031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5449"/>
              </a:buClr>
              <a:buSzPts val="1750"/>
              <a:buFont typeface="Nobile"/>
              <a:buNone/>
            </a:pPr>
            <a:r>
              <a:rPr b="0" i="0" lang="en-US" sz="1750" u="none" cap="none" strike="noStrike">
                <a:solidFill>
                  <a:srgbClr val="405449"/>
                </a:solidFill>
                <a:latin typeface="Nobile"/>
                <a:ea typeface="Nobile"/>
                <a:cs typeface="Nobile"/>
                <a:sym typeface="Nobile"/>
              </a:rPr>
              <a:t>KPIs: Total Revenue 26M, Total Bookings 75K, Avg ADR 99.99, Total Guests 146K. Visuals: monthly revenue trend, market segment distribution, channel donut, room-type demand, customer-type distribution, revenue trend peak in late 2016.</a:t>
            </a:r>
            <a:endParaRPr b="0" i="0" sz="1750" u="none" cap="none" strike="noStrike"/>
          </a:p>
        </p:txBody>
      </p:sp>
      <p:sp>
        <p:nvSpPr>
          <p:cNvPr id="124" name="Google Shape;124;p19"/>
          <p:cNvSpPr/>
          <p:nvPr/>
        </p:nvSpPr>
        <p:spPr>
          <a:xfrm>
            <a:off x="12848600" y="7634350"/>
            <a:ext cx="1781700" cy="595200"/>
          </a:xfrm>
          <a:prstGeom prst="rect">
            <a:avLst/>
          </a:prstGeom>
          <a:solidFill>
            <a:srgbClr val="FAFF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pic>
        <p:nvPicPr>
          <p:cNvPr descr="preencoded.png" id="130" name="Google Shape;130;p20"/>
          <p:cNvPicPr preferRelativeResize="0"/>
          <p:nvPr/>
        </p:nvPicPr>
        <p:blipFill rotWithShape="1">
          <a:blip r:embed="rId3">
            <a:alphaModFix/>
          </a:blip>
          <a:srcRect b="0" l="0" r="0" t="0"/>
          <a:stretch/>
        </p:blipFill>
        <p:spPr>
          <a:xfrm>
            <a:off x="793790" y="1185386"/>
            <a:ext cx="8284131" cy="5291733"/>
          </a:xfrm>
          <a:prstGeom prst="rect">
            <a:avLst/>
          </a:prstGeom>
          <a:noFill/>
          <a:ln>
            <a:noFill/>
          </a:ln>
        </p:spPr>
      </p:pic>
      <p:sp>
        <p:nvSpPr>
          <p:cNvPr id="131" name="Google Shape;131;p20"/>
          <p:cNvSpPr/>
          <p:nvPr/>
        </p:nvSpPr>
        <p:spPr>
          <a:xfrm>
            <a:off x="793790" y="6732270"/>
            <a:ext cx="8284131"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SzPts val="1750"/>
              <a:buFont typeface="Arial"/>
              <a:buNone/>
            </a:pPr>
            <a:r>
              <a:t/>
            </a:r>
            <a:endParaRPr b="0" i="0" sz="1750" u="none" cap="none" strike="noStrike"/>
          </a:p>
        </p:txBody>
      </p:sp>
      <p:sp>
        <p:nvSpPr>
          <p:cNvPr id="132" name="Google Shape;132;p20"/>
          <p:cNvSpPr/>
          <p:nvPr/>
        </p:nvSpPr>
        <p:spPr>
          <a:xfrm>
            <a:off x="9638943" y="1710571"/>
            <a:ext cx="4205168" cy="1700927"/>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Clr>
                <a:srgbClr val="3B4540"/>
              </a:buClr>
              <a:buSzPts val="3550"/>
              <a:buFont typeface="Fraunces"/>
              <a:buNone/>
            </a:pPr>
            <a:r>
              <a:rPr b="1" i="0" lang="en-US" sz="3550" u="none" cap="none" strike="noStrike">
                <a:solidFill>
                  <a:srgbClr val="3B4540"/>
                </a:solidFill>
                <a:latin typeface="Fraunces"/>
                <a:ea typeface="Fraunces"/>
                <a:cs typeface="Fraunces"/>
                <a:sym typeface="Fraunces"/>
              </a:rPr>
              <a:t>Dashboard 2 — Customer &amp; Booking Behavior</a:t>
            </a:r>
            <a:endParaRPr b="0" i="0" sz="3550" u="none" cap="none" strike="noStrike"/>
          </a:p>
        </p:txBody>
      </p:sp>
      <p:sp>
        <p:nvSpPr>
          <p:cNvPr id="133" name="Google Shape;133;p20"/>
          <p:cNvSpPr/>
          <p:nvPr/>
        </p:nvSpPr>
        <p:spPr>
          <a:xfrm>
            <a:off x="9638943" y="3638312"/>
            <a:ext cx="4205168" cy="290322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5449"/>
              </a:buClr>
              <a:buSzPts val="1750"/>
              <a:buFont typeface="Nobile"/>
              <a:buNone/>
            </a:pPr>
            <a:r>
              <a:rPr b="0" i="0" lang="en-US" sz="1750" u="none" cap="none" strike="noStrike">
                <a:solidFill>
                  <a:srgbClr val="405449"/>
                </a:solidFill>
                <a:latin typeface="Nobile"/>
                <a:ea typeface="Nobile"/>
                <a:cs typeface="Nobile"/>
                <a:sym typeface="Nobile"/>
              </a:rPr>
              <a:t>KPIs: Total Customers 75K, Avg Lead Time 80, Repeated Customers 3K, Repeat % 4.33%. Insights: strong new-guest inflow (95.67%), low repeat ratio, concentrated demand in countries (PRT, GBR, FRA, ESP, DEU), lead-time distribution skewed to early bookings.</a:t>
            </a:r>
            <a:endParaRPr b="0" i="0" sz="1750" u="none" cap="none" strike="noStrike"/>
          </a:p>
        </p:txBody>
      </p:sp>
      <p:sp>
        <p:nvSpPr>
          <p:cNvPr id="134" name="Google Shape;134;p20"/>
          <p:cNvSpPr/>
          <p:nvPr/>
        </p:nvSpPr>
        <p:spPr>
          <a:xfrm>
            <a:off x="12848600" y="7634350"/>
            <a:ext cx="1781700" cy="595200"/>
          </a:xfrm>
          <a:prstGeom prst="rect">
            <a:avLst/>
          </a:prstGeom>
          <a:solidFill>
            <a:srgbClr val="FAFF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1"/>
          <p:cNvSpPr/>
          <p:nvPr/>
        </p:nvSpPr>
        <p:spPr>
          <a:xfrm>
            <a:off x="1350764" y="557332"/>
            <a:ext cx="11170563" cy="54018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B4540"/>
              </a:buClr>
              <a:buSzPts val="3400"/>
              <a:buFont typeface="Fraunces"/>
              <a:buNone/>
            </a:pPr>
            <a:r>
              <a:rPr b="1" i="0" lang="en-US" sz="3400" u="none" cap="none" strike="noStrike">
                <a:solidFill>
                  <a:srgbClr val="3B4540"/>
                </a:solidFill>
                <a:latin typeface="Fraunces"/>
                <a:ea typeface="Fraunces"/>
                <a:cs typeface="Fraunces"/>
                <a:sym typeface="Fraunces"/>
              </a:rPr>
              <a:t>Dashboard 3 — Revenue Optimization &amp; AI Insights</a:t>
            </a:r>
            <a:endParaRPr b="0" i="0" sz="3400" u="none" cap="none" strike="noStrike"/>
          </a:p>
        </p:txBody>
      </p:sp>
      <p:pic>
        <p:nvPicPr>
          <p:cNvPr descr="preencoded.png" id="141" name="Google Shape;141;p21"/>
          <p:cNvPicPr preferRelativeResize="0"/>
          <p:nvPr/>
        </p:nvPicPr>
        <p:blipFill rotWithShape="1">
          <a:blip r:embed="rId3">
            <a:alphaModFix/>
          </a:blip>
          <a:srcRect b="0" l="0" r="0" t="0"/>
          <a:stretch/>
        </p:blipFill>
        <p:spPr>
          <a:xfrm>
            <a:off x="1350764" y="1443395"/>
            <a:ext cx="8100179" cy="5445204"/>
          </a:xfrm>
          <a:prstGeom prst="rect">
            <a:avLst/>
          </a:prstGeom>
          <a:noFill/>
          <a:ln>
            <a:noFill/>
          </a:ln>
        </p:spPr>
      </p:pic>
      <p:sp>
        <p:nvSpPr>
          <p:cNvPr id="142" name="Google Shape;142;p21"/>
          <p:cNvSpPr/>
          <p:nvPr/>
        </p:nvSpPr>
        <p:spPr>
          <a:xfrm>
            <a:off x="9880283" y="1413748"/>
            <a:ext cx="3406854" cy="243602"/>
          </a:xfrm>
          <a:prstGeom prst="rect">
            <a:avLst/>
          </a:prstGeom>
          <a:noFill/>
          <a:ln>
            <a:noFill/>
          </a:ln>
        </p:spPr>
        <p:txBody>
          <a:bodyPr anchorCtr="0" anchor="t" bIns="0" lIns="0" spcFirstLastPara="1" rIns="0" wrap="square" tIns="0">
            <a:noAutofit/>
          </a:bodyPr>
          <a:lstStyle/>
          <a:p>
            <a:pPr indent="0" lvl="0" marL="0" marR="0" rtl="0" algn="l">
              <a:lnSpc>
                <a:spcPct val="140740"/>
              </a:lnSpc>
              <a:spcBef>
                <a:spcPts val="0"/>
              </a:spcBef>
              <a:spcAft>
                <a:spcPts val="0"/>
              </a:spcAft>
              <a:buSzPts val="1350"/>
              <a:buFont typeface="Arial"/>
              <a:buNone/>
            </a:pPr>
            <a:r>
              <a:t/>
            </a:r>
            <a:endParaRPr b="0" i="0" sz="1350" u="none" cap="none" strike="noStrike"/>
          </a:p>
        </p:txBody>
      </p:sp>
      <p:sp>
        <p:nvSpPr>
          <p:cNvPr id="143" name="Google Shape;143;p21"/>
          <p:cNvSpPr/>
          <p:nvPr/>
        </p:nvSpPr>
        <p:spPr>
          <a:xfrm>
            <a:off x="1350764" y="7185065"/>
            <a:ext cx="11928872" cy="487204"/>
          </a:xfrm>
          <a:prstGeom prst="rect">
            <a:avLst/>
          </a:prstGeom>
          <a:noFill/>
          <a:ln>
            <a:noFill/>
          </a:ln>
        </p:spPr>
        <p:txBody>
          <a:bodyPr anchorCtr="0" anchor="t" bIns="0" lIns="0" spcFirstLastPara="1" rIns="0" wrap="square" tIns="0">
            <a:noAutofit/>
          </a:bodyPr>
          <a:lstStyle/>
          <a:p>
            <a:pPr indent="0" lvl="0" marL="0" marR="0" rtl="0" algn="l">
              <a:lnSpc>
                <a:spcPct val="140740"/>
              </a:lnSpc>
              <a:spcBef>
                <a:spcPts val="0"/>
              </a:spcBef>
              <a:spcAft>
                <a:spcPts val="0"/>
              </a:spcAft>
              <a:buClr>
                <a:srgbClr val="405449"/>
              </a:buClr>
              <a:buSzPts val="1350"/>
              <a:buFont typeface="Nobile"/>
              <a:buNone/>
            </a:pPr>
            <a:r>
              <a:rPr b="0" i="0" lang="en-US" sz="1350" u="none" cap="none" strike="noStrike">
                <a:solidFill>
                  <a:srgbClr val="405449"/>
                </a:solidFill>
                <a:latin typeface="Nobile"/>
                <a:ea typeface="Nobile"/>
                <a:cs typeface="Nobile"/>
                <a:sym typeface="Nobile"/>
              </a:rPr>
              <a:t>KPI highlights: Rev_per_Night ~101.93, Occupancy_Proxy ~3.39, Revenue Loss 0, Cancellation Impact 0.00%. Visuals: Total revenue by year, Avg ADR by year (2015:88, 2016:97, 2017:111), revenue vs lead time, demand by room type (A–G evenly distributed ~17.4%).</a:t>
            </a:r>
            <a:endParaRPr b="0" i="0" sz="1350" u="none" cap="none" strike="noStrike"/>
          </a:p>
        </p:txBody>
      </p:sp>
      <p:sp>
        <p:nvSpPr>
          <p:cNvPr id="144" name="Google Shape;144;p21"/>
          <p:cNvSpPr/>
          <p:nvPr/>
        </p:nvSpPr>
        <p:spPr>
          <a:xfrm>
            <a:off x="12848600" y="7634350"/>
            <a:ext cx="1781700" cy="595200"/>
          </a:xfrm>
          <a:prstGeom prst="rect">
            <a:avLst/>
          </a:prstGeom>
          <a:solidFill>
            <a:srgbClr val="FAFF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pic>
        <p:nvPicPr>
          <p:cNvPr descr="preencoded.png" id="150" name="Google Shape;150;p22"/>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151" name="Google Shape;151;p22"/>
          <p:cNvSpPr/>
          <p:nvPr/>
        </p:nvSpPr>
        <p:spPr>
          <a:xfrm>
            <a:off x="6242447" y="656273"/>
            <a:ext cx="7631906" cy="1350169"/>
          </a:xfrm>
          <a:prstGeom prst="rect">
            <a:avLst/>
          </a:prstGeom>
          <a:noFill/>
          <a:ln>
            <a:noFill/>
          </a:ln>
        </p:spPr>
        <p:txBody>
          <a:bodyPr anchorCtr="0" anchor="t" bIns="0" lIns="0" spcFirstLastPara="1" rIns="0" wrap="square" tIns="0">
            <a:noAutofit/>
          </a:bodyPr>
          <a:lstStyle/>
          <a:p>
            <a:pPr indent="0" lvl="0" marL="0" marR="0" rtl="0" algn="l">
              <a:lnSpc>
                <a:spcPct val="124705"/>
              </a:lnSpc>
              <a:spcBef>
                <a:spcPts val="0"/>
              </a:spcBef>
              <a:spcAft>
                <a:spcPts val="0"/>
              </a:spcAft>
              <a:buClr>
                <a:srgbClr val="3B4540"/>
              </a:buClr>
              <a:buSzPts val="4250"/>
              <a:buFont typeface="Fraunces"/>
              <a:buNone/>
            </a:pPr>
            <a:r>
              <a:rPr b="1" i="0" lang="en-US" sz="4250" u="none" cap="none" strike="noStrike">
                <a:solidFill>
                  <a:srgbClr val="3B4540"/>
                </a:solidFill>
                <a:latin typeface="Fraunces"/>
                <a:ea typeface="Fraunces"/>
                <a:cs typeface="Fraunces"/>
                <a:sym typeface="Fraunces"/>
              </a:rPr>
              <a:t>Conclusion &amp; Business Value</a:t>
            </a:r>
            <a:endParaRPr b="0" i="0" sz="4250" u="none" cap="none" strike="noStrike"/>
          </a:p>
        </p:txBody>
      </p:sp>
      <p:sp>
        <p:nvSpPr>
          <p:cNvPr id="152" name="Google Shape;152;p22"/>
          <p:cNvSpPr/>
          <p:nvPr/>
        </p:nvSpPr>
        <p:spPr>
          <a:xfrm>
            <a:off x="6242447" y="2314932"/>
            <a:ext cx="3713083" cy="2242066"/>
          </a:xfrm>
          <a:prstGeom prst="roundRect">
            <a:avLst>
              <a:gd fmla="val 8672" name="adj"/>
            </a:avLst>
          </a:prstGeom>
          <a:solidFill>
            <a:srgbClr val="E8F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2"/>
          <p:cNvSpPr/>
          <p:nvPr/>
        </p:nvSpPr>
        <p:spPr>
          <a:xfrm>
            <a:off x="6458426" y="2530912"/>
            <a:ext cx="2760464" cy="337542"/>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405449"/>
              </a:buClr>
              <a:buSzPts val="2100"/>
              <a:buFont typeface="Fraunces"/>
              <a:buNone/>
            </a:pPr>
            <a:r>
              <a:rPr b="1" i="0" lang="en-US" sz="2100" u="none" cap="none" strike="noStrike">
                <a:solidFill>
                  <a:srgbClr val="405449"/>
                </a:solidFill>
                <a:latin typeface="Fraunces"/>
                <a:ea typeface="Fraunces"/>
                <a:cs typeface="Fraunces"/>
                <a:sym typeface="Fraunces"/>
              </a:rPr>
              <a:t>Reliable Foundation</a:t>
            </a:r>
            <a:endParaRPr b="0" i="0" sz="2100" u="none" cap="none" strike="noStrike"/>
          </a:p>
        </p:txBody>
      </p:sp>
      <p:sp>
        <p:nvSpPr>
          <p:cNvPr id="154" name="Google Shape;154;p22"/>
          <p:cNvSpPr/>
          <p:nvPr/>
        </p:nvSpPr>
        <p:spPr>
          <a:xfrm>
            <a:off x="6458426" y="2991803"/>
            <a:ext cx="3281124" cy="1011912"/>
          </a:xfrm>
          <a:prstGeom prst="rect">
            <a:avLst/>
          </a:prstGeom>
          <a:noFill/>
          <a:ln>
            <a:noFill/>
          </a:ln>
        </p:spPr>
        <p:txBody>
          <a:bodyPr anchorCtr="0" anchor="t" bIns="0" lIns="0" spcFirstLastPara="1" rIns="0" wrap="square" tIns="0">
            <a:noAutofit/>
          </a:bodyPr>
          <a:lstStyle/>
          <a:p>
            <a:pPr indent="0" lvl="0" marL="0" marR="0" rtl="0" algn="l">
              <a:lnSpc>
                <a:spcPct val="155882"/>
              </a:lnSpc>
              <a:spcBef>
                <a:spcPts val="0"/>
              </a:spcBef>
              <a:spcAft>
                <a:spcPts val="0"/>
              </a:spcAft>
              <a:buClr>
                <a:srgbClr val="405449"/>
              </a:buClr>
              <a:buSzPts val="1700"/>
              <a:buFont typeface="Nobile"/>
              <a:buNone/>
            </a:pPr>
            <a:r>
              <a:rPr b="0" i="0" lang="en-US" sz="1700" u="none" cap="none" strike="noStrike">
                <a:solidFill>
                  <a:srgbClr val="405449"/>
                </a:solidFill>
                <a:latin typeface="Nobile"/>
                <a:ea typeface="Nobile"/>
                <a:cs typeface="Nobile"/>
                <a:sym typeface="Nobile"/>
              </a:rPr>
              <a:t>Data loading, cleaning, and modelling established a dependable analytics base.</a:t>
            </a:r>
            <a:endParaRPr b="0" i="0" sz="1700" u="none" cap="none" strike="noStrike"/>
          </a:p>
        </p:txBody>
      </p:sp>
      <p:sp>
        <p:nvSpPr>
          <p:cNvPr id="155" name="Google Shape;155;p22"/>
          <p:cNvSpPr/>
          <p:nvPr/>
        </p:nvSpPr>
        <p:spPr>
          <a:xfrm>
            <a:off x="10161151" y="2314932"/>
            <a:ext cx="3713202" cy="2242066"/>
          </a:xfrm>
          <a:prstGeom prst="roundRect">
            <a:avLst>
              <a:gd fmla="val 8672" name="adj"/>
            </a:avLst>
          </a:prstGeom>
          <a:solidFill>
            <a:srgbClr val="E8F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2"/>
          <p:cNvSpPr/>
          <p:nvPr/>
        </p:nvSpPr>
        <p:spPr>
          <a:xfrm>
            <a:off x="10377130" y="2530912"/>
            <a:ext cx="2700218" cy="337542"/>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405449"/>
              </a:buClr>
              <a:buSzPts val="2100"/>
              <a:buFont typeface="Fraunces"/>
              <a:buNone/>
            </a:pPr>
            <a:r>
              <a:rPr b="1" i="0" lang="en-US" sz="2100" u="none" cap="none" strike="noStrike">
                <a:solidFill>
                  <a:srgbClr val="405449"/>
                </a:solidFill>
                <a:latin typeface="Fraunces"/>
                <a:ea typeface="Fraunces"/>
                <a:cs typeface="Fraunces"/>
                <a:sym typeface="Fraunces"/>
              </a:rPr>
              <a:t>Actionable Insights</a:t>
            </a:r>
            <a:endParaRPr b="0" i="0" sz="2100" u="none" cap="none" strike="noStrike"/>
          </a:p>
        </p:txBody>
      </p:sp>
      <p:sp>
        <p:nvSpPr>
          <p:cNvPr id="157" name="Google Shape;157;p22"/>
          <p:cNvSpPr/>
          <p:nvPr/>
        </p:nvSpPr>
        <p:spPr>
          <a:xfrm>
            <a:off x="10377130" y="2991803"/>
            <a:ext cx="3281243" cy="1349216"/>
          </a:xfrm>
          <a:prstGeom prst="rect">
            <a:avLst/>
          </a:prstGeom>
          <a:noFill/>
          <a:ln>
            <a:noFill/>
          </a:ln>
        </p:spPr>
        <p:txBody>
          <a:bodyPr anchorCtr="0" anchor="t" bIns="0" lIns="0" spcFirstLastPara="1" rIns="0" wrap="square" tIns="0">
            <a:noAutofit/>
          </a:bodyPr>
          <a:lstStyle/>
          <a:p>
            <a:pPr indent="0" lvl="0" marL="0" marR="0" rtl="0" algn="l">
              <a:lnSpc>
                <a:spcPct val="155882"/>
              </a:lnSpc>
              <a:spcBef>
                <a:spcPts val="0"/>
              </a:spcBef>
              <a:spcAft>
                <a:spcPts val="0"/>
              </a:spcAft>
              <a:buClr>
                <a:srgbClr val="405449"/>
              </a:buClr>
              <a:buSzPts val="1700"/>
              <a:buFont typeface="Nobile"/>
              <a:buNone/>
            </a:pPr>
            <a:r>
              <a:rPr b="0" i="0" lang="en-US" sz="1700" u="none" cap="none" strike="noStrike">
                <a:solidFill>
                  <a:srgbClr val="405449"/>
                </a:solidFill>
                <a:latin typeface="Nobile"/>
                <a:ea typeface="Nobile"/>
                <a:cs typeface="Nobile"/>
                <a:sym typeface="Nobile"/>
              </a:rPr>
              <a:t>Dashboards surface seasonal patterns, channel reliance, customer mix, and cancellation impact.</a:t>
            </a:r>
            <a:endParaRPr b="0" i="0" sz="1700" u="none" cap="none" strike="noStrike"/>
          </a:p>
        </p:txBody>
      </p:sp>
      <p:sp>
        <p:nvSpPr>
          <p:cNvPr id="158" name="Google Shape;158;p22"/>
          <p:cNvSpPr/>
          <p:nvPr/>
        </p:nvSpPr>
        <p:spPr>
          <a:xfrm>
            <a:off x="6242447" y="4762619"/>
            <a:ext cx="7631906" cy="1567458"/>
          </a:xfrm>
          <a:prstGeom prst="roundRect">
            <a:avLst>
              <a:gd fmla="val 12404" name="adj"/>
            </a:avLst>
          </a:prstGeom>
          <a:solidFill>
            <a:srgbClr val="E8F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2"/>
          <p:cNvSpPr/>
          <p:nvPr/>
        </p:nvSpPr>
        <p:spPr>
          <a:xfrm>
            <a:off x="6458426" y="4978598"/>
            <a:ext cx="2700218" cy="337542"/>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405449"/>
              </a:buClr>
              <a:buSzPts val="2100"/>
              <a:buFont typeface="Fraunces"/>
              <a:buNone/>
            </a:pPr>
            <a:r>
              <a:rPr b="1" i="0" lang="en-US" sz="2100" u="none" cap="none" strike="noStrike">
                <a:solidFill>
                  <a:srgbClr val="405449"/>
                </a:solidFill>
                <a:latin typeface="Fraunces"/>
                <a:ea typeface="Fraunces"/>
                <a:cs typeface="Fraunces"/>
                <a:sym typeface="Fraunces"/>
              </a:rPr>
              <a:t>Revenue Decisions</a:t>
            </a:r>
            <a:endParaRPr b="0" i="0" sz="2100" u="none" cap="none" strike="noStrike"/>
          </a:p>
        </p:txBody>
      </p:sp>
      <p:sp>
        <p:nvSpPr>
          <p:cNvPr id="160" name="Google Shape;160;p22"/>
          <p:cNvSpPr/>
          <p:nvPr/>
        </p:nvSpPr>
        <p:spPr>
          <a:xfrm>
            <a:off x="6458426" y="5439489"/>
            <a:ext cx="7199948" cy="674608"/>
          </a:xfrm>
          <a:prstGeom prst="rect">
            <a:avLst/>
          </a:prstGeom>
          <a:noFill/>
          <a:ln>
            <a:noFill/>
          </a:ln>
        </p:spPr>
        <p:txBody>
          <a:bodyPr anchorCtr="0" anchor="t" bIns="0" lIns="0" spcFirstLastPara="1" rIns="0" wrap="square" tIns="0">
            <a:noAutofit/>
          </a:bodyPr>
          <a:lstStyle/>
          <a:p>
            <a:pPr indent="0" lvl="0" marL="0" marR="0" rtl="0" algn="l">
              <a:lnSpc>
                <a:spcPct val="155882"/>
              </a:lnSpc>
              <a:spcBef>
                <a:spcPts val="0"/>
              </a:spcBef>
              <a:spcAft>
                <a:spcPts val="0"/>
              </a:spcAft>
              <a:buClr>
                <a:srgbClr val="405449"/>
              </a:buClr>
              <a:buSzPts val="1700"/>
              <a:buFont typeface="Nobile"/>
              <a:buNone/>
            </a:pPr>
            <a:r>
              <a:rPr b="0" i="0" lang="en-US" sz="1700" u="none" cap="none" strike="noStrike">
                <a:solidFill>
                  <a:srgbClr val="405449"/>
                </a:solidFill>
                <a:latin typeface="Nobile"/>
                <a:ea typeface="Nobile"/>
                <a:cs typeface="Nobile"/>
                <a:sym typeface="Nobile"/>
              </a:rPr>
              <a:t>Findings support pricing policy adjustments, targeted marketing, and booking management to maximize revenue.</a:t>
            </a:r>
            <a:endParaRPr b="0" i="0" sz="1700" u="none" cap="none" strike="noStrike"/>
          </a:p>
        </p:txBody>
      </p:sp>
      <p:sp>
        <p:nvSpPr>
          <p:cNvPr id="161" name="Google Shape;161;p22"/>
          <p:cNvSpPr/>
          <p:nvPr/>
        </p:nvSpPr>
        <p:spPr>
          <a:xfrm>
            <a:off x="6242447" y="6561415"/>
            <a:ext cx="7631906" cy="1011912"/>
          </a:xfrm>
          <a:prstGeom prst="rect">
            <a:avLst/>
          </a:prstGeom>
          <a:noFill/>
          <a:ln>
            <a:noFill/>
          </a:ln>
        </p:spPr>
        <p:txBody>
          <a:bodyPr anchorCtr="0" anchor="t" bIns="0" lIns="0" spcFirstLastPara="1" rIns="0" wrap="square" tIns="0">
            <a:noAutofit/>
          </a:bodyPr>
          <a:lstStyle/>
          <a:p>
            <a:pPr indent="0" lvl="0" marL="0" marR="0" rtl="0" algn="l">
              <a:lnSpc>
                <a:spcPct val="155882"/>
              </a:lnSpc>
              <a:spcBef>
                <a:spcPts val="0"/>
              </a:spcBef>
              <a:spcAft>
                <a:spcPts val="0"/>
              </a:spcAft>
              <a:buClr>
                <a:srgbClr val="405449"/>
              </a:buClr>
              <a:buSzPts val="1700"/>
              <a:buFont typeface="Nobile"/>
              <a:buNone/>
            </a:pPr>
            <a:r>
              <a:rPr b="0" i="0" lang="en-US" sz="1700" u="none" cap="none" strike="noStrike">
                <a:solidFill>
                  <a:srgbClr val="405449"/>
                </a:solidFill>
                <a:latin typeface="Nobile"/>
                <a:ea typeface="Nobile"/>
                <a:cs typeface="Nobile"/>
                <a:sym typeface="Nobile"/>
              </a:rPr>
              <a:t>HotelRevAI demonstrates how Power BI and careful modelling enable data-driven strategies to improve operational efficiency and revenue performance.</a:t>
            </a:r>
            <a:endParaRPr b="0" i="0" sz="1700" u="none" cap="none" strike="noStrike"/>
          </a:p>
        </p:txBody>
      </p:sp>
      <p:sp>
        <p:nvSpPr>
          <p:cNvPr id="162" name="Google Shape;162;p22"/>
          <p:cNvSpPr/>
          <p:nvPr/>
        </p:nvSpPr>
        <p:spPr>
          <a:xfrm>
            <a:off x="12848600" y="7634350"/>
            <a:ext cx="1781700" cy="595200"/>
          </a:xfrm>
          <a:prstGeom prst="rect">
            <a:avLst/>
          </a:prstGeom>
          <a:solidFill>
            <a:srgbClr val="FAFF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