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56" r:id="rId5"/>
    <p:sldId id="257" r:id="rId6"/>
    <p:sldId id="260" r:id="rId7"/>
    <p:sldId id="258" r:id="rId8"/>
    <p:sldId id="261" r:id="rId9"/>
    <p:sldId id="262" r:id="rId10"/>
    <p:sldId id="283" r:id="rId11"/>
    <p:sldId id="264" r:id="rId12"/>
    <p:sldId id="266" r:id="rId13"/>
    <p:sldId id="284" r:id="rId14"/>
    <p:sldId id="269"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6208670-F2F8-4B5F-8AB5-88BB41C2F7CE}">
          <p14:sldIdLst>
            <p14:sldId id="256"/>
            <p14:sldId id="257"/>
            <p14:sldId id="260"/>
            <p14:sldId id="258"/>
            <p14:sldId id="261"/>
            <p14:sldId id="262"/>
            <p14:sldId id="283"/>
            <p14:sldId id="264"/>
            <p14:sldId id="266"/>
            <p14:sldId id="284"/>
            <p14:sldId id="269"/>
            <p14:sldId id="26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0C802C-281C-4E73-B75B-21035B3E442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70536E4F-EACF-48BF-81A5-8DAB6084BBE2}">
      <dgm:prSet custT="1"/>
      <dgm:spPr/>
      <dgm:t>
        <a:bodyPr/>
        <a:lstStyle/>
        <a:p>
          <a:pPr algn="ctr"/>
          <a:r>
            <a:rPr lang="en-IN" sz="1800" dirty="0"/>
            <a:t>Source</a:t>
          </a:r>
        </a:p>
      </dgm:t>
    </dgm:pt>
    <dgm:pt modelId="{201A5696-806D-4B22-80F4-38B54C64C724}" type="parTrans" cxnId="{B584DA31-38D5-4C59-B575-B1D65A59C2D4}">
      <dgm:prSet/>
      <dgm:spPr/>
      <dgm:t>
        <a:bodyPr/>
        <a:lstStyle/>
        <a:p>
          <a:endParaRPr lang="en-IN"/>
        </a:p>
      </dgm:t>
    </dgm:pt>
    <dgm:pt modelId="{72EF06F4-6AD4-4654-8309-339C2DC95B6E}" type="sibTrans" cxnId="{B584DA31-38D5-4C59-B575-B1D65A59C2D4}">
      <dgm:prSet/>
      <dgm:spPr/>
      <dgm:t>
        <a:bodyPr/>
        <a:lstStyle/>
        <a:p>
          <a:endParaRPr lang="en-IN"/>
        </a:p>
      </dgm:t>
    </dgm:pt>
    <dgm:pt modelId="{B2A8064E-EB99-46AC-8F85-A6BA36961E81}" type="pres">
      <dgm:prSet presAssocID="{E70C802C-281C-4E73-B75B-21035B3E442F}" presName="linear" presStyleCnt="0">
        <dgm:presLayoutVars>
          <dgm:animLvl val="lvl"/>
          <dgm:resizeHandles val="exact"/>
        </dgm:presLayoutVars>
      </dgm:prSet>
      <dgm:spPr/>
    </dgm:pt>
    <dgm:pt modelId="{E3263B16-D742-4A69-987D-5C507096FD31}" type="pres">
      <dgm:prSet presAssocID="{70536E4F-EACF-48BF-81A5-8DAB6084BBE2}" presName="parentText" presStyleLbl="node1" presStyleIdx="0" presStyleCnt="1">
        <dgm:presLayoutVars>
          <dgm:chMax val="0"/>
          <dgm:bulletEnabled val="1"/>
        </dgm:presLayoutVars>
      </dgm:prSet>
      <dgm:spPr/>
    </dgm:pt>
  </dgm:ptLst>
  <dgm:cxnLst>
    <dgm:cxn modelId="{B584DA31-38D5-4C59-B575-B1D65A59C2D4}" srcId="{E70C802C-281C-4E73-B75B-21035B3E442F}" destId="{70536E4F-EACF-48BF-81A5-8DAB6084BBE2}" srcOrd="0" destOrd="0" parTransId="{201A5696-806D-4B22-80F4-38B54C64C724}" sibTransId="{72EF06F4-6AD4-4654-8309-339C2DC95B6E}"/>
    <dgm:cxn modelId="{4121F467-86DC-425B-936B-4DC39DFC491D}" type="presOf" srcId="{70536E4F-EACF-48BF-81A5-8DAB6084BBE2}" destId="{E3263B16-D742-4A69-987D-5C507096FD31}" srcOrd="0" destOrd="0" presId="urn:microsoft.com/office/officeart/2005/8/layout/vList2"/>
    <dgm:cxn modelId="{5DDAC36D-663C-4321-BAE2-1EF8791E15A7}" type="presOf" srcId="{E70C802C-281C-4E73-B75B-21035B3E442F}" destId="{B2A8064E-EB99-46AC-8F85-A6BA36961E81}" srcOrd="0" destOrd="0" presId="urn:microsoft.com/office/officeart/2005/8/layout/vList2"/>
    <dgm:cxn modelId="{277E6212-49E7-4BE6-9FAC-ACADCF882C91}" type="presParOf" srcId="{B2A8064E-EB99-46AC-8F85-A6BA36961E81}" destId="{E3263B16-D742-4A69-987D-5C507096FD31}"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039BC5-B93F-4EF1-BC9F-C6D9AF21BB0A}"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2A49EFA1-CF8C-43DD-910A-308241D0BB4D}">
      <dgm:prSet phldrT="[Text]" phldr="0" custT="1"/>
      <dgm:spPr/>
      <dgm:t>
        <a:bodyPr/>
        <a:lstStyle/>
        <a:p>
          <a:r>
            <a:rPr lang="en-IN" sz="1800" dirty="0">
              <a:latin typeface="+mj-lt"/>
            </a:rPr>
            <a:t>Hotel data (Fact table)</a:t>
          </a:r>
        </a:p>
      </dgm:t>
    </dgm:pt>
    <dgm:pt modelId="{7041AB6D-C522-48C6-823B-B6F827D93C83}" type="parTrans" cxnId="{025310BF-966D-42CC-9544-F74707F54B58}">
      <dgm:prSet/>
      <dgm:spPr/>
      <dgm:t>
        <a:bodyPr/>
        <a:lstStyle/>
        <a:p>
          <a:endParaRPr lang="en-IN"/>
        </a:p>
      </dgm:t>
    </dgm:pt>
    <dgm:pt modelId="{37593FE9-0A56-4BA8-A8FF-8F80F28C885B}" type="sibTrans" cxnId="{025310BF-966D-42CC-9544-F74707F54B58}">
      <dgm:prSet/>
      <dgm:spPr/>
      <dgm:t>
        <a:bodyPr/>
        <a:lstStyle/>
        <a:p>
          <a:endParaRPr lang="en-IN"/>
        </a:p>
      </dgm:t>
    </dgm:pt>
    <dgm:pt modelId="{58044A28-EF05-4D01-A201-17FDC6C1AFBB}">
      <dgm:prSet phldrT="[Text]" phldr="0" custT="1"/>
      <dgm:spPr/>
      <dgm:t>
        <a:bodyPr/>
        <a:lstStyle/>
        <a:p>
          <a:r>
            <a:rPr lang="en-IN" sz="1800" dirty="0">
              <a:latin typeface="+mj-lt"/>
            </a:rPr>
            <a:t>Calander (Dimension table)</a:t>
          </a:r>
        </a:p>
      </dgm:t>
    </dgm:pt>
    <dgm:pt modelId="{01CB9CA1-A275-4265-817F-38938A0034DD}" type="parTrans" cxnId="{99BBDF54-2F0B-4BE1-80DC-BE2C9B371BDD}">
      <dgm:prSet/>
      <dgm:spPr/>
      <dgm:t>
        <a:bodyPr/>
        <a:lstStyle/>
        <a:p>
          <a:endParaRPr lang="en-IN"/>
        </a:p>
      </dgm:t>
    </dgm:pt>
    <dgm:pt modelId="{E0877945-C738-425C-A53E-6FD4154A1677}" type="sibTrans" cxnId="{99BBDF54-2F0B-4BE1-80DC-BE2C9B371BDD}">
      <dgm:prSet/>
      <dgm:spPr/>
      <dgm:t>
        <a:bodyPr/>
        <a:lstStyle/>
        <a:p>
          <a:endParaRPr lang="en-IN"/>
        </a:p>
      </dgm:t>
    </dgm:pt>
    <dgm:pt modelId="{83874D97-4327-48D7-8B3E-F5733520A574}">
      <dgm:prSet phldrT="[Text]" phldr="0" custT="1"/>
      <dgm:spPr/>
      <dgm:t>
        <a:bodyPr/>
        <a:lstStyle/>
        <a:p>
          <a:r>
            <a:rPr lang="en-IN" sz="1800" dirty="0">
              <a:latin typeface="+mj-lt"/>
            </a:rPr>
            <a:t>D3_measures (Measure table)</a:t>
          </a:r>
        </a:p>
      </dgm:t>
    </dgm:pt>
    <dgm:pt modelId="{4BAEA428-5359-4B4F-825C-CEA1454E1C6D}" type="parTrans" cxnId="{F88EE5CF-0E23-409B-BFAC-18654D93C2D7}">
      <dgm:prSet/>
      <dgm:spPr/>
      <dgm:t>
        <a:bodyPr/>
        <a:lstStyle/>
        <a:p>
          <a:endParaRPr lang="en-IN"/>
        </a:p>
      </dgm:t>
    </dgm:pt>
    <dgm:pt modelId="{356C1A10-AB87-4C8E-9811-63913B28791F}" type="sibTrans" cxnId="{F88EE5CF-0E23-409B-BFAC-18654D93C2D7}">
      <dgm:prSet/>
      <dgm:spPr/>
      <dgm:t>
        <a:bodyPr/>
        <a:lstStyle/>
        <a:p>
          <a:endParaRPr lang="en-IN"/>
        </a:p>
      </dgm:t>
    </dgm:pt>
    <dgm:pt modelId="{C9E8CEAB-5301-4FE5-B669-3AD821B130A4}" type="pres">
      <dgm:prSet presAssocID="{9B039BC5-B93F-4EF1-BC9F-C6D9AF21BB0A}" presName="linearFlow" presStyleCnt="0">
        <dgm:presLayoutVars>
          <dgm:dir/>
          <dgm:resizeHandles val="exact"/>
        </dgm:presLayoutVars>
      </dgm:prSet>
      <dgm:spPr/>
    </dgm:pt>
    <dgm:pt modelId="{2567CD49-32E4-4985-9DC2-60A1741D2F13}" type="pres">
      <dgm:prSet presAssocID="{2A49EFA1-CF8C-43DD-910A-308241D0BB4D}" presName="composite" presStyleCnt="0"/>
      <dgm:spPr/>
    </dgm:pt>
    <dgm:pt modelId="{755FC41F-B2AF-4BF2-BFA4-75FCF1346C0F}" type="pres">
      <dgm:prSet presAssocID="{2A49EFA1-CF8C-43DD-910A-308241D0BB4D}" presName="imgShp"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Database with solid fill"/>
        </a:ext>
      </dgm:extLst>
    </dgm:pt>
    <dgm:pt modelId="{8A500A41-1CFB-41D3-BAB6-AAC9392CEDDA}" type="pres">
      <dgm:prSet presAssocID="{2A49EFA1-CF8C-43DD-910A-308241D0BB4D}" presName="txShp" presStyleLbl="node1" presStyleIdx="0" presStyleCnt="3" custScaleX="80275">
        <dgm:presLayoutVars>
          <dgm:bulletEnabled val="1"/>
        </dgm:presLayoutVars>
      </dgm:prSet>
      <dgm:spPr/>
    </dgm:pt>
    <dgm:pt modelId="{4023113F-8A15-4353-8C9D-CAB19A7DAD80}" type="pres">
      <dgm:prSet presAssocID="{37593FE9-0A56-4BA8-A8FF-8F80F28C885B}" presName="spacing" presStyleCnt="0"/>
      <dgm:spPr/>
    </dgm:pt>
    <dgm:pt modelId="{7396C816-2210-4D7C-997D-BCDA5AB8D558}" type="pres">
      <dgm:prSet presAssocID="{58044A28-EF05-4D01-A201-17FDC6C1AFBB}" presName="composite" presStyleCnt="0"/>
      <dgm:spPr/>
    </dgm:pt>
    <dgm:pt modelId="{EC652CB1-2E20-4AF9-9ABB-91169127A295}" type="pres">
      <dgm:prSet presAssocID="{58044A28-EF05-4D01-A201-17FDC6C1AFBB}" presName="imgShp"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aily calendar with solid fill"/>
        </a:ext>
      </dgm:extLst>
    </dgm:pt>
    <dgm:pt modelId="{16CB09D5-B18F-4C76-B8F8-C647F55F517C}" type="pres">
      <dgm:prSet presAssocID="{58044A28-EF05-4D01-A201-17FDC6C1AFBB}" presName="txShp" presStyleLbl="node1" presStyleIdx="1" presStyleCnt="3" custScaleX="82101">
        <dgm:presLayoutVars>
          <dgm:bulletEnabled val="1"/>
        </dgm:presLayoutVars>
      </dgm:prSet>
      <dgm:spPr/>
    </dgm:pt>
    <dgm:pt modelId="{F378AAED-DBF5-4A6E-A9E4-C8C69A1B9918}" type="pres">
      <dgm:prSet presAssocID="{E0877945-C738-425C-A53E-6FD4154A1677}" presName="spacing" presStyleCnt="0"/>
      <dgm:spPr/>
    </dgm:pt>
    <dgm:pt modelId="{D48F404B-9E7A-4E29-AF93-0B4900E63BD7}" type="pres">
      <dgm:prSet presAssocID="{83874D97-4327-48D7-8B3E-F5733520A574}" presName="composite" presStyleCnt="0"/>
      <dgm:spPr/>
    </dgm:pt>
    <dgm:pt modelId="{AC600F14-FB4B-4CD4-A854-272235A6A771}" type="pres">
      <dgm:prSet presAssocID="{83874D97-4327-48D7-8B3E-F5733520A574}" presName="imgShp"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List with solid fill"/>
        </a:ext>
      </dgm:extLst>
    </dgm:pt>
    <dgm:pt modelId="{DF46F2F8-CC27-4A4E-B42A-7CE5B9E92D24}" type="pres">
      <dgm:prSet presAssocID="{83874D97-4327-48D7-8B3E-F5733520A574}" presName="txShp" presStyleLbl="node1" presStyleIdx="2" presStyleCnt="3" custScaleX="82557">
        <dgm:presLayoutVars>
          <dgm:bulletEnabled val="1"/>
        </dgm:presLayoutVars>
      </dgm:prSet>
      <dgm:spPr/>
    </dgm:pt>
  </dgm:ptLst>
  <dgm:cxnLst>
    <dgm:cxn modelId="{BEA6BE71-B6EB-4ADA-A3DD-F630AF60AB67}" type="presOf" srcId="{83874D97-4327-48D7-8B3E-F5733520A574}" destId="{DF46F2F8-CC27-4A4E-B42A-7CE5B9E92D24}" srcOrd="0" destOrd="0" presId="urn:microsoft.com/office/officeart/2005/8/layout/vList3"/>
    <dgm:cxn modelId="{99BBDF54-2F0B-4BE1-80DC-BE2C9B371BDD}" srcId="{9B039BC5-B93F-4EF1-BC9F-C6D9AF21BB0A}" destId="{58044A28-EF05-4D01-A201-17FDC6C1AFBB}" srcOrd="1" destOrd="0" parTransId="{01CB9CA1-A275-4265-817F-38938A0034DD}" sibTransId="{E0877945-C738-425C-A53E-6FD4154A1677}"/>
    <dgm:cxn modelId="{E0ED747C-37A2-49F2-89A3-26D01D55A987}" type="presOf" srcId="{9B039BC5-B93F-4EF1-BC9F-C6D9AF21BB0A}" destId="{C9E8CEAB-5301-4FE5-B669-3AD821B130A4}" srcOrd="0" destOrd="0" presId="urn:microsoft.com/office/officeart/2005/8/layout/vList3"/>
    <dgm:cxn modelId="{5567A5A6-2486-48D6-81CE-46CF0FDA09AA}" type="presOf" srcId="{58044A28-EF05-4D01-A201-17FDC6C1AFBB}" destId="{16CB09D5-B18F-4C76-B8F8-C647F55F517C}" srcOrd="0" destOrd="0" presId="urn:microsoft.com/office/officeart/2005/8/layout/vList3"/>
    <dgm:cxn modelId="{914FACBC-7D93-47B7-BC25-D103069AE977}" type="presOf" srcId="{2A49EFA1-CF8C-43DD-910A-308241D0BB4D}" destId="{8A500A41-1CFB-41D3-BAB6-AAC9392CEDDA}" srcOrd="0" destOrd="0" presId="urn:microsoft.com/office/officeart/2005/8/layout/vList3"/>
    <dgm:cxn modelId="{025310BF-966D-42CC-9544-F74707F54B58}" srcId="{9B039BC5-B93F-4EF1-BC9F-C6D9AF21BB0A}" destId="{2A49EFA1-CF8C-43DD-910A-308241D0BB4D}" srcOrd="0" destOrd="0" parTransId="{7041AB6D-C522-48C6-823B-B6F827D93C83}" sibTransId="{37593FE9-0A56-4BA8-A8FF-8F80F28C885B}"/>
    <dgm:cxn modelId="{F88EE5CF-0E23-409B-BFAC-18654D93C2D7}" srcId="{9B039BC5-B93F-4EF1-BC9F-C6D9AF21BB0A}" destId="{83874D97-4327-48D7-8B3E-F5733520A574}" srcOrd="2" destOrd="0" parTransId="{4BAEA428-5359-4B4F-825C-CEA1454E1C6D}" sibTransId="{356C1A10-AB87-4C8E-9811-63913B28791F}"/>
    <dgm:cxn modelId="{54339B19-13D5-4077-9029-E3D89DA065BE}" type="presParOf" srcId="{C9E8CEAB-5301-4FE5-B669-3AD821B130A4}" destId="{2567CD49-32E4-4985-9DC2-60A1741D2F13}" srcOrd="0" destOrd="0" presId="urn:microsoft.com/office/officeart/2005/8/layout/vList3"/>
    <dgm:cxn modelId="{3924D0AB-A935-418A-9CE4-CDD5D3191DEF}" type="presParOf" srcId="{2567CD49-32E4-4985-9DC2-60A1741D2F13}" destId="{755FC41F-B2AF-4BF2-BFA4-75FCF1346C0F}" srcOrd="0" destOrd="0" presId="urn:microsoft.com/office/officeart/2005/8/layout/vList3"/>
    <dgm:cxn modelId="{0BC6CA89-8247-4A11-A0B2-7F2255994F08}" type="presParOf" srcId="{2567CD49-32E4-4985-9DC2-60A1741D2F13}" destId="{8A500A41-1CFB-41D3-BAB6-AAC9392CEDDA}" srcOrd="1" destOrd="0" presId="urn:microsoft.com/office/officeart/2005/8/layout/vList3"/>
    <dgm:cxn modelId="{0FEEE9F7-131F-40BF-81C4-7A1E24FA1BD0}" type="presParOf" srcId="{C9E8CEAB-5301-4FE5-B669-3AD821B130A4}" destId="{4023113F-8A15-4353-8C9D-CAB19A7DAD80}" srcOrd="1" destOrd="0" presId="urn:microsoft.com/office/officeart/2005/8/layout/vList3"/>
    <dgm:cxn modelId="{AB234FDD-F5DF-466C-A371-2DD23C722B31}" type="presParOf" srcId="{C9E8CEAB-5301-4FE5-B669-3AD821B130A4}" destId="{7396C816-2210-4D7C-997D-BCDA5AB8D558}" srcOrd="2" destOrd="0" presId="urn:microsoft.com/office/officeart/2005/8/layout/vList3"/>
    <dgm:cxn modelId="{40A1D927-DE0F-42D6-A38E-320272662EAF}" type="presParOf" srcId="{7396C816-2210-4D7C-997D-BCDA5AB8D558}" destId="{EC652CB1-2E20-4AF9-9ABB-91169127A295}" srcOrd="0" destOrd="0" presId="urn:microsoft.com/office/officeart/2005/8/layout/vList3"/>
    <dgm:cxn modelId="{6F741EE0-2FD9-4BC5-B0CD-C6CB3CF0C604}" type="presParOf" srcId="{7396C816-2210-4D7C-997D-BCDA5AB8D558}" destId="{16CB09D5-B18F-4C76-B8F8-C647F55F517C}" srcOrd="1" destOrd="0" presId="urn:microsoft.com/office/officeart/2005/8/layout/vList3"/>
    <dgm:cxn modelId="{9398D628-3C70-4BC6-89FF-E2C619ABBBAB}" type="presParOf" srcId="{C9E8CEAB-5301-4FE5-B669-3AD821B130A4}" destId="{F378AAED-DBF5-4A6E-A9E4-C8C69A1B9918}" srcOrd="3" destOrd="0" presId="urn:microsoft.com/office/officeart/2005/8/layout/vList3"/>
    <dgm:cxn modelId="{D0422EBD-6959-4941-8D59-0404C67B7C28}" type="presParOf" srcId="{C9E8CEAB-5301-4FE5-B669-3AD821B130A4}" destId="{D48F404B-9E7A-4E29-AF93-0B4900E63BD7}" srcOrd="4" destOrd="0" presId="urn:microsoft.com/office/officeart/2005/8/layout/vList3"/>
    <dgm:cxn modelId="{D44A17B2-B1FB-4F9A-BFEE-C56F94CD912E}" type="presParOf" srcId="{D48F404B-9E7A-4E29-AF93-0B4900E63BD7}" destId="{AC600F14-FB4B-4CD4-A854-272235A6A771}" srcOrd="0" destOrd="0" presId="urn:microsoft.com/office/officeart/2005/8/layout/vList3"/>
    <dgm:cxn modelId="{01E4C592-4082-4578-A987-A11AA3A2D56E}" type="presParOf" srcId="{D48F404B-9E7A-4E29-AF93-0B4900E63BD7}" destId="{DF46F2F8-CC27-4A4E-B42A-7CE5B9E92D2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E80970-716C-49C5-AF3E-D0F0E10A0AA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906A66C9-4437-4B16-95FE-7772F3873826}">
      <dgm:prSet phldrT="[Text]" phldr="0" custT="1"/>
      <dgm:spPr/>
      <dgm:t>
        <a:bodyPr/>
        <a:lstStyle/>
        <a:p>
          <a:r>
            <a:rPr lang="en-IN" sz="1600" dirty="0">
              <a:latin typeface="+mj-lt"/>
            </a:rPr>
            <a:t>Online TA dominates</a:t>
          </a:r>
        </a:p>
      </dgm:t>
    </dgm:pt>
    <dgm:pt modelId="{260BCE8A-1DCA-4FAD-A194-8A15F3DAA646}" type="parTrans" cxnId="{4738D5F8-6207-4D82-93D4-C4C8E00EC11F}">
      <dgm:prSet/>
      <dgm:spPr/>
      <dgm:t>
        <a:bodyPr/>
        <a:lstStyle/>
        <a:p>
          <a:endParaRPr lang="en-IN"/>
        </a:p>
      </dgm:t>
    </dgm:pt>
    <dgm:pt modelId="{696EAA99-5926-4ED9-AB24-B3EFD4E7B279}" type="sibTrans" cxnId="{4738D5F8-6207-4D82-93D4-C4C8E00EC11F}">
      <dgm:prSet/>
      <dgm:spPr/>
      <dgm:t>
        <a:bodyPr/>
        <a:lstStyle/>
        <a:p>
          <a:endParaRPr lang="en-IN"/>
        </a:p>
      </dgm:t>
    </dgm:pt>
    <dgm:pt modelId="{38E55069-9632-4449-8658-18A40974FCDC}">
      <dgm:prSet phldrT="[Text]" phldr="0" custT="1"/>
      <dgm:spPr/>
      <dgm:t>
        <a:bodyPr/>
        <a:lstStyle/>
        <a:p>
          <a:r>
            <a:rPr lang="en-IN" sz="1600" dirty="0">
              <a:solidFill>
                <a:schemeClr val="bg1"/>
              </a:solidFill>
              <a:latin typeface="+mj-lt"/>
            </a:rPr>
            <a:t>Online TA has highest revenue</a:t>
          </a:r>
        </a:p>
      </dgm:t>
    </dgm:pt>
    <dgm:pt modelId="{94877F06-A2CD-43BD-828B-1BE1B17BE613}" type="parTrans" cxnId="{07DC5B5A-6AC7-413F-9893-3A0CFA7DF380}">
      <dgm:prSet/>
      <dgm:spPr/>
      <dgm:t>
        <a:bodyPr/>
        <a:lstStyle/>
        <a:p>
          <a:endParaRPr lang="en-IN"/>
        </a:p>
      </dgm:t>
    </dgm:pt>
    <dgm:pt modelId="{31F252FE-23BD-4960-8745-8DE5AEB30A38}" type="sibTrans" cxnId="{07DC5B5A-6AC7-413F-9893-3A0CFA7DF380}">
      <dgm:prSet/>
      <dgm:spPr/>
      <dgm:t>
        <a:bodyPr/>
        <a:lstStyle/>
        <a:p>
          <a:endParaRPr lang="en-IN"/>
        </a:p>
      </dgm:t>
    </dgm:pt>
    <dgm:pt modelId="{451355E1-E372-4B65-B7B7-B689ADEA0469}">
      <dgm:prSet phldrT="[Text]" phldr="0" custT="1"/>
      <dgm:spPr/>
      <dgm:t>
        <a:bodyPr/>
        <a:lstStyle/>
        <a:p>
          <a:r>
            <a:rPr lang="en-IN" sz="1600" dirty="0">
              <a:latin typeface="+mj-lt"/>
            </a:rPr>
            <a:t>Transient – 74% revenue</a:t>
          </a:r>
        </a:p>
      </dgm:t>
    </dgm:pt>
    <dgm:pt modelId="{744B5F5A-7A7A-4563-807A-E8C68FB33AEA}" type="parTrans" cxnId="{ECBD417A-0438-4523-A9DF-CBDD481EC567}">
      <dgm:prSet/>
      <dgm:spPr/>
      <dgm:t>
        <a:bodyPr/>
        <a:lstStyle/>
        <a:p>
          <a:endParaRPr lang="en-IN"/>
        </a:p>
      </dgm:t>
    </dgm:pt>
    <dgm:pt modelId="{0D4D27F3-3033-4A2B-803D-296E0DBB4E01}" type="sibTrans" cxnId="{ECBD417A-0438-4523-A9DF-CBDD481EC567}">
      <dgm:prSet/>
      <dgm:spPr/>
      <dgm:t>
        <a:bodyPr/>
        <a:lstStyle/>
        <a:p>
          <a:endParaRPr lang="en-IN"/>
        </a:p>
      </dgm:t>
    </dgm:pt>
    <dgm:pt modelId="{807B321D-067F-4AFC-814A-024610CE92B9}">
      <dgm:prSet phldrT="[Text]" phldr="0" custT="1"/>
      <dgm:spPr/>
      <dgm:t>
        <a:bodyPr/>
        <a:lstStyle/>
        <a:p>
          <a:r>
            <a:rPr lang="en-IN" sz="1600" dirty="0">
              <a:solidFill>
                <a:schemeClr val="bg1"/>
              </a:solidFill>
              <a:latin typeface="+mj-lt"/>
            </a:rPr>
            <a:t>Transient customers covers three quarters of all hotel revenue</a:t>
          </a:r>
        </a:p>
      </dgm:t>
    </dgm:pt>
    <dgm:pt modelId="{02C8EAD7-AE1E-446C-8114-0140B5614C17}" type="parTrans" cxnId="{39105FFA-2998-470B-9A9A-4A3205CBAAFB}">
      <dgm:prSet/>
      <dgm:spPr/>
      <dgm:t>
        <a:bodyPr/>
        <a:lstStyle/>
        <a:p>
          <a:endParaRPr lang="en-IN"/>
        </a:p>
      </dgm:t>
    </dgm:pt>
    <dgm:pt modelId="{24C08256-6965-4EB3-BA1D-57B041F2F66E}" type="sibTrans" cxnId="{39105FFA-2998-470B-9A9A-4A3205CBAAFB}">
      <dgm:prSet/>
      <dgm:spPr/>
      <dgm:t>
        <a:bodyPr/>
        <a:lstStyle/>
        <a:p>
          <a:endParaRPr lang="en-IN"/>
        </a:p>
      </dgm:t>
    </dgm:pt>
    <dgm:pt modelId="{5BE50AFF-F236-452C-ADA4-54FCB4014439}" type="pres">
      <dgm:prSet presAssocID="{87E80970-716C-49C5-AF3E-D0F0E10A0AA4}" presName="linear" presStyleCnt="0">
        <dgm:presLayoutVars>
          <dgm:animLvl val="lvl"/>
          <dgm:resizeHandles val="exact"/>
        </dgm:presLayoutVars>
      </dgm:prSet>
      <dgm:spPr/>
    </dgm:pt>
    <dgm:pt modelId="{84D67F7D-3C9F-4225-B075-CF19CF0DA5D5}" type="pres">
      <dgm:prSet presAssocID="{906A66C9-4437-4B16-95FE-7772F3873826}" presName="parentText" presStyleLbl="node1" presStyleIdx="0" presStyleCnt="2">
        <dgm:presLayoutVars>
          <dgm:chMax val="0"/>
          <dgm:bulletEnabled val="1"/>
        </dgm:presLayoutVars>
      </dgm:prSet>
      <dgm:spPr/>
    </dgm:pt>
    <dgm:pt modelId="{13A37209-88B9-444E-A2CB-BECC839935EE}" type="pres">
      <dgm:prSet presAssocID="{906A66C9-4437-4B16-95FE-7772F3873826}" presName="childText" presStyleLbl="revTx" presStyleIdx="0" presStyleCnt="2" custScaleY="111260">
        <dgm:presLayoutVars>
          <dgm:bulletEnabled val="1"/>
        </dgm:presLayoutVars>
      </dgm:prSet>
      <dgm:spPr/>
    </dgm:pt>
    <dgm:pt modelId="{D938F092-6A4B-46D5-8920-3616DF47ADE0}" type="pres">
      <dgm:prSet presAssocID="{451355E1-E372-4B65-B7B7-B689ADEA0469}" presName="parentText" presStyleLbl="node1" presStyleIdx="1" presStyleCnt="2">
        <dgm:presLayoutVars>
          <dgm:chMax val="0"/>
          <dgm:bulletEnabled val="1"/>
        </dgm:presLayoutVars>
      </dgm:prSet>
      <dgm:spPr/>
    </dgm:pt>
    <dgm:pt modelId="{1207945C-98FA-476A-8130-0AF237C10A89}" type="pres">
      <dgm:prSet presAssocID="{451355E1-E372-4B65-B7B7-B689ADEA0469}" presName="childText" presStyleLbl="revTx" presStyleIdx="1" presStyleCnt="2">
        <dgm:presLayoutVars>
          <dgm:bulletEnabled val="1"/>
        </dgm:presLayoutVars>
      </dgm:prSet>
      <dgm:spPr/>
    </dgm:pt>
  </dgm:ptLst>
  <dgm:cxnLst>
    <dgm:cxn modelId="{67BC0A05-14A9-4CC7-9B47-29075A064340}" type="presOf" srcId="{87E80970-716C-49C5-AF3E-D0F0E10A0AA4}" destId="{5BE50AFF-F236-452C-ADA4-54FCB4014439}" srcOrd="0" destOrd="0" presId="urn:microsoft.com/office/officeart/2005/8/layout/vList2"/>
    <dgm:cxn modelId="{4B67AA14-336D-44C8-8C56-422446B5A03B}" type="presOf" srcId="{906A66C9-4437-4B16-95FE-7772F3873826}" destId="{84D67F7D-3C9F-4225-B075-CF19CF0DA5D5}" srcOrd="0" destOrd="0" presId="urn:microsoft.com/office/officeart/2005/8/layout/vList2"/>
    <dgm:cxn modelId="{44F31336-F360-45FF-9048-746324CA5AAF}" type="presOf" srcId="{38E55069-9632-4449-8658-18A40974FCDC}" destId="{13A37209-88B9-444E-A2CB-BECC839935EE}" srcOrd="0" destOrd="0" presId="urn:microsoft.com/office/officeart/2005/8/layout/vList2"/>
    <dgm:cxn modelId="{CD1BB146-8898-453D-ACEA-42AB38FA67EF}" type="presOf" srcId="{807B321D-067F-4AFC-814A-024610CE92B9}" destId="{1207945C-98FA-476A-8130-0AF237C10A89}" srcOrd="0" destOrd="0" presId="urn:microsoft.com/office/officeart/2005/8/layout/vList2"/>
    <dgm:cxn modelId="{07DC5B5A-6AC7-413F-9893-3A0CFA7DF380}" srcId="{906A66C9-4437-4B16-95FE-7772F3873826}" destId="{38E55069-9632-4449-8658-18A40974FCDC}" srcOrd="0" destOrd="0" parTransId="{94877F06-A2CD-43BD-828B-1BE1B17BE613}" sibTransId="{31F252FE-23BD-4960-8745-8DE5AEB30A38}"/>
    <dgm:cxn modelId="{ECBD417A-0438-4523-A9DF-CBDD481EC567}" srcId="{87E80970-716C-49C5-AF3E-D0F0E10A0AA4}" destId="{451355E1-E372-4B65-B7B7-B689ADEA0469}" srcOrd="1" destOrd="0" parTransId="{744B5F5A-7A7A-4563-807A-E8C68FB33AEA}" sibTransId="{0D4D27F3-3033-4A2B-803D-296E0DBB4E01}"/>
    <dgm:cxn modelId="{0C9714B8-B4D8-4D11-A789-E912766F3DE1}" type="presOf" srcId="{451355E1-E372-4B65-B7B7-B689ADEA0469}" destId="{D938F092-6A4B-46D5-8920-3616DF47ADE0}" srcOrd="0" destOrd="0" presId="urn:microsoft.com/office/officeart/2005/8/layout/vList2"/>
    <dgm:cxn modelId="{4738D5F8-6207-4D82-93D4-C4C8E00EC11F}" srcId="{87E80970-716C-49C5-AF3E-D0F0E10A0AA4}" destId="{906A66C9-4437-4B16-95FE-7772F3873826}" srcOrd="0" destOrd="0" parTransId="{260BCE8A-1DCA-4FAD-A194-8A15F3DAA646}" sibTransId="{696EAA99-5926-4ED9-AB24-B3EFD4E7B279}"/>
    <dgm:cxn modelId="{39105FFA-2998-470B-9A9A-4A3205CBAAFB}" srcId="{451355E1-E372-4B65-B7B7-B689ADEA0469}" destId="{807B321D-067F-4AFC-814A-024610CE92B9}" srcOrd="0" destOrd="0" parTransId="{02C8EAD7-AE1E-446C-8114-0140B5614C17}" sibTransId="{24C08256-6965-4EB3-BA1D-57B041F2F66E}"/>
    <dgm:cxn modelId="{39DC2EB5-449C-483C-922E-E418FF43E5D6}" type="presParOf" srcId="{5BE50AFF-F236-452C-ADA4-54FCB4014439}" destId="{84D67F7D-3C9F-4225-B075-CF19CF0DA5D5}" srcOrd="0" destOrd="0" presId="urn:microsoft.com/office/officeart/2005/8/layout/vList2"/>
    <dgm:cxn modelId="{1F103004-CCA9-4ADA-84AF-88338144E484}" type="presParOf" srcId="{5BE50AFF-F236-452C-ADA4-54FCB4014439}" destId="{13A37209-88B9-444E-A2CB-BECC839935EE}" srcOrd="1" destOrd="0" presId="urn:microsoft.com/office/officeart/2005/8/layout/vList2"/>
    <dgm:cxn modelId="{02FA276F-BE65-4D19-8E88-1BE1A32393D1}" type="presParOf" srcId="{5BE50AFF-F236-452C-ADA4-54FCB4014439}" destId="{D938F092-6A4B-46D5-8920-3616DF47ADE0}" srcOrd="2" destOrd="0" presId="urn:microsoft.com/office/officeart/2005/8/layout/vList2"/>
    <dgm:cxn modelId="{69F87F3E-79ED-4660-972F-0BC165655422}" type="presParOf" srcId="{5BE50AFF-F236-452C-ADA4-54FCB4014439}" destId="{1207945C-98FA-476A-8130-0AF237C10A89}"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7E80970-716C-49C5-AF3E-D0F0E10A0AA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906A66C9-4437-4B16-95FE-7772F3873826}">
      <dgm:prSet phldrT="[Text]" phldr="0" custT="1"/>
      <dgm:spPr/>
      <dgm:t>
        <a:bodyPr/>
        <a:lstStyle/>
        <a:p>
          <a:r>
            <a:rPr lang="en-IN" sz="1600" dirty="0">
              <a:latin typeface="+mj-lt"/>
            </a:rPr>
            <a:t>August peak month</a:t>
          </a:r>
        </a:p>
      </dgm:t>
    </dgm:pt>
    <dgm:pt modelId="{260BCE8A-1DCA-4FAD-A194-8A15F3DAA646}" type="parTrans" cxnId="{4738D5F8-6207-4D82-93D4-C4C8E00EC11F}">
      <dgm:prSet/>
      <dgm:spPr/>
      <dgm:t>
        <a:bodyPr/>
        <a:lstStyle/>
        <a:p>
          <a:endParaRPr lang="en-IN"/>
        </a:p>
      </dgm:t>
    </dgm:pt>
    <dgm:pt modelId="{696EAA99-5926-4ED9-AB24-B3EFD4E7B279}" type="sibTrans" cxnId="{4738D5F8-6207-4D82-93D4-C4C8E00EC11F}">
      <dgm:prSet/>
      <dgm:spPr/>
      <dgm:t>
        <a:bodyPr/>
        <a:lstStyle/>
        <a:p>
          <a:endParaRPr lang="en-IN"/>
        </a:p>
      </dgm:t>
    </dgm:pt>
    <dgm:pt modelId="{38E55069-9632-4449-8658-18A40974FCDC}">
      <dgm:prSet phldrT="[Text]" phldr="0" custT="1"/>
      <dgm:spPr/>
      <dgm:t>
        <a:bodyPr/>
        <a:lstStyle/>
        <a:p>
          <a:r>
            <a:rPr lang="en-IN" sz="1600" dirty="0">
              <a:solidFill>
                <a:schemeClr val="bg1"/>
              </a:solidFill>
              <a:latin typeface="+mj-lt"/>
            </a:rPr>
            <a:t>Revenue peak in august in every year</a:t>
          </a:r>
        </a:p>
      </dgm:t>
    </dgm:pt>
    <dgm:pt modelId="{94877F06-A2CD-43BD-828B-1BE1B17BE613}" type="parTrans" cxnId="{07DC5B5A-6AC7-413F-9893-3A0CFA7DF380}">
      <dgm:prSet/>
      <dgm:spPr/>
      <dgm:t>
        <a:bodyPr/>
        <a:lstStyle/>
        <a:p>
          <a:endParaRPr lang="en-IN"/>
        </a:p>
      </dgm:t>
    </dgm:pt>
    <dgm:pt modelId="{31F252FE-23BD-4960-8745-8DE5AEB30A38}" type="sibTrans" cxnId="{07DC5B5A-6AC7-413F-9893-3A0CFA7DF380}">
      <dgm:prSet/>
      <dgm:spPr/>
      <dgm:t>
        <a:bodyPr/>
        <a:lstStyle/>
        <a:p>
          <a:endParaRPr lang="en-IN"/>
        </a:p>
      </dgm:t>
    </dgm:pt>
    <dgm:pt modelId="{1726EF44-6BC2-47E4-B556-93A27CE8E00D}">
      <dgm:prSet phldrT="[Text]" phldr="0"/>
      <dgm:spPr/>
      <dgm:t>
        <a:bodyPr/>
        <a:lstStyle/>
        <a:p>
          <a:endParaRPr lang="en-IN" sz="1400" dirty="0"/>
        </a:p>
      </dgm:t>
    </dgm:pt>
    <dgm:pt modelId="{104A0BF4-6B88-4030-AC12-D835CD2B90E0}" type="parTrans" cxnId="{03D88954-4952-4599-BC2E-D091A5502F86}">
      <dgm:prSet/>
      <dgm:spPr/>
      <dgm:t>
        <a:bodyPr/>
        <a:lstStyle/>
        <a:p>
          <a:endParaRPr lang="en-IN"/>
        </a:p>
      </dgm:t>
    </dgm:pt>
    <dgm:pt modelId="{D475DCD9-9F4E-4106-8B49-0F5C045813BA}" type="sibTrans" cxnId="{03D88954-4952-4599-BC2E-D091A5502F86}">
      <dgm:prSet/>
      <dgm:spPr/>
      <dgm:t>
        <a:bodyPr/>
        <a:lstStyle/>
        <a:p>
          <a:endParaRPr lang="en-IN"/>
        </a:p>
      </dgm:t>
    </dgm:pt>
    <dgm:pt modelId="{5BE50AFF-F236-452C-ADA4-54FCB4014439}" type="pres">
      <dgm:prSet presAssocID="{87E80970-716C-49C5-AF3E-D0F0E10A0AA4}" presName="linear" presStyleCnt="0">
        <dgm:presLayoutVars>
          <dgm:animLvl val="lvl"/>
          <dgm:resizeHandles val="exact"/>
        </dgm:presLayoutVars>
      </dgm:prSet>
      <dgm:spPr/>
    </dgm:pt>
    <dgm:pt modelId="{84D67F7D-3C9F-4225-B075-CF19CF0DA5D5}" type="pres">
      <dgm:prSet presAssocID="{906A66C9-4437-4B16-95FE-7772F3873826}" presName="parentText" presStyleLbl="node1" presStyleIdx="0" presStyleCnt="1" custScaleY="252306">
        <dgm:presLayoutVars>
          <dgm:chMax val="0"/>
          <dgm:bulletEnabled val="1"/>
        </dgm:presLayoutVars>
      </dgm:prSet>
      <dgm:spPr/>
    </dgm:pt>
    <dgm:pt modelId="{13A37209-88B9-444E-A2CB-BECC839935EE}" type="pres">
      <dgm:prSet presAssocID="{906A66C9-4437-4B16-95FE-7772F3873826}" presName="childText" presStyleLbl="revTx" presStyleIdx="0" presStyleCnt="1" custScaleY="250693">
        <dgm:presLayoutVars>
          <dgm:bulletEnabled val="1"/>
        </dgm:presLayoutVars>
      </dgm:prSet>
      <dgm:spPr/>
    </dgm:pt>
  </dgm:ptLst>
  <dgm:cxnLst>
    <dgm:cxn modelId="{67BC0A05-14A9-4CC7-9B47-29075A064340}" type="presOf" srcId="{87E80970-716C-49C5-AF3E-D0F0E10A0AA4}" destId="{5BE50AFF-F236-452C-ADA4-54FCB4014439}" srcOrd="0" destOrd="0" presId="urn:microsoft.com/office/officeart/2005/8/layout/vList2"/>
    <dgm:cxn modelId="{930B435D-D64A-47AB-A2A7-6C91393155C2}" type="presOf" srcId="{38E55069-9632-4449-8658-18A40974FCDC}" destId="{13A37209-88B9-444E-A2CB-BECC839935EE}" srcOrd="0" destOrd="0" presId="urn:microsoft.com/office/officeart/2005/8/layout/vList2"/>
    <dgm:cxn modelId="{03D88954-4952-4599-BC2E-D091A5502F86}" srcId="{906A66C9-4437-4B16-95FE-7772F3873826}" destId="{1726EF44-6BC2-47E4-B556-93A27CE8E00D}" srcOrd="1" destOrd="0" parTransId="{104A0BF4-6B88-4030-AC12-D835CD2B90E0}" sibTransId="{D475DCD9-9F4E-4106-8B49-0F5C045813BA}"/>
    <dgm:cxn modelId="{6DB13258-8F7B-4E33-ABA0-0773A0F1675F}" type="presOf" srcId="{906A66C9-4437-4B16-95FE-7772F3873826}" destId="{84D67F7D-3C9F-4225-B075-CF19CF0DA5D5}" srcOrd="0" destOrd="0" presId="urn:microsoft.com/office/officeart/2005/8/layout/vList2"/>
    <dgm:cxn modelId="{07DC5B5A-6AC7-413F-9893-3A0CFA7DF380}" srcId="{906A66C9-4437-4B16-95FE-7772F3873826}" destId="{38E55069-9632-4449-8658-18A40974FCDC}" srcOrd="0" destOrd="0" parTransId="{94877F06-A2CD-43BD-828B-1BE1B17BE613}" sibTransId="{31F252FE-23BD-4960-8745-8DE5AEB30A38}"/>
    <dgm:cxn modelId="{EA9DD5BD-02D7-4095-A064-22C63DD542A8}" type="presOf" srcId="{1726EF44-6BC2-47E4-B556-93A27CE8E00D}" destId="{13A37209-88B9-444E-A2CB-BECC839935EE}" srcOrd="0" destOrd="1" presId="urn:microsoft.com/office/officeart/2005/8/layout/vList2"/>
    <dgm:cxn modelId="{4738D5F8-6207-4D82-93D4-C4C8E00EC11F}" srcId="{87E80970-716C-49C5-AF3E-D0F0E10A0AA4}" destId="{906A66C9-4437-4B16-95FE-7772F3873826}" srcOrd="0" destOrd="0" parTransId="{260BCE8A-1DCA-4FAD-A194-8A15F3DAA646}" sibTransId="{696EAA99-5926-4ED9-AB24-B3EFD4E7B279}"/>
    <dgm:cxn modelId="{B52B0CA1-A47B-44A1-A755-54A5A7D4791C}" type="presParOf" srcId="{5BE50AFF-F236-452C-ADA4-54FCB4014439}" destId="{84D67F7D-3C9F-4225-B075-CF19CF0DA5D5}" srcOrd="0" destOrd="0" presId="urn:microsoft.com/office/officeart/2005/8/layout/vList2"/>
    <dgm:cxn modelId="{E7A1FEFB-54EB-4A4B-8BC6-0E2A3AEFF614}" type="presParOf" srcId="{5BE50AFF-F236-452C-ADA4-54FCB4014439}" destId="{13A37209-88B9-444E-A2CB-BECC839935EE}" srcOrd="1"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263B16-D742-4A69-987D-5C507096FD31}">
      <dsp:nvSpPr>
        <dsp:cNvPr id="0" name=""/>
        <dsp:cNvSpPr/>
      </dsp:nvSpPr>
      <dsp:spPr>
        <a:xfrm>
          <a:off x="0" y="3812"/>
          <a:ext cx="1642187" cy="542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Source</a:t>
          </a:r>
        </a:p>
      </dsp:txBody>
      <dsp:txXfrm>
        <a:off x="26501" y="30313"/>
        <a:ext cx="1589185" cy="4898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500A41-1CFB-41D3-BAB6-AAC9392CEDDA}">
      <dsp:nvSpPr>
        <dsp:cNvPr id="0" name=""/>
        <dsp:cNvSpPr/>
      </dsp:nvSpPr>
      <dsp:spPr>
        <a:xfrm rot="10800000">
          <a:off x="1834503" y="620"/>
          <a:ext cx="3282445" cy="79860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2162" tIns="68580" rIns="128016" bIns="6858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mj-lt"/>
            </a:rPr>
            <a:t>Hotel data (Fact table)</a:t>
          </a:r>
        </a:p>
      </dsp:txBody>
      <dsp:txXfrm rot="10800000">
        <a:off x="2034154" y="620"/>
        <a:ext cx="3082794" cy="798603"/>
      </dsp:txXfrm>
    </dsp:sp>
    <dsp:sp modelId="{755FC41F-B2AF-4BF2-BFA4-75FCF1346C0F}">
      <dsp:nvSpPr>
        <dsp:cNvPr id="0" name=""/>
        <dsp:cNvSpPr/>
      </dsp:nvSpPr>
      <dsp:spPr>
        <a:xfrm>
          <a:off x="1031924" y="620"/>
          <a:ext cx="798603" cy="798603"/>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CB09D5-B18F-4C76-B8F8-C647F55F517C}">
      <dsp:nvSpPr>
        <dsp:cNvPr id="0" name=""/>
        <dsp:cNvSpPr/>
      </dsp:nvSpPr>
      <dsp:spPr>
        <a:xfrm rot="10800000">
          <a:off x="1778504" y="1037612"/>
          <a:ext cx="3357110" cy="79860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2162" tIns="68580" rIns="128016" bIns="6858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mj-lt"/>
            </a:rPr>
            <a:t>Calander (Dimension table)</a:t>
          </a:r>
        </a:p>
      </dsp:txBody>
      <dsp:txXfrm rot="10800000">
        <a:off x="1978155" y="1037612"/>
        <a:ext cx="3157459" cy="798603"/>
      </dsp:txXfrm>
    </dsp:sp>
    <dsp:sp modelId="{EC652CB1-2E20-4AF9-9ABB-91169127A295}">
      <dsp:nvSpPr>
        <dsp:cNvPr id="0" name=""/>
        <dsp:cNvSpPr/>
      </dsp:nvSpPr>
      <dsp:spPr>
        <a:xfrm>
          <a:off x="1013258" y="1037612"/>
          <a:ext cx="798603" cy="798603"/>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46F2F8-CC27-4A4E-B42A-7CE5B9E92D24}">
      <dsp:nvSpPr>
        <dsp:cNvPr id="0" name=""/>
        <dsp:cNvSpPr/>
      </dsp:nvSpPr>
      <dsp:spPr>
        <a:xfrm rot="10800000">
          <a:off x="1764520" y="2074604"/>
          <a:ext cx="3375756" cy="79860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2162" tIns="68580" rIns="128016" bIns="6858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mj-lt"/>
            </a:rPr>
            <a:t>D3_measures (Measure table)</a:t>
          </a:r>
        </a:p>
      </dsp:txBody>
      <dsp:txXfrm rot="10800000">
        <a:off x="1964171" y="2074604"/>
        <a:ext cx="3176105" cy="798603"/>
      </dsp:txXfrm>
    </dsp:sp>
    <dsp:sp modelId="{AC600F14-FB4B-4CD4-A854-272235A6A771}">
      <dsp:nvSpPr>
        <dsp:cNvPr id="0" name=""/>
        <dsp:cNvSpPr/>
      </dsp:nvSpPr>
      <dsp:spPr>
        <a:xfrm>
          <a:off x="1008596" y="2074604"/>
          <a:ext cx="798603" cy="798603"/>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D67F7D-3C9F-4225-B075-CF19CF0DA5D5}">
      <dsp:nvSpPr>
        <dsp:cNvPr id="0" name=""/>
        <dsp:cNvSpPr/>
      </dsp:nvSpPr>
      <dsp:spPr>
        <a:xfrm>
          <a:off x="0" y="23174"/>
          <a:ext cx="3365063" cy="505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latin typeface="+mj-lt"/>
            </a:rPr>
            <a:t>Online TA dominates</a:t>
          </a:r>
        </a:p>
      </dsp:txBody>
      <dsp:txXfrm>
        <a:off x="24674" y="47848"/>
        <a:ext cx="3315715" cy="456092"/>
      </dsp:txXfrm>
    </dsp:sp>
    <dsp:sp modelId="{13A37209-88B9-444E-A2CB-BECC839935EE}">
      <dsp:nvSpPr>
        <dsp:cNvPr id="0" name=""/>
        <dsp:cNvSpPr/>
      </dsp:nvSpPr>
      <dsp:spPr>
        <a:xfrm>
          <a:off x="0" y="528614"/>
          <a:ext cx="3365063" cy="497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84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IN" sz="1600" kern="1200" dirty="0">
              <a:solidFill>
                <a:schemeClr val="bg1"/>
              </a:solidFill>
              <a:latin typeface="+mj-lt"/>
            </a:rPr>
            <a:t>Online TA has highest revenue</a:t>
          </a:r>
        </a:p>
      </dsp:txBody>
      <dsp:txXfrm>
        <a:off x="0" y="528614"/>
        <a:ext cx="3365063" cy="497465"/>
      </dsp:txXfrm>
    </dsp:sp>
    <dsp:sp modelId="{D938F092-6A4B-46D5-8920-3616DF47ADE0}">
      <dsp:nvSpPr>
        <dsp:cNvPr id="0" name=""/>
        <dsp:cNvSpPr/>
      </dsp:nvSpPr>
      <dsp:spPr>
        <a:xfrm>
          <a:off x="0" y="1026080"/>
          <a:ext cx="3365063" cy="505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latin typeface="+mj-lt"/>
            </a:rPr>
            <a:t>Transient – 74% revenue</a:t>
          </a:r>
        </a:p>
      </dsp:txBody>
      <dsp:txXfrm>
        <a:off x="24674" y="1050754"/>
        <a:ext cx="3315715" cy="456092"/>
      </dsp:txXfrm>
    </dsp:sp>
    <dsp:sp modelId="{1207945C-98FA-476A-8130-0AF237C10A89}">
      <dsp:nvSpPr>
        <dsp:cNvPr id="0" name=""/>
        <dsp:cNvSpPr/>
      </dsp:nvSpPr>
      <dsp:spPr>
        <a:xfrm>
          <a:off x="0" y="1531520"/>
          <a:ext cx="3365063" cy="684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84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IN" sz="1600" kern="1200" dirty="0">
              <a:solidFill>
                <a:schemeClr val="bg1"/>
              </a:solidFill>
              <a:latin typeface="+mj-lt"/>
            </a:rPr>
            <a:t>Transient customers covers three quarters of all hotel revenue</a:t>
          </a:r>
        </a:p>
      </dsp:txBody>
      <dsp:txXfrm>
        <a:off x="0" y="1531520"/>
        <a:ext cx="3365063" cy="6846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D67F7D-3C9F-4225-B075-CF19CF0DA5D5}">
      <dsp:nvSpPr>
        <dsp:cNvPr id="0" name=""/>
        <dsp:cNvSpPr/>
      </dsp:nvSpPr>
      <dsp:spPr>
        <a:xfrm>
          <a:off x="0" y="558"/>
          <a:ext cx="3365063" cy="542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latin typeface="+mj-lt"/>
            </a:rPr>
            <a:t>August peak month</a:t>
          </a:r>
        </a:p>
      </dsp:txBody>
      <dsp:txXfrm>
        <a:off x="26492" y="27050"/>
        <a:ext cx="3312079" cy="489701"/>
      </dsp:txXfrm>
    </dsp:sp>
    <dsp:sp modelId="{13A37209-88B9-444E-A2CB-BECC839935EE}">
      <dsp:nvSpPr>
        <dsp:cNvPr id="0" name=""/>
        <dsp:cNvSpPr/>
      </dsp:nvSpPr>
      <dsp:spPr>
        <a:xfrm>
          <a:off x="0" y="543244"/>
          <a:ext cx="3365063" cy="1297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84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IN" sz="1600" kern="1200" dirty="0">
              <a:solidFill>
                <a:schemeClr val="bg1"/>
              </a:solidFill>
              <a:latin typeface="+mj-lt"/>
            </a:rPr>
            <a:t>Revenue peak in august in every year</a:t>
          </a:r>
        </a:p>
        <a:p>
          <a:pPr marL="114300" lvl="1" indent="-114300" algn="l" defTabSz="622300">
            <a:lnSpc>
              <a:spcPct val="90000"/>
            </a:lnSpc>
            <a:spcBef>
              <a:spcPct val="0"/>
            </a:spcBef>
            <a:spcAft>
              <a:spcPct val="20000"/>
            </a:spcAft>
            <a:buChar char="•"/>
          </a:pPr>
          <a:endParaRPr lang="en-IN" sz="1400" kern="1200" dirty="0"/>
        </a:p>
      </dsp:txBody>
      <dsp:txXfrm>
        <a:off x="0" y="543244"/>
        <a:ext cx="3365063" cy="129743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3/7/2026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3/7/2026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sv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1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25.svg"/></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image" Target="../media/image26.png"/><Relationship Id="rId1" Type="http://schemas.openxmlformats.org/officeDocument/2006/relationships/slideLayout" Target="../slideLayouts/slideLayout14.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    </a:t>
            </a:r>
            <a:r>
              <a:rPr lang="en-US" dirty="0" err="1"/>
              <a:t>HotelRevAI</a:t>
            </a:r>
            <a:endParaRPr lang="en-US" dirty="0"/>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761488" y="3721608"/>
            <a:ext cx="7077456" cy="411853"/>
          </a:xfrm>
        </p:spPr>
        <p:txBody>
          <a:bodyPr/>
          <a:lstStyle/>
          <a:p>
            <a:pPr marL="0" indent="0">
              <a:buNone/>
            </a:pPr>
            <a:r>
              <a:rPr lang="en-US" dirty="0"/>
              <a:t>AI-Driven Revenue Analysis For Hotels</a:t>
            </a:r>
          </a:p>
        </p:txBody>
      </p:sp>
      <p:pic>
        <p:nvPicPr>
          <p:cNvPr id="5" name="Graphic 4" descr="Building with solid fill">
            <a:extLst>
              <a:ext uri="{FF2B5EF4-FFF2-40B4-BE49-F238E27FC236}">
                <a16:creationId xmlns:a16="http://schemas.microsoft.com/office/drawing/2014/main" id="{EE805B75-41A3-BB8B-3C92-DE600384DAC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23591" y="2644295"/>
            <a:ext cx="914400" cy="914400"/>
          </a:xfrm>
          <a:prstGeom prst="rect">
            <a:avLst/>
          </a:prstGeom>
        </p:spPr>
      </p:pic>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p:txBody>
          <a:bodyPr/>
          <a:lstStyle/>
          <a:p>
            <a:r>
              <a:rPr lang="en-US" dirty="0"/>
              <a:t>Agenda</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5" name="Text Placeholder 4">
            <a:extLst>
              <a:ext uri="{FF2B5EF4-FFF2-40B4-BE49-F238E27FC236}">
                <a16:creationId xmlns:a16="http://schemas.microsoft.com/office/drawing/2014/main" id="{0A95F4DE-39B7-4CE2-BC1E-8B8AE662A895}"/>
              </a:ext>
            </a:extLst>
          </p:cNvPr>
          <p:cNvSpPr>
            <a:spLocks noGrp="1"/>
          </p:cNvSpPr>
          <p:nvPr>
            <p:ph sz="half" idx="1"/>
          </p:nvPr>
        </p:nvSpPr>
        <p:spPr>
          <a:xfrm>
            <a:off x="443365" y="1517715"/>
            <a:ext cx="5184437" cy="4659248"/>
          </a:xfrm>
        </p:spPr>
        <p:txBody>
          <a:bodyPr/>
          <a:lstStyle/>
          <a:p>
            <a:pPr>
              <a:buFont typeface="+mj-lt"/>
              <a:buAutoNum type="arabicPeriod"/>
            </a:pPr>
            <a:r>
              <a:rPr lang="en-US" dirty="0">
                <a:latin typeface="+mj-lt"/>
              </a:rPr>
              <a:t>Project Overview</a:t>
            </a:r>
          </a:p>
          <a:p>
            <a:pPr>
              <a:buFont typeface="+mj-lt"/>
              <a:buAutoNum type="arabicPeriod"/>
            </a:pPr>
            <a:r>
              <a:rPr lang="en-US" dirty="0">
                <a:latin typeface="+mj-lt"/>
              </a:rPr>
              <a:t>Data Loading &amp; Cleaning</a:t>
            </a:r>
          </a:p>
          <a:p>
            <a:pPr>
              <a:buFont typeface="+mj-lt"/>
              <a:buAutoNum type="arabicPeriod"/>
            </a:pPr>
            <a:r>
              <a:rPr lang="en-US" dirty="0">
                <a:latin typeface="+mj-lt"/>
              </a:rPr>
              <a:t>Data Modelling</a:t>
            </a:r>
          </a:p>
          <a:p>
            <a:pPr>
              <a:buFont typeface="+mj-lt"/>
              <a:buAutoNum type="arabicPeriod"/>
            </a:pPr>
            <a:r>
              <a:rPr lang="en-US" dirty="0">
                <a:latin typeface="+mj-lt"/>
              </a:rPr>
              <a:t>DAX Measure Library</a:t>
            </a:r>
          </a:p>
          <a:p>
            <a:pPr>
              <a:buFont typeface="+mj-lt"/>
              <a:buAutoNum type="arabicPeriod"/>
            </a:pPr>
            <a:r>
              <a:rPr lang="en-US" dirty="0">
                <a:latin typeface="+mj-lt"/>
              </a:rPr>
              <a:t>Revenue Performance</a:t>
            </a:r>
          </a:p>
          <a:p>
            <a:pPr marL="0" indent="0">
              <a:buNone/>
            </a:pPr>
            <a:endParaRPr lang="en-US" dirty="0">
              <a:latin typeface="+mj-lt"/>
            </a:endParaRPr>
          </a:p>
        </p:txBody>
      </p:sp>
      <p:sp>
        <p:nvSpPr>
          <p:cNvPr id="3" name="Content Placeholder 2">
            <a:extLst>
              <a:ext uri="{FF2B5EF4-FFF2-40B4-BE49-F238E27FC236}">
                <a16:creationId xmlns:a16="http://schemas.microsoft.com/office/drawing/2014/main" id="{B39D905D-2256-C834-803D-EA4064405C32}"/>
              </a:ext>
            </a:extLst>
          </p:cNvPr>
          <p:cNvSpPr>
            <a:spLocks noGrp="1"/>
          </p:cNvSpPr>
          <p:nvPr>
            <p:ph sz="half" idx="2"/>
          </p:nvPr>
        </p:nvSpPr>
        <p:spPr/>
        <p:txBody>
          <a:bodyPr/>
          <a:lstStyle/>
          <a:p>
            <a:pPr marL="457200" indent="-457200">
              <a:buFont typeface="+mj-lt"/>
              <a:buAutoNum type="arabicPeriod" startAt="6"/>
            </a:pPr>
            <a:r>
              <a:rPr lang="en-IN" dirty="0">
                <a:latin typeface="+mj-lt"/>
              </a:rPr>
              <a:t>Customer &amp; Booking Behaviour</a:t>
            </a:r>
          </a:p>
          <a:p>
            <a:pPr marL="457200" indent="-457200">
              <a:buFont typeface="+mj-lt"/>
              <a:buAutoNum type="arabicPeriod" startAt="6"/>
            </a:pPr>
            <a:r>
              <a:rPr lang="en-IN" dirty="0">
                <a:latin typeface="+mj-lt"/>
              </a:rPr>
              <a:t>Revenue Optimization</a:t>
            </a:r>
          </a:p>
          <a:p>
            <a:pPr marL="457200" indent="-457200">
              <a:buFont typeface="+mj-lt"/>
              <a:buAutoNum type="arabicPeriod" startAt="6"/>
            </a:pPr>
            <a:r>
              <a:rPr lang="en-IN" dirty="0">
                <a:latin typeface="+mj-lt"/>
              </a:rPr>
              <a:t>Seasonality &amp; Stay Pattern</a:t>
            </a:r>
          </a:p>
          <a:p>
            <a:pPr marL="457200" indent="-457200">
              <a:buFont typeface="+mj-lt"/>
              <a:buAutoNum type="arabicPeriod" startAt="6"/>
            </a:pPr>
            <a:r>
              <a:rPr lang="en-IN" dirty="0">
                <a:latin typeface="+mj-lt"/>
              </a:rPr>
              <a:t>Key Findings</a:t>
            </a:r>
          </a:p>
          <a:p>
            <a:pPr marL="457200" indent="-457200">
              <a:buFont typeface="+mj-lt"/>
              <a:buAutoNum type="arabicPeriod" startAt="6"/>
            </a:pPr>
            <a:r>
              <a:rPr lang="en-IN" dirty="0">
                <a:latin typeface="+mj-lt"/>
              </a:rPr>
              <a:t>Conclusion &amp; Next Steps</a:t>
            </a: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p:txBody>
          <a:bodyPr/>
          <a:lstStyle/>
          <a:p>
            <a:r>
              <a:rPr lang="en-US" dirty="0"/>
              <a:t>Project Overview</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9" name="Content Placeholder 8">
            <a:extLst>
              <a:ext uri="{FF2B5EF4-FFF2-40B4-BE49-F238E27FC236}">
                <a16:creationId xmlns:a16="http://schemas.microsoft.com/office/drawing/2014/main" id="{4BD470F4-3AC2-D630-6D4B-901788EC2523}"/>
              </a:ext>
            </a:extLst>
          </p:cNvPr>
          <p:cNvSpPr>
            <a:spLocks noGrp="1"/>
          </p:cNvSpPr>
          <p:nvPr>
            <p:ph sz="half" idx="1"/>
          </p:nvPr>
        </p:nvSpPr>
        <p:spPr>
          <a:xfrm>
            <a:off x="450868" y="1517715"/>
            <a:ext cx="5274473" cy="4659248"/>
          </a:xfrm>
        </p:spPr>
        <p:txBody>
          <a:bodyPr>
            <a:normAutofit/>
          </a:bodyPr>
          <a:lstStyle/>
          <a:p>
            <a:pPr marL="0" indent="0" algn="ctr">
              <a:buNone/>
            </a:pPr>
            <a:r>
              <a:rPr lang="en-IN" b="1" dirty="0">
                <a:solidFill>
                  <a:schemeClr val="accent1">
                    <a:lumMod val="20000"/>
                    <a:lumOff val="80000"/>
                  </a:schemeClr>
                </a:solidFill>
                <a:latin typeface="+mj-lt"/>
              </a:rPr>
              <a:t>Problem Statement</a:t>
            </a:r>
          </a:p>
        </p:txBody>
      </p:sp>
      <p:sp>
        <p:nvSpPr>
          <p:cNvPr id="10" name="Content Placeholder 9">
            <a:extLst>
              <a:ext uri="{FF2B5EF4-FFF2-40B4-BE49-F238E27FC236}">
                <a16:creationId xmlns:a16="http://schemas.microsoft.com/office/drawing/2014/main" id="{5F7BB096-C207-05D2-AB0F-6BB7EDE9392E}"/>
              </a:ext>
            </a:extLst>
          </p:cNvPr>
          <p:cNvSpPr>
            <a:spLocks noGrp="1"/>
          </p:cNvSpPr>
          <p:nvPr>
            <p:ph sz="half" idx="2"/>
          </p:nvPr>
        </p:nvSpPr>
        <p:spPr>
          <a:xfrm>
            <a:off x="6474163" y="1517715"/>
            <a:ext cx="5184437" cy="4659248"/>
          </a:xfrm>
        </p:spPr>
        <p:txBody>
          <a:bodyPr/>
          <a:lstStyle/>
          <a:p>
            <a:pPr marL="0" indent="0">
              <a:spcBef>
                <a:spcPts val="0"/>
              </a:spcBef>
              <a:buNone/>
            </a:pPr>
            <a:r>
              <a:rPr lang="en-IN" b="1" dirty="0">
                <a:solidFill>
                  <a:schemeClr val="accent1">
                    <a:lumMod val="20000"/>
                    <a:lumOff val="80000"/>
                  </a:schemeClr>
                </a:solidFill>
                <a:latin typeface="+mj-lt"/>
              </a:rPr>
              <a:t>        Dataset at a Glance</a:t>
            </a:r>
          </a:p>
          <a:p>
            <a:pPr marL="0" indent="0">
              <a:spcBef>
                <a:spcPts val="0"/>
              </a:spcBef>
              <a:buNone/>
            </a:pPr>
            <a:endParaRPr lang="en-IN" sz="1600" b="1" dirty="0">
              <a:solidFill>
                <a:schemeClr val="accent1">
                  <a:lumMod val="20000"/>
                  <a:lumOff val="80000"/>
                </a:schemeClr>
              </a:solidFill>
              <a:latin typeface="+mj-lt"/>
            </a:endParaRPr>
          </a:p>
          <a:p>
            <a:pPr marL="0" indent="0">
              <a:spcBef>
                <a:spcPts val="0"/>
              </a:spcBef>
              <a:buNone/>
            </a:pPr>
            <a:endParaRPr lang="en-IN" sz="1600" b="1" dirty="0">
              <a:latin typeface="+mj-lt"/>
            </a:endParaRPr>
          </a:p>
        </p:txBody>
      </p:sp>
      <p:sp>
        <p:nvSpPr>
          <p:cNvPr id="7" name="TextBox 6">
            <a:extLst>
              <a:ext uri="{FF2B5EF4-FFF2-40B4-BE49-F238E27FC236}">
                <a16:creationId xmlns:a16="http://schemas.microsoft.com/office/drawing/2014/main" id="{AA3EB7EE-671B-A81B-9A57-2143B77E7A2C}"/>
              </a:ext>
            </a:extLst>
          </p:cNvPr>
          <p:cNvSpPr txBox="1"/>
          <p:nvPr/>
        </p:nvSpPr>
        <p:spPr>
          <a:xfrm>
            <a:off x="450869" y="2074394"/>
            <a:ext cx="5274472" cy="1323439"/>
          </a:xfrm>
          <a:prstGeom prst="rect">
            <a:avLst/>
          </a:prstGeom>
          <a:noFill/>
        </p:spPr>
        <p:txBody>
          <a:bodyPr wrap="square" rtlCol="0">
            <a:spAutoFit/>
          </a:bodyPr>
          <a:lstStyle/>
          <a:p>
            <a:pPr algn="just"/>
            <a:r>
              <a:rPr lang="en-IN" sz="1600" dirty="0">
                <a:solidFill>
                  <a:schemeClr val="bg1">
                    <a:lumMod val="95000"/>
                  </a:schemeClr>
                </a:solidFill>
                <a:latin typeface="+mj-lt"/>
              </a:rPr>
              <a:t>Hotels generate massive amount of raw booking data daily yet struggle to extract strategic insights. Without Proper Visualisation it is difficult to identify peak seasons, understand channel performance or develop targeted customer analysis.</a:t>
            </a:r>
          </a:p>
        </p:txBody>
      </p:sp>
      <p:sp>
        <p:nvSpPr>
          <p:cNvPr id="8" name="TextBox 7">
            <a:extLst>
              <a:ext uri="{FF2B5EF4-FFF2-40B4-BE49-F238E27FC236}">
                <a16:creationId xmlns:a16="http://schemas.microsoft.com/office/drawing/2014/main" id="{827F7072-A7E7-E475-5EC6-062128F4DD00}"/>
              </a:ext>
            </a:extLst>
          </p:cNvPr>
          <p:cNvSpPr txBox="1"/>
          <p:nvPr/>
        </p:nvSpPr>
        <p:spPr>
          <a:xfrm>
            <a:off x="443365" y="3663326"/>
            <a:ext cx="5274473" cy="2523768"/>
          </a:xfrm>
          <a:prstGeom prst="rect">
            <a:avLst/>
          </a:prstGeom>
          <a:noFill/>
        </p:spPr>
        <p:txBody>
          <a:bodyPr wrap="square" rtlCol="0">
            <a:spAutoFit/>
          </a:bodyPr>
          <a:lstStyle/>
          <a:p>
            <a:pPr algn="ctr"/>
            <a:r>
              <a:rPr lang="en-IN" sz="2000" b="1" dirty="0">
                <a:solidFill>
                  <a:schemeClr val="accent1">
                    <a:lumMod val="20000"/>
                    <a:lumOff val="80000"/>
                  </a:schemeClr>
                </a:solidFill>
                <a:latin typeface="+mj-lt"/>
              </a:rPr>
              <a:t>Objectives</a:t>
            </a:r>
          </a:p>
          <a:p>
            <a:pPr marL="285750" lvl="0" indent="-285750" algn="just">
              <a:spcBef>
                <a:spcPts val="1200"/>
              </a:spcBef>
              <a:buFont typeface="Arial" panose="020B0604020202020204" pitchFamily="34" charset="0"/>
              <a:buChar char="•"/>
            </a:pPr>
            <a:r>
              <a:rPr lang="en-IN" sz="1600" dirty="0">
                <a:solidFill>
                  <a:schemeClr val="bg1"/>
                </a:solidFill>
                <a:latin typeface="+mj-lt"/>
              </a:rPr>
              <a:t>Analyse revenue performance &amp; growth trends.</a:t>
            </a:r>
          </a:p>
          <a:p>
            <a:pPr marL="285750" lvl="0" indent="-285750" algn="just">
              <a:buFont typeface="Arial" panose="020B0604020202020204" pitchFamily="34" charset="0"/>
              <a:buChar char="•"/>
            </a:pPr>
            <a:r>
              <a:rPr lang="en-IN" sz="1600" dirty="0">
                <a:solidFill>
                  <a:schemeClr val="bg1"/>
                </a:solidFill>
                <a:latin typeface="+mj-lt"/>
              </a:rPr>
              <a:t>Evaluate ADR, cancellation rate, total bookings, and guest counts.</a:t>
            </a:r>
          </a:p>
          <a:p>
            <a:pPr marL="285750" lvl="0" indent="-285750" algn="just">
              <a:buFont typeface="Arial" panose="020B0604020202020204" pitchFamily="34" charset="0"/>
              <a:buChar char="•"/>
            </a:pPr>
            <a:r>
              <a:rPr lang="en-IN" sz="1600" dirty="0">
                <a:solidFill>
                  <a:schemeClr val="bg1"/>
                </a:solidFill>
                <a:latin typeface="+mj-lt"/>
              </a:rPr>
              <a:t>Analyse customer behaviour and booking patterns.</a:t>
            </a:r>
          </a:p>
          <a:p>
            <a:pPr marL="285750" lvl="0" indent="-285750" algn="just">
              <a:buFont typeface="Arial" panose="020B0604020202020204" pitchFamily="34" charset="0"/>
              <a:buChar char="•"/>
            </a:pPr>
            <a:r>
              <a:rPr lang="en-IN" sz="1600" dirty="0">
                <a:solidFill>
                  <a:schemeClr val="bg1"/>
                </a:solidFill>
                <a:latin typeface="+mj-lt"/>
              </a:rPr>
              <a:t>Create 4 interactive Power BI dashboards with dynamic filtering.</a:t>
            </a:r>
          </a:p>
          <a:p>
            <a:pPr marL="285750" lvl="0" indent="-285750" algn="just">
              <a:buFont typeface="Arial" panose="020B0604020202020204" pitchFamily="34" charset="0"/>
              <a:buChar char="•"/>
            </a:pPr>
            <a:r>
              <a:rPr lang="en-IN" sz="1600" dirty="0">
                <a:solidFill>
                  <a:schemeClr val="bg1"/>
                </a:solidFill>
                <a:latin typeface="+mj-lt"/>
              </a:rPr>
              <a:t>Enable data-driven hotel management decisions.</a:t>
            </a:r>
          </a:p>
          <a:p>
            <a:pPr algn="ctr"/>
            <a:endParaRPr lang="en-IN" sz="1600" dirty="0">
              <a:solidFill>
                <a:schemeClr val="bg1"/>
              </a:solidFill>
              <a:latin typeface="+mj-lt"/>
            </a:endParaRPr>
          </a:p>
        </p:txBody>
      </p:sp>
      <p:pic>
        <p:nvPicPr>
          <p:cNvPr id="12" name="Graphic 11" descr="Database with solid fill">
            <a:extLst>
              <a:ext uri="{FF2B5EF4-FFF2-40B4-BE49-F238E27FC236}">
                <a16:creationId xmlns:a16="http://schemas.microsoft.com/office/drawing/2014/main" id="{71E2E3F1-7E96-65E6-BB6F-B10ADE55A7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7413" y="1394579"/>
            <a:ext cx="550506" cy="550506"/>
          </a:xfrm>
          <a:prstGeom prst="rect">
            <a:avLst/>
          </a:prstGeom>
        </p:spPr>
      </p:pic>
      <p:graphicFrame>
        <p:nvGraphicFramePr>
          <p:cNvPr id="16" name="Diagram 15">
            <a:extLst>
              <a:ext uri="{FF2B5EF4-FFF2-40B4-BE49-F238E27FC236}">
                <a16:creationId xmlns:a16="http://schemas.microsoft.com/office/drawing/2014/main" id="{C110EFB9-EA04-BE94-33FE-61B942ED9658}"/>
              </a:ext>
            </a:extLst>
          </p:cNvPr>
          <p:cNvGraphicFramePr/>
          <p:nvPr>
            <p:extLst>
              <p:ext uri="{D42A27DB-BD31-4B8C-83A1-F6EECF244321}">
                <p14:modId xmlns:p14="http://schemas.microsoft.com/office/powerpoint/2010/main" val="2851830358"/>
              </p:ext>
            </p:extLst>
          </p:nvPr>
        </p:nvGraphicFramePr>
        <p:xfrm>
          <a:off x="6687391" y="2147516"/>
          <a:ext cx="1642187" cy="5505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9" name="Group 18">
            <a:extLst>
              <a:ext uri="{FF2B5EF4-FFF2-40B4-BE49-F238E27FC236}">
                <a16:creationId xmlns:a16="http://schemas.microsoft.com/office/drawing/2014/main" id="{7D07CC1E-6ADD-CE62-C5DE-DC5B04EB1886}"/>
              </a:ext>
            </a:extLst>
          </p:cNvPr>
          <p:cNvGrpSpPr/>
          <p:nvPr/>
        </p:nvGrpSpPr>
        <p:grpSpPr>
          <a:xfrm>
            <a:off x="6687391" y="2880827"/>
            <a:ext cx="1642187" cy="491399"/>
            <a:chOff x="0" y="29553"/>
            <a:chExt cx="1082351" cy="491399"/>
          </a:xfrm>
        </p:grpSpPr>
        <p:sp>
          <p:nvSpPr>
            <p:cNvPr id="20" name="Rectangle: Rounded Corners 19">
              <a:extLst>
                <a:ext uri="{FF2B5EF4-FFF2-40B4-BE49-F238E27FC236}">
                  <a16:creationId xmlns:a16="http://schemas.microsoft.com/office/drawing/2014/main" id="{0157B161-9B88-B8BA-04FC-77E0EF5E9B23}"/>
                </a:ext>
              </a:extLst>
            </p:cNvPr>
            <p:cNvSpPr/>
            <p:nvPr/>
          </p:nvSpPr>
          <p:spPr>
            <a:xfrm>
              <a:off x="0" y="29553"/>
              <a:ext cx="1082351" cy="49139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Rectangle: Rounded Corners 4">
              <a:extLst>
                <a:ext uri="{FF2B5EF4-FFF2-40B4-BE49-F238E27FC236}">
                  <a16:creationId xmlns:a16="http://schemas.microsoft.com/office/drawing/2014/main" id="{EB263A35-7A0A-26C4-D456-758D725439D4}"/>
                </a:ext>
              </a:extLst>
            </p:cNvPr>
            <p:cNvSpPr txBox="1"/>
            <p:nvPr/>
          </p:nvSpPr>
          <p:spPr>
            <a:xfrm>
              <a:off x="23988" y="53541"/>
              <a:ext cx="1034375" cy="44342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dirty="0"/>
                <a:t>Hotel Types</a:t>
              </a:r>
              <a:endParaRPr lang="en-IN" kern="1200" dirty="0"/>
            </a:p>
          </p:txBody>
        </p:sp>
      </p:grpSp>
      <p:grpSp>
        <p:nvGrpSpPr>
          <p:cNvPr id="22" name="Group 21">
            <a:extLst>
              <a:ext uri="{FF2B5EF4-FFF2-40B4-BE49-F238E27FC236}">
                <a16:creationId xmlns:a16="http://schemas.microsoft.com/office/drawing/2014/main" id="{D5FEDD43-B55F-91C8-BA0C-A50D4CF91621}"/>
              </a:ext>
            </a:extLst>
          </p:cNvPr>
          <p:cNvGrpSpPr/>
          <p:nvPr/>
        </p:nvGrpSpPr>
        <p:grpSpPr>
          <a:xfrm>
            <a:off x="6687391" y="3614321"/>
            <a:ext cx="1642187" cy="491399"/>
            <a:chOff x="0" y="29553"/>
            <a:chExt cx="1082351" cy="491399"/>
          </a:xfrm>
        </p:grpSpPr>
        <p:sp>
          <p:nvSpPr>
            <p:cNvPr id="23" name="Rectangle: Rounded Corners 22">
              <a:extLst>
                <a:ext uri="{FF2B5EF4-FFF2-40B4-BE49-F238E27FC236}">
                  <a16:creationId xmlns:a16="http://schemas.microsoft.com/office/drawing/2014/main" id="{32CAA217-6B89-41DA-0E8D-85DBAA332EE0}"/>
                </a:ext>
              </a:extLst>
            </p:cNvPr>
            <p:cNvSpPr/>
            <p:nvPr/>
          </p:nvSpPr>
          <p:spPr>
            <a:xfrm>
              <a:off x="0" y="29553"/>
              <a:ext cx="1082351" cy="49139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4" name="Rectangle: Rounded Corners 4">
              <a:extLst>
                <a:ext uri="{FF2B5EF4-FFF2-40B4-BE49-F238E27FC236}">
                  <a16:creationId xmlns:a16="http://schemas.microsoft.com/office/drawing/2014/main" id="{6D8DC5D1-B886-D8AC-BE53-87D3598DF1B8}"/>
                </a:ext>
              </a:extLst>
            </p:cNvPr>
            <p:cNvSpPr txBox="1"/>
            <p:nvPr/>
          </p:nvSpPr>
          <p:spPr>
            <a:xfrm>
              <a:off x="23988" y="53541"/>
              <a:ext cx="1034375" cy="44342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dirty="0"/>
                <a:t>Records</a:t>
              </a:r>
              <a:endParaRPr lang="en-IN" kern="1200" dirty="0"/>
            </a:p>
          </p:txBody>
        </p:sp>
      </p:grpSp>
      <p:grpSp>
        <p:nvGrpSpPr>
          <p:cNvPr id="25" name="Group 24">
            <a:extLst>
              <a:ext uri="{FF2B5EF4-FFF2-40B4-BE49-F238E27FC236}">
                <a16:creationId xmlns:a16="http://schemas.microsoft.com/office/drawing/2014/main" id="{A3CEF658-949E-1A4B-EFC4-A646823BA94F}"/>
              </a:ext>
            </a:extLst>
          </p:cNvPr>
          <p:cNvGrpSpPr/>
          <p:nvPr/>
        </p:nvGrpSpPr>
        <p:grpSpPr>
          <a:xfrm>
            <a:off x="6687391" y="4259969"/>
            <a:ext cx="1642187" cy="491399"/>
            <a:chOff x="0" y="29553"/>
            <a:chExt cx="1082351" cy="491399"/>
          </a:xfrm>
        </p:grpSpPr>
        <p:sp>
          <p:nvSpPr>
            <p:cNvPr id="26" name="Rectangle: Rounded Corners 25">
              <a:extLst>
                <a:ext uri="{FF2B5EF4-FFF2-40B4-BE49-F238E27FC236}">
                  <a16:creationId xmlns:a16="http://schemas.microsoft.com/office/drawing/2014/main" id="{3DFC5B0E-F708-0D6A-6D64-88FC6EBA4A82}"/>
                </a:ext>
              </a:extLst>
            </p:cNvPr>
            <p:cNvSpPr/>
            <p:nvPr/>
          </p:nvSpPr>
          <p:spPr>
            <a:xfrm>
              <a:off x="0" y="29553"/>
              <a:ext cx="1082351" cy="49139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7" name="Rectangle: Rounded Corners 4">
              <a:extLst>
                <a:ext uri="{FF2B5EF4-FFF2-40B4-BE49-F238E27FC236}">
                  <a16:creationId xmlns:a16="http://schemas.microsoft.com/office/drawing/2014/main" id="{C4E78EFB-A95C-6F4A-0337-6110B15111C5}"/>
                </a:ext>
              </a:extLst>
            </p:cNvPr>
            <p:cNvSpPr txBox="1"/>
            <p:nvPr/>
          </p:nvSpPr>
          <p:spPr>
            <a:xfrm>
              <a:off x="37072" y="70320"/>
              <a:ext cx="1034375" cy="44342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dirty="0"/>
                <a:t>Period</a:t>
              </a:r>
              <a:endParaRPr lang="en-IN" kern="1200" dirty="0"/>
            </a:p>
          </p:txBody>
        </p:sp>
      </p:grpSp>
      <p:grpSp>
        <p:nvGrpSpPr>
          <p:cNvPr id="28" name="Group 27">
            <a:extLst>
              <a:ext uri="{FF2B5EF4-FFF2-40B4-BE49-F238E27FC236}">
                <a16:creationId xmlns:a16="http://schemas.microsoft.com/office/drawing/2014/main" id="{DDE46519-D68C-4657-C9ED-969744181AB5}"/>
              </a:ext>
            </a:extLst>
          </p:cNvPr>
          <p:cNvGrpSpPr/>
          <p:nvPr/>
        </p:nvGrpSpPr>
        <p:grpSpPr>
          <a:xfrm>
            <a:off x="6687391" y="4944927"/>
            <a:ext cx="1642186" cy="491399"/>
            <a:chOff x="0" y="29553"/>
            <a:chExt cx="1082351" cy="491399"/>
          </a:xfrm>
        </p:grpSpPr>
        <p:sp>
          <p:nvSpPr>
            <p:cNvPr id="29" name="Rectangle: Rounded Corners 28">
              <a:extLst>
                <a:ext uri="{FF2B5EF4-FFF2-40B4-BE49-F238E27FC236}">
                  <a16:creationId xmlns:a16="http://schemas.microsoft.com/office/drawing/2014/main" id="{7A9F091A-CA89-5498-015B-430C7B80868F}"/>
                </a:ext>
              </a:extLst>
            </p:cNvPr>
            <p:cNvSpPr/>
            <p:nvPr/>
          </p:nvSpPr>
          <p:spPr>
            <a:xfrm>
              <a:off x="0" y="29553"/>
              <a:ext cx="1082351" cy="49139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0" name="Rectangle: Rounded Corners 4">
              <a:extLst>
                <a:ext uri="{FF2B5EF4-FFF2-40B4-BE49-F238E27FC236}">
                  <a16:creationId xmlns:a16="http://schemas.microsoft.com/office/drawing/2014/main" id="{5AECEB2E-C5E5-3901-D3B5-3D65C2759723}"/>
                </a:ext>
              </a:extLst>
            </p:cNvPr>
            <p:cNvSpPr txBox="1"/>
            <p:nvPr/>
          </p:nvSpPr>
          <p:spPr>
            <a:xfrm>
              <a:off x="23988" y="53541"/>
              <a:ext cx="1034375" cy="44342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kern="1200" dirty="0"/>
                <a:t>Key fields</a:t>
              </a:r>
            </a:p>
          </p:txBody>
        </p:sp>
      </p:grpSp>
      <p:sp>
        <p:nvSpPr>
          <p:cNvPr id="34" name="TextBox 33">
            <a:extLst>
              <a:ext uri="{FF2B5EF4-FFF2-40B4-BE49-F238E27FC236}">
                <a16:creationId xmlns:a16="http://schemas.microsoft.com/office/drawing/2014/main" id="{3F190800-3671-84D2-7A09-2C3E7B96863E}"/>
              </a:ext>
            </a:extLst>
          </p:cNvPr>
          <p:cNvSpPr txBox="1"/>
          <p:nvPr/>
        </p:nvSpPr>
        <p:spPr>
          <a:xfrm>
            <a:off x="8444204" y="2147517"/>
            <a:ext cx="3214395" cy="523220"/>
          </a:xfrm>
          <a:prstGeom prst="rect">
            <a:avLst/>
          </a:prstGeom>
          <a:noFill/>
        </p:spPr>
        <p:txBody>
          <a:bodyPr wrap="square" rtlCol="0">
            <a:spAutoFit/>
          </a:bodyPr>
          <a:lstStyle/>
          <a:p>
            <a:r>
              <a:rPr lang="en-IN" sz="1400" dirty="0">
                <a:solidFill>
                  <a:schemeClr val="bg1"/>
                </a:solidFill>
                <a:latin typeface="+mj-lt"/>
              </a:rPr>
              <a:t>Kaggle – Hotel booking demand Dataset</a:t>
            </a:r>
          </a:p>
        </p:txBody>
      </p:sp>
      <p:sp>
        <p:nvSpPr>
          <p:cNvPr id="38" name="TextBox 37">
            <a:extLst>
              <a:ext uri="{FF2B5EF4-FFF2-40B4-BE49-F238E27FC236}">
                <a16:creationId xmlns:a16="http://schemas.microsoft.com/office/drawing/2014/main" id="{CAF9863E-D002-C8CA-B335-1A3F133B2A4E}"/>
              </a:ext>
            </a:extLst>
          </p:cNvPr>
          <p:cNvSpPr txBox="1"/>
          <p:nvPr/>
        </p:nvSpPr>
        <p:spPr>
          <a:xfrm>
            <a:off x="8444203" y="2972637"/>
            <a:ext cx="3214395" cy="307777"/>
          </a:xfrm>
          <a:prstGeom prst="rect">
            <a:avLst/>
          </a:prstGeom>
          <a:noFill/>
        </p:spPr>
        <p:txBody>
          <a:bodyPr wrap="square" rtlCol="0">
            <a:spAutoFit/>
          </a:bodyPr>
          <a:lstStyle/>
          <a:p>
            <a:r>
              <a:rPr lang="en-IN" sz="1400" dirty="0">
                <a:solidFill>
                  <a:schemeClr val="bg1"/>
                </a:solidFill>
                <a:latin typeface="+mj-lt"/>
              </a:rPr>
              <a:t>City hotel &amp; Resort hotel</a:t>
            </a:r>
          </a:p>
        </p:txBody>
      </p:sp>
      <p:sp>
        <p:nvSpPr>
          <p:cNvPr id="39" name="TextBox 38">
            <a:extLst>
              <a:ext uri="{FF2B5EF4-FFF2-40B4-BE49-F238E27FC236}">
                <a16:creationId xmlns:a16="http://schemas.microsoft.com/office/drawing/2014/main" id="{72025334-9104-3276-B7E7-9CA9C5FF51F6}"/>
              </a:ext>
            </a:extLst>
          </p:cNvPr>
          <p:cNvSpPr txBox="1"/>
          <p:nvPr/>
        </p:nvSpPr>
        <p:spPr>
          <a:xfrm>
            <a:off x="8444204" y="3706131"/>
            <a:ext cx="3312998" cy="307777"/>
          </a:xfrm>
          <a:prstGeom prst="rect">
            <a:avLst/>
          </a:prstGeom>
          <a:noFill/>
        </p:spPr>
        <p:txBody>
          <a:bodyPr wrap="square" rtlCol="0">
            <a:spAutoFit/>
          </a:bodyPr>
          <a:lstStyle/>
          <a:p>
            <a:r>
              <a:rPr lang="en-IN" sz="1400" dirty="0">
                <a:solidFill>
                  <a:schemeClr val="bg1"/>
                </a:solidFill>
                <a:latin typeface="+mj-lt"/>
              </a:rPr>
              <a:t>75,000+ booking records</a:t>
            </a:r>
          </a:p>
        </p:txBody>
      </p:sp>
      <p:sp>
        <p:nvSpPr>
          <p:cNvPr id="40" name="TextBox 39">
            <a:extLst>
              <a:ext uri="{FF2B5EF4-FFF2-40B4-BE49-F238E27FC236}">
                <a16:creationId xmlns:a16="http://schemas.microsoft.com/office/drawing/2014/main" id="{AEE4EB3F-F205-6ED2-B79C-E0AE10687FC0}"/>
              </a:ext>
            </a:extLst>
          </p:cNvPr>
          <p:cNvSpPr txBox="1"/>
          <p:nvPr/>
        </p:nvSpPr>
        <p:spPr>
          <a:xfrm>
            <a:off x="8452477" y="4351779"/>
            <a:ext cx="3214395" cy="307777"/>
          </a:xfrm>
          <a:prstGeom prst="rect">
            <a:avLst/>
          </a:prstGeom>
          <a:noFill/>
        </p:spPr>
        <p:txBody>
          <a:bodyPr wrap="square" rtlCol="0">
            <a:spAutoFit/>
          </a:bodyPr>
          <a:lstStyle/>
          <a:p>
            <a:r>
              <a:rPr lang="en-IN" sz="1400" dirty="0">
                <a:solidFill>
                  <a:schemeClr val="bg1"/>
                </a:solidFill>
                <a:latin typeface="+mj-lt"/>
              </a:rPr>
              <a:t>July 2015 – August 2017</a:t>
            </a:r>
          </a:p>
        </p:txBody>
      </p:sp>
      <p:sp>
        <p:nvSpPr>
          <p:cNvPr id="41" name="TextBox 40">
            <a:extLst>
              <a:ext uri="{FF2B5EF4-FFF2-40B4-BE49-F238E27FC236}">
                <a16:creationId xmlns:a16="http://schemas.microsoft.com/office/drawing/2014/main" id="{B31FA896-8045-5764-1659-87DACB5844BB}"/>
              </a:ext>
            </a:extLst>
          </p:cNvPr>
          <p:cNvSpPr txBox="1"/>
          <p:nvPr/>
        </p:nvSpPr>
        <p:spPr>
          <a:xfrm>
            <a:off x="8469221" y="4922647"/>
            <a:ext cx="3214395" cy="523220"/>
          </a:xfrm>
          <a:prstGeom prst="rect">
            <a:avLst/>
          </a:prstGeom>
          <a:noFill/>
        </p:spPr>
        <p:txBody>
          <a:bodyPr wrap="square" rtlCol="0">
            <a:spAutoFit/>
          </a:bodyPr>
          <a:lstStyle/>
          <a:p>
            <a:r>
              <a:rPr lang="en-IN" sz="1400" dirty="0">
                <a:solidFill>
                  <a:schemeClr val="bg1"/>
                </a:solidFill>
                <a:latin typeface="+mj-lt"/>
              </a:rPr>
              <a:t>ADR, Lead time, Customer type, Distribution channel, Guests</a:t>
            </a:r>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Data Loading &amp; Cleaning</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pic>
        <p:nvPicPr>
          <p:cNvPr id="6" name="Content Placeholder 5" descr="Database with solid fill">
            <a:extLst>
              <a:ext uri="{FF2B5EF4-FFF2-40B4-BE49-F238E27FC236}">
                <a16:creationId xmlns:a16="http://schemas.microsoft.com/office/drawing/2014/main" id="{78297F76-AA46-7CA6-F11E-5E5820E04C3A}"/>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399922" y="1332890"/>
            <a:ext cx="895399" cy="895399"/>
          </a:xfrm>
        </p:spPr>
      </p:pic>
      <p:sp>
        <p:nvSpPr>
          <p:cNvPr id="4" name="TextBox 3">
            <a:extLst>
              <a:ext uri="{FF2B5EF4-FFF2-40B4-BE49-F238E27FC236}">
                <a16:creationId xmlns:a16="http://schemas.microsoft.com/office/drawing/2014/main" id="{BF51E809-9442-A85F-9037-FA2BFF016AC0}"/>
              </a:ext>
            </a:extLst>
          </p:cNvPr>
          <p:cNvSpPr txBox="1"/>
          <p:nvPr/>
        </p:nvSpPr>
        <p:spPr>
          <a:xfrm>
            <a:off x="575129" y="1540331"/>
            <a:ext cx="2559957" cy="1508105"/>
          </a:xfrm>
          <a:prstGeom prst="rect">
            <a:avLst/>
          </a:prstGeom>
          <a:noFill/>
        </p:spPr>
        <p:txBody>
          <a:bodyPr wrap="square" rtlCol="0">
            <a:spAutoFit/>
          </a:bodyPr>
          <a:lstStyle/>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r>
              <a:rPr lang="en-IN" sz="1600" dirty="0">
                <a:solidFill>
                  <a:schemeClr val="accent1">
                    <a:lumMod val="20000"/>
                    <a:lumOff val="80000"/>
                  </a:schemeClr>
                </a:solidFill>
                <a:latin typeface="+mj-lt"/>
              </a:rPr>
              <a:t>Excel Import</a:t>
            </a:r>
          </a:p>
          <a:p>
            <a:pPr algn="ctr"/>
            <a:r>
              <a:rPr lang="en-IN" sz="1400" dirty="0">
                <a:solidFill>
                  <a:schemeClr val="bg1"/>
                </a:solidFill>
                <a:latin typeface="+mj-lt"/>
              </a:rPr>
              <a:t>Power query editor raw Excel file import</a:t>
            </a:r>
          </a:p>
        </p:txBody>
      </p:sp>
      <p:sp>
        <p:nvSpPr>
          <p:cNvPr id="8" name="Arrow: Right 7">
            <a:extLst>
              <a:ext uri="{FF2B5EF4-FFF2-40B4-BE49-F238E27FC236}">
                <a16:creationId xmlns:a16="http://schemas.microsoft.com/office/drawing/2014/main" id="{A4E957D9-ED01-0E56-1A57-CC7209071064}"/>
              </a:ext>
            </a:extLst>
          </p:cNvPr>
          <p:cNvSpPr/>
          <p:nvPr/>
        </p:nvSpPr>
        <p:spPr>
          <a:xfrm>
            <a:off x="3135086" y="2084444"/>
            <a:ext cx="460899" cy="4198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95F0926-E6D4-E4BC-2921-EF4FDB2C680A}"/>
              </a:ext>
            </a:extLst>
          </p:cNvPr>
          <p:cNvSpPr txBox="1"/>
          <p:nvPr/>
        </p:nvSpPr>
        <p:spPr>
          <a:xfrm>
            <a:off x="3773267" y="1474236"/>
            <a:ext cx="2382675" cy="1508105"/>
          </a:xfrm>
          <a:prstGeom prst="rect">
            <a:avLst/>
          </a:prstGeom>
          <a:noFill/>
        </p:spPr>
        <p:txBody>
          <a:bodyPr wrap="square" rtlCol="0">
            <a:spAutoFit/>
          </a:bodyPr>
          <a:lstStyle/>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r>
              <a:rPr lang="en-IN" sz="1600" dirty="0">
                <a:solidFill>
                  <a:schemeClr val="accent1">
                    <a:lumMod val="20000"/>
                    <a:lumOff val="80000"/>
                  </a:schemeClr>
                </a:solidFill>
                <a:latin typeface="+mj-lt"/>
              </a:rPr>
              <a:t>Data Cleaning</a:t>
            </a:r>
          </a:p>
          <a:p>
            <a:pPr algn="ctr"/>
            <a:r>
              <a:rPr lang="en-IN" sz="1400" dirty="0">
                <a:solidFill>
                  <a:schemeClr val="bg1"/>
                </a:solidFill>
                <a:latin typeface="+mj-lt"/>
              </a:rPr>
              <a:t>Nulls, types and Duplicated removed</a:t>
            </a:r>
          </a:p>
        </p:txBody>
      </p:sp>
      <p:pic>
        <p:nvPicPr>
          <p:cNvPr id="12" name="Graphic 11" descr="Single gear with solid fill">
            <a:extLst>
              <a:ext uri="{FF2B5EF4-FFF2-40B4-BE49-F238E27FC236}">
                <a16:creationId xmlns:a16="http://schemas.microsoft.com/office/drawing/2014/main" id="{4EB8A995-C91F-FC98-2E60-E3B1455CE3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35750" y="1313889"/>
            <a:ext cx="914400" cy="914400"/>
          </a:xfrm>
          <a:prstGeom prst="rect">
            <a:avLst/>
          </a:prstGeom>
        </p:spPr>
      </p:pic>
      <p:sp>
        <p:nvSpPr>
          <p:cNvPr id="13" name="Arrow: Right 12">
            <a:extLst>
              <a:ext uri="{FF2B5EF4-FFF2-40B4-BE49-F238E27FC236}">
                <a16:creationId xmlns:a16="http://schemas.microsoft.com/office/drawing/2014/main" id="{4D23403C-5870-049F-A495-751F92B2EDE5}"/>
              </a:ext>
            </a:extLst>
          </p:cNvPr>
          <p:cNvSpPr/>
          <p:nvPr/>
        </p:nvSpPr>
        <p:spPr>
          <a:xfrm>
            <a:off x="6269588" y="2084444"/>
            <a:ext cx="460899" cy="4198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CEF06495-029C-8B47-0FFD-F2F6B61E489A}"/>
              </a:ext>
            </a:extLst>
          </p:cNvPr>
          <p:cNvSpPr txBox="1"/>
          <p:nvPr/>
        </p:nvSpPr>
        <p:spPr>
          <a:xfrm>
            <a:off x="6818425" y="1472509"/>
            <a:ext cx="2166955" cy="1508105"/>
          </a:xfrm>
          <a:prstGeom prst="rect">
            <a:avLst/>
          </a:prstGeom>
          <a:noFill/>
        </p:spPr>
        <p:txBody>
          <a:bodyPr wrap="square" rtlCol="0">
            <a:spAutoFit/>
          </a:bodyPr>
          <a:lstStyle/>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r>
              <a:rPr lang="en-IN" sz="1600" dirty="0">
                <a:solidFill>
                  <a:schemeClr val="accent1">
                    <a:lumMod val="20000"/>
                    <a:lumOff val="80000"/>
                  </a:schemeClr>
                </a:solidFill>
                <a:latin typeface="+mj-lt"/>
              </a:rPr>
              <a:t>Feature Engineering</a:t>
            </a:r>
          </a:p>
          <a:p>
            <a:pPr algn="ctr"/>
            <a:r>
              <a:rPr lang="en-IN" sz="1400" dirty="0">
                <a:solidFill>
                  <a:schemeClr val="bg1"/>
                </a:solidFill>
                <a:latin typeface="+mj-lt"/>
              </a:rPr>
              <a:t>Revenue, Guests and Total nights</a:t>
            </a:r>
          </a:p>
        </p:txBody>
      </p:sp>
      <p:pic>
        <p:nvPicPr>
          <p:cNvPr id="16" name="Graphic 15" descr="Upward trend with solid fill">
            <a:extLst>
              <a:ext uri="{FF2B5EF4-FFF2-40B4-BE49-F238E27FC236}">
                <a16:creationId xmlns:a16="http://schemas.microsoft.com/office/drawing/2014/main" id="{C4A01FE4-F0BC-1D90-A699-63F085CDE84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34371" y="1464561"/>
            <a:ext cx="762000" cy="762000"/>
          </a:xfrm>
          <a:prstGeom prst="rect">
            <a:avLst/>
          </a:prstGeom>
        </p:spPr>
      </p:pic>
      <p:sp>
        <p:nvSpPr>
          <p:cNvPr id="17" name="Arrow: Right 16">
            <a:extLst>
              <a:ext uri="{FF2B5EF4-FFF2-40B4-BE49-F238E27FC236}">
                <a16:creationId xmlns:a16="http://schemas.microsoft.com/office/drawing/2014/main" id="{39A8E56E-E5E8-0E29-371C-A59B7FDA6199}"/>
              </a:ext>
            </a:extLst>
          </p:cNvPr>
          <p:cNvSpPr/>
          <p:nvPr/>
        </p:nvSpPr>
        <p:spPr>
          <a:xfrm>
            <a:off x="9099435" y="2084444"/>
            <a:ext cx="460899" cy="4198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70F436E6-34AE-3718-2424-853B01FD5622}"/>
              </a:ext>
            </a:extLst>
          </p:cNvPr>
          <p:cNvSpPr txBox="1"/>
          <p:nvPr/>
        </p:nvSpPr>
        <p:spPr>
          <a:xfrm>
            <a:off x="9647863" y="1509665"/>
            <a:ext cx="2166955" cy="1508105"/>
          </a:xfrm>
          <a:prstGeom prst="rect">
            <a:avLst/>
          </a:prstGeom>
          <a:noFill/>
        </p:spPr>
        <p:txBody>
          <a:bodyPr wrap="square" rtlCol="0">
            <a:spAutoFit/>
          </a:bodyPr>
          <a:lstStyle/>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r>
              <a:rPr lang="en-IN" sz="1600" dirty="0">
                <a:solidFill>
                  <a:schemeClr val="accent1">
                    <a:lumMod val="20000"/>
                    <a:lumOff val="80000"/>
                  </a:schemeClr>
                </a:solidFill>
                <a:latin typeface="+mj-lt"/>
              </a:rPr>
              <a:t>Data Model Ready</a:t>
            </a:r>
          </a:p>
          <a:p>
            <a:pPr algn="ctr"/>
            <a:r>
              <a:rPr lang="en-IN" sz="1400" dirty="0">
                <a:solidFill>
                  <a:schemeClr val="bg1"/>
                </a:solidFill>
                <a:latin typeface="+mj-lt"/>
              </a:rPr>
              <a:t>Fact + Dimension tables loaded into Power BI</a:t>
            </a:r>
          </a:p>
        </p:txBody>
      </p:sp>
      <p:pic>
        <p:nvPicPr>
          <p:cNvPr id="20" name="Graphic 19" descr="Checkmark with solid fill">
            <a:extLst>
              <a:ext uri="{FF2B5EF4-FFF2-40B4-BE49-F238E27FC236}">
                <a16:creationId xmlns:a16="http://schemas.microsoft.com/office/drawing/2014/main" id="{875351A6-485F-EF89-45AC-3885D1A2027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312458" y="1426679"/>
            <a:ext cx="837764" cy="837764"/>
          </a:xfrm>
          <a:prstGeom prst="rect">
            <a:avLst/>
          </a:prstGeom>
        </p:spPr>
      </p:pic>
      <p:sp>
        <p:nvSpPr>
          <p:cNvPr id="21" name="TextBox 20">
            <a:extLst>
              <a:ext uri="{FF2B5EF4-FFF2-40B4-BE49-F238E27FC236}">
                <a16:creationId xmlns:a16="http://schemas.microsoft.com/office/drawing/2014/main" id="{3B0BA00F-90F9-D93E-DD1B-AB589A46ABFB}"/>
              </a:ext>
            </a:extLst>
          </p:cNvPr>
          <p:cNvSpPr txBox="1"/>
          <p:nvPr/>
        </p:nvSpPr>
        <p:spPr>
          <a:xfrm>
            <a:off x="575129" y="3331029"/>
            <a:ext cx="4696667" cy="1754326"/>
          </a:xfrm>
          <a:prstGeom prst="rect">
            <a:avLst/>
          </a:prstGeom>
          <a:noFill/>
        </p:spPr>
        <p:txBody>
          <a:bodyPr wrap="square" rtlCol="0">
            <a:spAutoFit/>
          </a:bodyPr>
          <a:lstStyle/>
          <a:p>
            <a:pPr algn="ctr"/>
            <a:r>
              <a:rPr lang="en-IN" dirty="0">
                <a:solidFill>
                  <a:schemeClr val="accent1">
                    <a:lumMod val="20000"/>
                    <a:lumOff val="80000"/>
                  </a:schemeClr>
                </a:solidFill>
                <a:latin typeface="+mj-lt"/>
              </a:rPr>
              <a:t>Cleaning Operations</a:t>
            </a:r>
          </a:p>
          <a:p>
            <a:pPr marL="285750" lvl="0" indent="-285750">
              <a:spcBef>
                <a:spcPts val="1200"/>
              </a:spcBef>
              <a:buFont typeface="Arial" panose="020B0604020202020204" pitchFamily="34" charset="0"/>
              <a:buChar char="•"/>
            </a:pPr>
            <a:r>
              <a:rPr lang="en-IN" sz="1600" dirty="0">
                <a:solidFill>
                  <a:schemeClr val="bg1"/>
                </a:solidFill>
                <a:latin typeface="+mj-lt"/>
              </a:rPr>
              <a:t>Handled missing or null values.</a:t>
            </a:r>
          </a:p>
          <a:p>
            <a:pPr marL="285750" lvl="0" indent="-285750">
              <a:buFont typeface="Arial" panose="020B0604020202020204" pitchFamily="34" charset="0"/>
              <a:buChar char="•"/>
            </a:pPr>
            <a:r>
              <a:rPr lang="en-IN" sz="1600" dirty="0">
                <a:solidFill>
                  <a:schemeClr val="bg1"/>
                </a:solidFill>
                <a:latin typeface="+mj-lt"/>
              </a:rPr>
              <a:t>Verified and corrected data types.</a:t>
            </a:r>
          </a:p>
          <a:p>
            <a:pPr marL="285750" lvl="0" indent="-285750">
              <a:buFont typeface="Arial" panose="020B0604020202020204" pitchFamily="34" charset="0"/>
              <a:buChar char="•"/>
            </a:pPr>
            <a:r>
              <a:rPr lang="en-IN" sz="1600" dirty="0">
                <a:solidFill>
                  <a:schemeClr val="bg1"/>
                </a:solidFill>
                <a:latin typeface="+mj-lt"/>
              </a:rPr>
              <a:t>Removed duplicate booking records.</a:t>
            </a:r>
          </a:p>
          <a:p>
            <a:pPr marL="285750" lvl="0" indent="-285750">
              <a:buFont typeface="Arial" panose="020B0604020202020204" pitchFamily="34" charset="0"/>
              <a:buChar char="•"/>
            </a:pPr>
            <a:r>
              <a:rPr lang="en-IN" sz="1600" dirty="0">
                <a:solidFill>
                  <a:schemeClr val="bg1"/>
                </a:solidFill>
                <a:latin typeface="+mj-lt"/>
              </a:rPr>
              <a:t>dropped columns not participating in revenue analysis.</a:t>
            </a:r>
          </a:p>
        </p:txBody>
      </p:sp>
      <p:sp>
        <p:nvSpPr>
          <p:cNvPr id="22" name="TextBox 21">
            <a:extLst>
              <a:ext uri="{FF2B5EF4-FFF2-40B4-BE49-F238E27FC236}">
                <a16:creationId xmlns:a16="http://schemas.microsoft.com/office/drawing/2014/main" id="{FA90D800-5656-B34F-A8F7-68BCB46EACFA}"/>
              </a:ext>
            </a:extLst>
          </p:cNvPr>
          <p:cNvSpPr txBox="1"/>
          <p:nvPr/>
        </p:nvSpPr>
        <p:spPr>
          <a:xfrm>
            <a:off x="6096000" y="3331028"/>
            <a:ext cx="4548704" cy="1508105"/>
          </a:xfrm>
          <a:prstGeom prst="rect">
            <a:avLst/>
          </a:prstGeom>
          <a:noFill/>
        </p:spPr>
        <p:txBody>
          <a:bodyPr wrap="square" rtlCol="0">
            <a:spAutoFit/>
          </a:bodyPr>
          <a:lstStyle/>
          <a:p>
            <a:pPr algn="ctr"/>
            <a:r>
              <a:rPr lang="en-IN" dirty="0">
                <a:solidFill>
                  <a:schemeClr val="accent1">
                    <a:lumMod val="20000"/>
                    <a:lumOff val="80000"/>
                  </a:schemeClr>
                </a:solidFill>
                <a:latin typeface="+mj-lt"/>
              </a:rPr>
              <a:t>Derived Columns</a:t>
            </a:r>
          </a:p>
          <a:p>
            <a:pPr marL="285750" lvl="0" indent="-285750">
              <a:spcBef>
                <a:spcPts val="1200"/>
              </a:spcBef>
              <a:buFont typeface="Arial" panose="020B0604020202020204" pitchFamily="34" charset="0"/>
              <a:buChar char="•"/>
            </a:pPr>
            <a:r>
              <a:rPr lang="en-IN" sz="1600" dirty="0">
                <a:solidFill>
                  <a:schemeClr val="bg1"/>
                </a:solidFill>
                <a:latin typeface="+mj-lt"/>
              </a:rPr>
              <a:t>Total Nights</a:t>
            </a:r>
          </a:p>
          <a:p>
            <a:pPr marL="285750" lvl="0" indent="-285750">
              <a:buFont typeface="Arial" panose="020B0604020202020204" pitchFamily="34" charset="0"/>
              <a:buChar char="•"/>
            </a:pPr>
            <a:r>
              <a:rPr lang="en-IN" sz="1600" dirty="0">
                <a:solidFill>
                  <a:schemeClr val="bg1"/>
                </a:solidFill>
                <a:latin typeface="+mj-lt"/>
              </a:rPr>
              <a:t>Total Guests</a:t>
            </a:r>
          </a:p>
          <a:p>
            <a:pPr marL="285750" lvl="0" indent="-285750">
              <a:buFont typeface="Arial" panose="020B0604020202020204" pitchFamily="34" charset="0"/>
              <a:buChar char="•"/>
            </a:pPr>
            <a:r>
              <a:rPr lang="en-IN" sz="1600" dirty="0">
                <a:solidFill>
                  <a:schemeClr val="bg1"/>
                </a:solidFill>
                <a:latin typeface="+mj-lt"/>
              </a:rPr>
              <a:t>Revenue</a:t>
            </a:r>
          </a:p>
          <a:p>
            <a:pPr marL="285750" lvl="0" indent="-285750">
              <a:buFont typeface="Arial" panose="020B0604020202020204" pitchFamily="34" charset="0"/>
              <a:buChar char="•"/>
            </a:pPr>
            <a:r>
              <a:rPr lang="en-IN" sz="1600" dirty="0">
                <a:solidFill>
                  <a:schemeClr val="bg1"/>
                </a:solidFill>
                <a:latin typeface="+mj-lt"/>
              </a:rPr>
              <a:t>Arrival Date</a:t>
            </a: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Data Modelling</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sz="half" idx="1"/>
          </p:nvPr>
        </p:nvSpPr>
        <p:spPr>
          <a:xfrm>
            <a:off x="443365" y="1517715"/>
            <a:ext cx="5652635" cy="4659248"/>
          </a:xfrm>
        </p:spPr>
        <p:txBody>
          <a:bodyPr>
            <a:normAutofit/>
          </a:bodyPr>
          <a:lstStyle/>
          <a:p>
            <a:pPr marL="0" indent="0" algn="ctr">
              <a:buNone/>
            </a:pPr>
            <a:r>
              <a:rPr lang="en-US" sz="2400" b="1" dirty="0">
                <a:solidFill>
                  <a:schemeClr val="accent1">
                    <a:lumMod val="20000"/>
                    <a:lumOff val="80000"/>
                  </a:schemeClr>
                </a:solidFill>
                <a:latin typeface="+mj-lt"/>
              </a:rPr>
              <a:t>Tables Created</a:t>
            </a:r>
          </a:p>
          <a:p>
            <a:pPr marL="0" indent="0">
              <a:buNone/>
            </a:pPr>
            <a:r>
              <a:rPr lang="en-US" sz="2000" b="1" dirty="0">
                <a:latin typeface="+mj-lt"/>
              </a:rPr>
              <a:t>        </a:t>
            </a:r>
          </a:p>
        </p:txBody>
      </p:sp>
      <p:sp>
        <p:nvSpPr>
          <p:cNvPr id="16" name="Content Placeholder 15">
            <a:extLst>
              <a:ext uri="{FF2B5EF4-FFF2-40B4-BE49-F238E27FC236}">
                <a16:creationId xmlns:a16="http://schemas.microsoft.com/office/drawing/2014/main" id="{E511585C-C145-CC4C-D237-D060D6E8F8CC}"/>
              </a:ext>
            </a:extLst>
          </p:cNvPr>
          <p:cNvSpPr>
            <a:spLocks noGrp="1"/>
          </p:cNvSpPr>
          <p:nvPr>
            <p:ph sz="half" idx="2"/>
          </p:nvPr>
        </p:nvSpPr>
        <p:spPr>
          <a:xfrm>
            <a:off x="6474163" y="1517715"/>
            <a:ext cx="5184437" cy="4575175"/>
          </a:xfrm>
        </p:spPr>
        <p:txBody>
          <a:bodyPr>
            <a:normAutofit/>
          </a:bodyPr>
          <a:lstStyle/>
          <a:p>
            <a:pPr marL="0" indent="0" algn="ctr">
              <a:buNone/>
            </a:pPr>
            <a:r>
              <a:rPr lang="en-IN" sz="2400" b="1" dirty="0">
                <a:solidFill>
                  <a:schemeClr val="accent1">
                    <a:lumMod val="20000"/>
                    <a:lumOff val="80000"/>
                  </a:schemeClr>
                </a:solidFill>
                <a:latin typeface="+mj-lt"/>
              </a:rPr>
              <a:t>Model Relationship</a:t>
            </a:r>
          </a:p>
        </p:txBody>
      </p:sp>
      <p:graphicFrame>
        <p:nvGraphicFramePr>
          <p:cNvPr id="15" name="Diagram 14">
            <a:extLst>
              <a:ext uri="{FF2B5EF4-FFF2-40B4-BE49-F238E27FC236}">
                <a16:creationId xmlns:a16="http://schemas.microsoft.com/office/drawing/2014/main" id="{9DC27F61-D901-80DF-92DA-E4037C52FB9B}"/>
              </a:ext>
            </a:extLst>
          </p:cNvPr>
          <p:cNvGraphicFramePr/>
          <p:nvPr>
            <p:extLst>
              <p:ext uri="{D42A27DB-BD31-4B8C-83A1-F6EECF244321}">
                <p14:modId xmlns:p14="http://schemas.microsoft.com/office/powerpoint/2010/main" val="3130181876"/>
              </p:ext>
            </p:extLst>
          </p:nvPr>
        </p:nvGraphicFramePr>
        <p:xfrm>
          <a:off x="177282" y="2099388"/>
          <a:ext cx="6148874" cy="287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TextBox 16">
            <a:extLst>
              <a:ext uri="{FF2B5EF4-FFF2-40B4-BE49-F238E27FC236}">
                <a16:creationId xmlns:a16="http://schemas.microsoft.com/office/drawing/2014/main" id="{BD5B43F3-3935-FA81-5B9B-C14772BD7CA0}"/>
              </a:ext>
            </a:extLst>
          </p:cNvPr>
          <p:cNvSpPr txBox="1"/>
          <p:nvPr/>
        </p:nvSpPr>
        <p:spPr>
          <a:xfrm>
            <a:off x="6979298" y="2202024"/>
            <a:ext cx="418011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spcBef>
                <a:spcPts val="1200"/>
              </a:spcBef>
              <a:spcAft>
                <a:spcPts val="1200"/>
              </a:spcAft>
            </a:pPr>
            <a:r>
              <a:rPr lang="en-IN" dirty="0">
                <a:solidFill>
                  <a:schemeClr val="bg1"/>
                </a:solidFill>
                <a:latin typeface="+mj-lt"/>
              </a:rPr>
              <a:t>Calander [date]</a:t>
            </a:r>
          </a:p>
        </p:txBody>
      </p:sp>
      <p:sp>
        <p:nvSpPr>
          <p:cNvPr id="18" name="TextBox 17">
            <a:extLst>
              <a:ext uri="{FF2B5EF4-FFF2-40B4-BE49-F238E27FC236}">
                <a16:creationId xmlns:a16="http://schemas.microsoft.com/office/drawing/2014/main" id="{18F2D27C-4CAF-5FF9-AFB2-12D1D5CEEADA}"/>
              </a:ext>
            </a:extLst>
          </p:cNvPr>
          <p:cNvSpPr txBox="1"/>
          <p:nvPr/>
        </p:nvSpPr>
        <p:spPr>
          <a:xfrm>
            <a:off x="6976324" y="4026494"/>
            <a:ext cx="418011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spcBef>
                <a:spcPts val="1200"/>
              </a:spcBef>
              <a:spcAft>
                <a:spcPts val="1200"/>
              </a:spcAft>
            </a:pPr>
            <a:r>
              <a:rPr lang="en-IN" dirty="0">
                <a:solidFill>
                  <a:schemeClr val="bg1"/>
                </a:solidFill>
                <a:latin typeface="+mj-lt"/>
              </a:rPr>
              <a:t>Hotel data [Arrival date]</a:t>
            </a:r>
          </a:p>
        </p:txBody>
      </p:sp>
      <p:sp>
        <p:nvSpPr>
          <p:cNvPr id="21" name="Arrow: Left-Right 20">
            <a:extLst>
              <a:ext uri="{FF2B5EF4-FFF2-40B4-BE49-F238E27FC236}">
                <a16:creationId xmlns:a16="http://schemas.microsoft.com/office/drawing/2014/main" id="{4E0063F3-81DE-07E6-A97C-097E0C73F527}"/>
              </a:ext>
            </a:extLst>
          </p:cNvPr>
          <p:cNvSpPr/>
          <p:nvPr/>
        </p:nvSpPr>
        <p:spPr>
          <a:xfrm rot="5400000">
            <a:off x="8270902" y="3086723"/>
            <a:ext cx="1455138" cy="42440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6BAE1605-985C-EED5-6DD5-997ABE7B9F0C}"/>
              </a:ext>
            </a:extLst>
          </p:cNvPr>
          <p:cNvSpPr txBox="1"/>
          <p:nvPr/>
        </p:nvSpPr>
        <p:spPr>
          <a:xfrm>
            <a:off x="9082544" y="3129648"/>
            <a:ext cx="2202025" cy="338554"/>
          </a:xfrm>
          <a:prstGeom prst="rect">
            <a:avLst/>
          </a:prstGeom>
          <a:noFill/>
        </p:spPr>
        <p:txBody>
          <a:bodyPr wrap="square" rtlCol="0">
            <a:spAutoFit/>
          </a:bodyPr>
          <a:lstStyle/>
          <a:p>
            <a:r>
              <a:rPr lang="en-IN" sz="1600" dirty="0">
                <a:solidFill>
                  <a:schemeClr val="bg1"/>
                </a:solidFill>
                <a:latin typeface="+mj-lt"/>
              </a:rPr>
              <a:t>One to many</a:t>
            </a:r>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DAX Measure Library &amp; Business Metrix</a:t>
            </a:r>
          </a:p>
        </p:txBody>
      </p:sp>
      <p:sp>
        <p:nvSpPr>
          <p:cNvPr id="10" name="Text Placeholder 9">
            <a:extLst>
              <a:ext uri="{FF2B5EF4-FFF2-40B4-BE49-F238E27FC236}">
                <a16:creationId xmlns:a16="http://schemas.microsoft.com/office/drawing/2014/main" id="{D75A6F23-45FE-4D60-F21A-92A49095063A}"/>
              </a:ext>
            </a:extLst>
          </p:cNvPr>
          <p:cNvSpPr>
            <a:spLocks noGrp="1"/>
          </p:cNvSpPr>
          <p:nvPr>
            <p:ph type="body" sz="quarter" idx="18"/>
          </p:nvPr>
        </p:nvSpPr>
        <p:spPr>
          <a:xfrm>
            <a:off x="444499" y="1822909"/>
            <a:ext cx="3293307" cy="1731274"/>
          </a:xfrm>
          <a:ln w="19050">
            <a:noFill/>
          </a:ln>
        </p:spPr>
        <p:txBody>
          <a:bodyPr/>
          <a:lstStyle/>
          <a:p>
            <a:pPr algn="ctr"/>
            <a:r>
              <a:rPr lang="en-IN" sz="1800" dirty="0">
                <a:solidFill>
                  <a:schemeClr val="accent1">
                    <a:lumMod val="20000"/>
                    <a:lumOff val="80000"/>
                  </a:schemeClr>
                </a:solidFill>
                <a:latin typeface="+mj-lt"/>
              </a:rPr>
              <a:t>Financial performance</a:t>
            </a:r>
          </a:p>
          <a:p>
            <a:pPr marL="285750" indent="-285750">
              <a:buFont typeface="Arial" panose="020B0604020202020204" pitchFamily="34" charset="0"/>
              <a:buChar char="•"/>
            </a:pPr>
            <a:r>
              <a:rPr lang="en-IN" sz="1600" dirty="0">
                <a:latin typeface="+mj-lt"/>
              </a:rPr>
              <a:t>Total revenue</a:t>
            </a:r>
          </a:p>
          <a:p>
            <a:pPr marL="285750" indent="-285750">
              <a:buFont typeface="Arial" panose="020B0604020202020204" pitchFamily="34" charset="0"/>
              <a:buChar char="•"/>
            </a:pPr>
            <a:r>
              <a:rPr lang="en-IN" sz="1600" dirty="0">
                <a:latin typeface="+mj-lt"/>
              </a:rPr>
              <a:t>Revenue per night</a:t>
            </a:r>
          </a:p>
          <a:p>
            <a:pPr marL="285750" indent="-285750">
              <a:buFont typeface="Arial" panose="020B0604020202020204" pitchFamily="34" charset="0"/>
              <a:buChar char="•"/>
            </a:pPr>
            <a:r>
              <a:rPr lang="en-IN" sz="1600" dirty="0">
                <a:latin typeface="+mj-lt"/>
              </a:rPr>
              <a:t>Revenue loss</a:t>
            </a:r>
          </a:p>
          <a:p>
            <a:pPr algn="ctr"/>
            <a:endParaRPr lang="en-IN" sz="1800" dirty="0">
              <a:solidFill>
                <a:schemeClr val="accent1">
                  <a:lumMod val="20000"/>
                  <a:lumOff val="80000"/>
                </a:schemeClr>
              </a:solidFill>
              <a:latin typeface="+mj-lt"/>
            </a:endParaRP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6</a:t>
            </a:fld>
            <a:endParaRPr lang="en-US" dirty="0"/>
          </a:p>
        </p:txBody>
      </p:sp>
      <p:pic>
        <p:nvPicPr>
          <p:cNvPr id="15" name="Graphic 14" descr="Money with solid fill">
            <a:extLst>
              <a:ext uri="{FF2B5EF4-FFF2-40B4-BE49-F238E27FC236}">
                <a16:creationId xmlns:a16="http://schemas.microsoft.com/office/drawing/2014/main" id="{40835AA0-5C66-2581-535D-0F3D17433C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4499" y="1805476"/>
            <a:ext cx="400540" cy="368557"/>
          </a:xfrm>
          <a:prstGeom prst="rect">
            <a:avLst/>
          </a:prstGeom>
        </p:spPr>
      </p:pic>
      <p:sp>
        <p:nvSpPr>
          <p:cNvPr id="16" name="Text Placeholder 9">
            <a:extLst>
              <a:ext uri="{FF2B5EF4-FFF2-40B4-BE49-F238E27FC236}">
                <a16:creationId xmlns:a16="http://schemas.microsoft.com/office/drawing/2014/main" id="{781A4687-6EAC-7F2C-639F-88EC077E8993}"/>
              </a:ext>
            </a:extLst>
          </p:cNvPr>
          <p:cNvSpPr txBox="1">
            <a:spLocks/>
          </p:cNvSpPr>
          <p:nvPr/>
        </p:nvSpPr>
        <p:spPr>
          <a:xfrm>
            <a:off x="3929282" y="1849009"/>
            <a:ext cx="3293307" cy="1705174"/>
          </a:xfrm>
          <a:prstGeom prst="rect">
            <a:avLst/>
          </a:prstGeom>
          <a:ln w="19050">
            <a:noFill/>
          </a:ln>
        </p:spPr>
        <p:txBody>
          <a:bodyPr vert="horz" lIns="0" tIns="0" rIns="0" bIns="0" rtlCol="0">
            <a:noAutofit/>
          </a:bodyPr>
          <a:lstStyle>
            <a:lvl1pPr marL="0" indent="0" algn="l" defTabSz="914400" rtl="0" eaLnBrk="1" latinLnBrk="0" hangingPunct="1">
              <a:lnSpc>
                <a:spcPct val="100000"/>
              </a:lnSpc>
              <a:spcBef>
                <a:spcPts val="600"/>
              </a:spcBef>
              <a:spcAft>
                <a:spcPts val="400"/>
              </a:spcAft>
              <a:buClr>
                <a:schemeClr val="accent2"/>
              </a:buClr>
              <a:buFont typeface="Arial" panose="020B0604020202020204" pitchFamily="34" charset="0"/>
              <a:buNone/>
              <a:defRPr sz="1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1800" dirty="0">
                <a:solidFill>
                  <a:schemeClr val="accent1">
                    <a:lumMod val="20000"/>
                    <a:lumOff val="80000"/>
                  </a:schemeClr>
                </a:solidFill>
                <a:latin typeface="+mj-lt"/>
              </a:rPr>
              <a:t>Customer Behaviour</a:t>
            </a:r>
          </a:p>
          <a:p>
            <a:pPr marL="285750" indent="-285750">
              <a:buFont typeface="Arial" panose="020B0604020202020204" pitchFamily="34" charset="0"/>
              <a:buChar char="•"/>
            </a:pPr>
            <a:r>
              <a:rPr lang="en-IN" sz="1600" dirty="0">
                <a:latin typeface="+mj-lt"/>
              </a:rPr>
              <a:t>Total customers</a:t>
            </a:r>
          </a:p>
          <a:p>
            <a:pPr marL="285750" indent="-285750">
              <a:buFont typeface="Arial" panose="020B0604020202020204" pitchFamily="34" charset="0"/>
              <a:buChar char="•"/>
            </a:pPr>
            <a:r>
              <a:rPr lang="en-IN" sz="1600" dirty="0">
                <a:latin typeface="+mj-lt"/>
              </a:rPr>
              <a:t>Repeat %</a:t>
            </a:r>
          </a:p>
          <a:p>
            <a:pPr marL="285750" indent="-285750">
              <a:buFont typeface="Arial" panose="020B0604020202020204" pitchFamily="34" charset="0"/>
              <a:buChar char="•"/>
            </a:pPr>
            <a:r>
              <a:rPr lang="en-IN" sz="1600" dirty="0">
                <a:latin typeface="+mj-lt"/>
              </a:rPr>
              <a:t>Repeated guests</a:t>
            </a:r>
          </a:p>
          <a:p>
            <a:pPr algn="ctr"/>
            <a:endParaRPr lang="en-IN" sz="1800" dirty="0">
              <a:solidFill>
                <a:schemeClr val="accent1">
                  <a:lumMod val="20000"/>
                  <a:lumOff val="80000"/>
                </a:schemeClr>
              </a:solidFill>
              <a:latin typeface="+mj-lt"/>
            </a:endParaRPr>
          </a:p>
        </p:txBody>
      </p:sp>
      <p:sp>
        <p:nvSpPr>
          <p:cNvPr id="17" name="Text Placeholder 9">
            <a:extLst>
              <a:ext uri="{FF2B5EF4-FFF2-40B4-BE49-F238E27FC236}">
                <a16:creationId xmlns:a16="http://schemas.microsoft.com/office/drawing/2014/main" id="{3D83E724-2542-B1FF-1790-9C26542205B0}"/>
              </a:ext>
            </a:extLst>
          </p:cNvPr>
          <p:cNvSpPr txBox="1">
            <a:spLocks/>
          </p:cNvSpPr>
          <p:nvPr/>
        </p:nvSpPr>
        <p:spPr>
          <a:xfrm>
            <a:off x="7414065" y="1863007"/>
            <a:ext cx="3293306" cy="1691176"/>
          </a:xfrm>
          <a:prstGeom prst="rect">
            <a:avLst/>
          </a:prstGeom>
          <a:ln w="19050">
            <a:noFill/>
          </a:ln>
        </p:spPr>
        <p:txBody>
          <a:bodyPr vert="horz" lIns="0" tIns="0" rIns="0" bIns="0" rtlCol="0">
            <a:noAutofit/>
          </a:bodyPr>
          <a:lstStyle>
            <a:lvl1pPr marL="0" indent="0" algn="l" defTabSz="914400" rtl="0" eaLnBrk="1" latinLnBrk="0" hangingPunct="1">
              <a:lnSpc>
                <a:spcPct val="100000"/>
              </a:lnSpc>
              <a:spcBef>
                <a:spcPts val="600"/>
              </a:spcBef>
              <a:spcAft>
                <a:spcPts val="400"/>
              </a:spcAft>
              <a:buClr>
                <a:schemeClr val="accent2"/>
              </a:buClr>
              <a:buFont typeface="Arial" panose="020B0604020202020204" pitchFamily="34" charset="0"/>
              <a:buNone/>
              <a:defRPr sz="1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1800" dirty="0">
                <a:solidFill>
                  <a:schemeClr val="accent1">
                    <a:lumMod val="20000"/>
                    <a:lumOff val="80000"/>
                  </a:schemeClr>
                </a:solidFill>
                <a:latin typeface="+mj-lt"/>
              </a:rPr>
              <a:t>Occupancy &amp; Demand</a:t>
            </a:r>
          </a:p>
          <a:p>
            <a:pPr marL="285750" indent="-285750">
              <a:buFont typeface="Arial" panose="020B0604020202020204" pitchFamily="34" charset="0"/>
              <a:buChar char="•"/>
            </a:pPr>
            <a:r>
              <a:rPr lang="en-IN" sz="1600" dirty="0">
                <a:latin typeface="+mj-lt"/>
              </a:rPr>
              <a:t>Total guest count</a:t>
            </a:r>
          </a:p>
          <a:p>
            <a:pPr marL="285750" indent="-285750">
              <a:buFont typeface="Arial" panose="020B0604020202020204" pitchFamily="34" charset="0"/>
              <a:buChar char="•"/>
            </a:pPr>
            <a:r>
              <a:rPr lang="en-IN" sz="1600" dirty="0">
                <a:latin typeface="+mj-lt"/>
              </a:rPr>
              <a:t>Occupancy proxy</a:t>
            </a:r>
          </a:p>
          <a:p>
            <a:pPr marL="285750" indent="-285750">
              <a:buFont typeface="Arial" panose="020B0604020202020204" pitchFamily="34" charset="0"/>
              <a:buChar char="•"/>
            </a:pPr>
            <a:r>
              <a:rPr lang="en-IN" sz="1600" dirty="0">
                <a:latin typeface="+mj-lt"/>
              </a:rPr>
              <a:t>Total guest stayed</a:t>
            </a:r>
          </a:p>
          <a:p>
            <a:pPr algn="ctr"/>
            <a:endParaRPr lang="en-IN" sz="1800" dirty="0">
              <a:solidFill>
                <a:schemeClr val="accent1">
                  <a:lumMod val="20000"/>
                  <a:lumOff val="80000"/>
                </a:schemeClr>
              </a:solidFill>
              <a:latin typeface="+mj-lt"/>
            </a:endParaRPr>
          </a:p>
        </p:txBody>
      </p:sp>
      <p:sp>
        <p:nvSpPr>
          <p:cNvPr id="18" name="Text Placeholder 9">
            <a:extLst>
              <a:ext uri="{FF2B5EF4-FFF2-40B4-BE49-F238E27FC236}">
                <a16:creationId xmlns:a16="http://schemas.microsoft.com/office/drawing/2014/main" id="{3C2E31DA-DB63-72D6-EA0F-F8C3E9F80426}"/>
              </a:ext>
            </a:extLst>
          </p:cNvPr>
          <p:cNvSpPr txBox="1">
            <a:spLocks/>
          </p:cNvSpPr>
          <p:nvPr/>
        </p:nvSpPr>
        <p:spPr>
          <a:xfrm>
            <a:off x="444500" y="3873094"/>
            <a:ext cx="3293306" cy="1731274"/>
          </a:xfrm>
          <a:prstGeom prst="rect">
            <a:avLst/>
          </a:prstGeom>
          <a:ln w="19050">
            <a:noFill/>
          </a:ln>
        </p:spPr>
        <p:txBody>
          <a:bodyPr vert="horz" lIns="0" tIns="0" rIns="0" bIns="0" rtlCol="0">
            <a:noAutofit/>
          </a:bodyPr>
          <a:lstStyle>
            <a:lvl1pPr marL="0" indent="0" algn="l" defTabSz="914400" rtl="0" eaLnBrk="1" latinLnBrk="0" hangingPunct="1">
              <a:lnSpc>
                <a:spcPct val="100000"/>
              </a:lnSpc>
              <a:spcBef>
                <a:spcPts val="600"/>
              </a:spcBef>
              <a:spcAft>
                <a:spcPts val="400"/>
              </a:spcAft>
              <a:buClr>
                <a:schemeClr val="accent2"/>
              </a:buClr>
              <a:buFont typeface="Arial" panose="020B0604020202020204" pitchFamily="34" charset="0"/>
              <a:buNone/>
              <a:defRPr sz="1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1800" dirty="0">
                <a:solidFill>
                  <a:schemeClr val="accent1">
                    <a:lumMod val="20000"/>
                    <a:lumOff val="80000"/>
                  </a:schemeClr>
                </a:solidFill>
                <a:latin typeface="+mj-lt"/>
              </a:rPr>
              <a:t>Booking patterns</a:t>
            </a:r>
          </a:p>
          <a:p>
            <a:pPr marL="285750" indent="-285750">
              <a:buFont typeface="Arial" panose="020B0604020202020204" pitchFamily="34" charset="0"/>
              <a:buChar char="•"/>
            </a:pPr>
            <a:r>
              <a:rPr lang="en-IN" sz="1600" dirty="0">
                <a:latin typeface="+mj-lt"/>
              </a:rPr>
              <a:t>Total bookings</a:t>
            </a:r>
          </a:p>
          <a:p>
            <a:pPr marL="285750" indent="-285750">
              <a:buFont typeface="Arial" panose="020B0604020202020204" pitchFamily="34" charset="0"/>
              <a:buChar char="•"/>
            </a:pPr>
            <a:r>
              <a:rPr lang="en-IN" sz="1600" dirty="0">
                <a:latin typeface="+mj-lt"/>
              </a:rPr>
              <a:t>Booking new</a:t>
            </a:r>
          </a:p>
          <a:p>
            <a:pPr marL="285750" indent="-285750">
              <a:buFont typeface="Arial" panose="020B0604020202020204" pitchFamily="34" charset="0"/>
              <a:buChar char="•"/>
            </a:pPr>
            <a:r>
              <a:rPr lang="en-IN" sz="1600" dirty="0">
                <a:latin typeface="+mj-lt"/>
              </a:rPr>
              <a:t>Booking repeated</a:t>
            </a:r>
          </a:p>
          <a:p>
            <a:pPr algn="ctr"/>
            <a:endParaRPr lang="en-IN" sz="1800" dirty="0">
              <a:solidFill>
                <a:schemeClr val="accent1">
                  <a:lumMod val="20000"/>
                  <a:lumOff val="80000"/>
                </a:schemeClr>
              </a:solidFill>
              <a:latin typeface="+mj-lt"/>
            </a:endParaRPr>
          </a:p>
        </p:txBody>
      </p:sp>
      <p:pic>
        <p:nvPicPr>
          <p:cNvPr id="26" name="Graphic 25" descr="Users with solid fill">
            <a:extLst>
              <a:ext uri="{FF2B5EF4-FFF2-40B4-BE49-F238E27FC236}">
                <a16:creationId xmlns:a16="http://schemas.microsoft.com/office/drawing/2014/main" id="{CB28E7E2-DBB6-3BF4-DE86-C7A38EB8650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05043" y="1822909"/>
            <a:ext cx="382767" cy="382767"/>
          </a:xfrm>
          <a:prstGeom prst="rect">
            <a:avLst/>
          </a:prstGeom>
        </p:spPr>
      </p:pic>
      <p:pic>
        <p:nvPicPr>
          <p:cNvPr id="30" name="Graphic 29" descr="Sleep with solid fill">
            <a:extLst>
              <a:ext uri="{FF2B5EF4-FFF2-40B4-BE49-F238E27FC236}">
                <a16:creationId xmlns:a16="http://schemas.microsoft.com/office/drawing/2014/main" id="{50CA4268-C925-1D6C-A595-E963D9891FB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12808" y="1825243"/>
            <a:ext cx="382767" cy="400200"/>
          </a:xfrm>
          <a:prstGeom prst="rect">
            <a:avLst/>
          </a:prstGeom>
        </p:spPr>
      </p:pic>
      <p:pic>
        <p:nvPicPr>
          <p:cNvPr id="34" name="Graphic 33" descr="Bar chart with solid fill">
            <a:extLst>
              <a:ext uri="{FF2B5EF4-FFF2-40B4-BE49-F238E27FC236}">
                <a16:creationId xmlns:a16="http://schemas.microsoft.com/office/drawing/2014/main" id="{096DA0C5-64C7-FDEF-7EE6-F11C1D4163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8664" y="3799380"/>
            <a:ext cx="415280" cy="415280"/>
          </a:xfrm>
          <a:prstGeom prst="rect">
            <a:avLst/>
          </a:prstGeom>
        </p:spPr>
      </p:pic>
      <p:sp>
        <p:nvSpPr>
          <p:cNvPr id="35" name="Text Placeholder 9">
            <a:extLst>
              <a:ext uri="{FF2B5EF4-FFF2-40B4-BE49-F238E27FC236}">
                <a16:creationId xmlns:a16="http://schemas.microsoft.com/office/drawing/2014/main" id="{A766EAF9-722B-6D50-849F-6F9A5B612E21}"/>
              </a:ext>
            </a:extLst>
          </p:cNvPr>
          <p:cNvSpPr txBox="1">
            <a:spLocks/>
          </p:cNvSpPr>
          <p:nvPr/>
        </p:nvSpPr>
        <p:spPr>
          <a:xfrm>
            <a:off x="3929283" y="3883357"/>
            <a:ext cx="2499509" cy="1705174"/>
          </a:xfrm>
          <a:prstGeom prst="rect">
            <a:avLst/>
          </a:prstGeom>
          <a:ln w="19050">
            <a:noFill/>
          </a:ln>
        </p:spPr>
        <p:txBody>
          <a:bodyPr vert="horz" lIns="0" tIns="0" rIns="0" bIns="0" rtlCol="0">
            <a:noAutofit/>
          </a:bodyPr>
          <a:lstStyle>
            <a:lvl1pPr marL="0" indent="0" algn="l" defTabSz="914400" rtl="0" eaLnBrk="1" latinLnBrk="0" hangingPunct="1">
              <a:lnSpc>
                <a:spcPct val="100000"/>
              </a:lnSpc>
              <a:spcBef>
                <a:spcPts val="600"/>
              </a:spcBef>
              <a:spcAft>
                <a:spcPts val="400"/>
              </a:spcAft>
              <a:buClr>
                <a:schemeClr val="accent2"/>
              </a:buClr>
              <a:buFont typeface="Arial" panose="020B0604020202020204" pitchFamily="34" charset="0"/>
              <a:buNone/>
              <a:defRPr sz="1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4000" b="1" dirty="0">
                <a:solidFill>
                  <a:schemeClr val="accent1">
                    <a:lumMod val="20000"/>
                    <a:lumOff val="80000"/>
                  </a:schemeClr>
                </a:solidFill>
                <a:latin typeface="+mj-lt"/>
              </a:rPr>
              <a:t>16 DAX measures</a:t>
            </a:r>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IN" dirty="0"/>
              <a:t>Dashboard 1: Hotel Revenue Performance</a:t>
            </a:r>
            <a:endParaRPr lang="en-US" dirty="0"/>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7</a:t>
            </a:fld>
            <a:endParaRPr lang="en-US" dirty="0"/>
          </a:p>
        </p:txBody>
      </p:sp>
      <p:pic>
        <p:nvPicPr>
          <p:cNvPr id="6" name="Picture Placeholder 5">
            <a:extLst>
              <a:ext uri="{FF2B5EF4-FFF2-40B4-BE49-F238E27FC236}">
                <a16:creationId xmlns:a16="http://schemas.microsoft.com/office/drawing/2014/main" id="{034D6306-3317-E49A-70D2-9E6328977287}"/>
              </a:ext>
            </a:extLst>
          </p:cNvPr>
          <p:cNvPicPr>
            <a:picLocks noGrp="1" noChangeAspect="1"/>
          </p:cNvPicPr>
          <p:nvPr>
            <p:ph type="pic" idx="1"/>
          </p:nvPr>
        </p:nvPicPr>
        <p:blipFill>
          <a:blip r:embed="rId2"/>
          <a:srcRect l="572" r="723"/>
          <a:stretch>
            <a:fillRect/>
          </a:stretch>
        </p:blipFill>
        <p:spPr>
          <a:xfrm>
            <a:off x="4021494" y="1444625"/>
            <a:ext cx="8070979" cy="4704248"/>
          </a:xfrm>
          <a:prstGeom prst="rect">
            <a:avLst/>
          </a:prstGeom>
        </p:spPr>
      </p:pic>
      <p:graphicFrame>
        <p:nvGraphicFramePr>
          <p:cNvPr id="7" name="Diagram 6">
            <a:extLst>
              <a:ext uri="{FF2B5EF4-FFF2-40B4-BE49-F238E27FC236}">
                <a16:creationId xmlns:a16="http://schemas.microsoft.com/office/drawing/2014/main" id="{B267F690-7693-5605-C4A9-B8B88F8327B0}"/>
              </a:ext>
            </a:extLst>
          </p:cNvPr>
          <p:cNvGraphicFramePr/>
          <p:nvPr>
            <p:extLst>
              <p:ext uri="{D42A27DB-BD31-4B8C-83A1-F6EECF244321}">
                <p14:modId xmlns:p14="http://schemas.microsoft.com/office/powerpoint/2010/main" val="2107130770"/>
              </p:ext>
            </p:extLst>
          </p:nvPr>
        </p:nvGraphicFramePr>
        <p:xfrm>
          <a:off x="443365" y="1875454"/>
          <a:ext cx="3365063" cy="223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49931F08-DDE9-4441-3FB8-B79AD03058CB}"/>
              </a:ext>
            </a:extLst>
          </p:cNvPr>
          <p:cNvGraphicFramePr/>
          <p:nvPr>
            <p:extLst>
              <p:ext uri="{D42A27DB-BD31-4B8C-83A1-F6EECF244321}">
                <p14:modId xmlns:p14="http://schemas.microsoft.com/office/powerpoint/2010/main" val="4271483708"/>
              </p:ext>
            </p:extLst>
          </p:nvPr>
        </p:nvGraphicFramePr>
        <p:xfrm>
          <a:off x="443365" y="4260980"/>
          <a:ext cx="3365063" cy="18412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IN" dirty="0"/>
              <a:t>Dashboard 2: Customer and Booking Behaviour</a:t>
            </a:r>
            <a:endParaRPr lang="en-US" b="0" dirty="0"/>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8</a:t>
            </a:fld>
            <a:endParaRPr lang="en-US" dirty="0"/>
          </a:p>
        </p:txBody>
      </p:sp>
      <p:pic>
        <p:nvPicPr>
          <p:cNvPr id="8" name="Picture Placeholder 7">
            <a:extLst>
              <a:ext uri="{FF2B5EF4-FFF2-40B4-BE49-F238E27FC236}">
                <a16:creationId xmlns:a16="http://schemas.microsoft.com/office/drawing/2014/main" id="{2301248D-7370-7643-9BE6-F8CDCFF4D460}"/>
              </a:ext>
            </a:extLst>
          </p:cNvPr>
          <p:cNvPicPr>
            <a:picLocks noGrp="1" noChangeAspect="1"/>
          </p:cNvPicPr>
          <p:nvPr>
            <p:ph type="pic" idx="1"/>
          </p:nvPr>
        </p:nvPicPr>
        <p:blipFill>
          <a:blip r:embed="rId2"/>
          <a:srcRect l="-183" r="1353"/>
          <a:stretch>
            <a:fillRect/>
          </a:stretch>
        </p:blipFill>
        <p:spPr>
          <a:xfrm>
            <a:off x="3808429" y="1444649"/>
            <a:ext cx="8013457" cy="4579079"/>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800" dirty="0">
                <a:solidFill>
                  <a:schemeClr val="accent1">
                    <a:lumMod val="20000"/>
                    <a:lumOff val="80000"/>
                  </a:schemeClr>
                </a:solidFill>
                <a:latin typeface="+mj-lt"/>
              </a:rPr>
              <a:t>Low loyalty rate</a:t>
            </a:r>
          </a:p>
          <a:p>
            <a:r>
              <a:rPr lang="en-US" dirty="0">
                <a:latin typeface="+mj-lt"/>
              </a:rPr>
              <a:t>Only 4.33% repeated guests, significantly low repeated guests</a:t>
            </a:r>
          </a:p>
          <a:p>
            <a:pPr marL="285750" indent="-285750">
              <a:buFont typeface="Arial" panose="020B0604020202020204" pitchFamily="34" charset="0"/>
              <a:buChar char="•"/>
            </a:pPr>
            <a:r>
              <a:rPr lang="en-US" sz="1800" dirty="0">
                <a:solidFill>
                  <a:schemeClr val="accent1">
                    <a:lumMod val="20000"/>
                    <a:lumOff val="80000"/>
                  </a:schemeClr>
                </a:solidFill>
                <a:latin typeface="+mj-lt"/>
              </a:rPr>
              <a:t>Portugal dominates</a:t>
            </a:r>
          </a:p>
          <a:p>
            <a:r>
              <a:rPr lang="en-US" dirty="0">
                <a:latin typeface="+mj-lt"/>
              </a:rPr>
              <a:t>Portugal leads with highest 20k+ bookings</a:t>
            </a:r>
          </a:p>
          <a:p>
            <a:pPr marL="285750" indent="-285750">
              <a:buFont typeface="Arial" panose="020B0604020202020204" pitchFamily="34" charset="0"/>
              <a:buChar char="•"/>
            </a:pPr>
            <a:r>
              <a:rPr lang="en-US" sz="1800" dirty="0">
                <a:solidFill>
                  <a:schemeClr val="accent1">
                    <a:lumMod val="20000"/>
                    <a:lumOff val="80000"/>
                  </a:schemeClr>
                </a:solidFill>
                <a:latin typeface="+mj-lt"/>
              </a:rPr>
              <a:t>31-90 day sweet spot</a:t>
            </a:r>
          </a:p>
          <a:p>
            <a:r>
              <a:rPr lang="en-US" dirty="0">
                <a:latin typeface="+mj-lt"/>
              </a:rPr>
              <a:t>Early bird 31-90 days achieve highest booking and significantly high avg ADR</a:t>
            </a:r>
          </a:p>
          <a:p>
            <a:pPr marL="285750" indent="-285750">
              <a:buFont typeface="Arial" panose="020B0604020202020204" pitchFamily="34" charset="0"/>
              <a:buChar char="•"/>
            </a:pPr>
            <a:r>
              <a:rPr lang="en-US" sz="1800" dirty="0">
                <a:solidFill>
                  <a:schemeClr val="accent1">
                    <a:lumMod val="20000"/>
                    <a:lumOff val="80000"/>
                  </a:schemeClr>
                </a:solidFill>
                <a:latin typeface="+mj-lt"/>
              </a:rPr>
              <a:t>Transient majority</a:t>
            </a:r>
          </a:p>
          <a:p>
            <a:r>
              <a:rPr lang="en-US" dirty="0">
                <a:latin typeface="+mj-lt"/>
              </a:rPr>
              <a:t>Around 70% of all booking are from transient customers</a:t>
            </a:r>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444500" y="542925"/>
            <a:ext cx="11214100" cy="535531"/>
          </a:xfrm>
        </p:spPr>
        <p:txBody>
          <a:bodyPr/>
          <a:lstStyle/>
          <a:p>
            <a:r>
              <a:rPr lang="en-IN" dirty="0"/>
              <a:t>Dashboard 3: Revenue Optimization and Key Insights</a:t>
            </a:r>
            <a:endParaRPr lang="en-US" dirty="0"/>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9</a:t>
            </a:fld>
            <a:endParaRPr lang="en-US" dirty="0"/>
          </a:p>
        </p:txBody>
      </p:sp>
      <p:pic>
        <p:nvPicPr>
          <p:cNvPr id="7" name="Picture Placeholder 6">
            <a:extLst>
              <a:ext uri="{FF2B5EF4-FFF2-40B4-BE49-F238E27FC236}">
                <a16:creationId xmlns:a16="http://schemas.microsoft.com/office/drawing/2014/main" id="{AD7F3BBD-CD83-6C32-2186-65999BB23F3F}"/>
              </a:ext>
            </a:extLst>
          </p:cNvPr>
          <p:cNvPicPr>
            <a:picLocks noGrp="1" noChangeAspect="1"/>
          </p:cNvPicPr>
          <p:nvPr>
            <p:ph type="pic" idx="1"/>
          </p:nvPr>
        </p:nvPicPr>
        <p:blipFill>
          <a:blip r:embed="rId2"/>
          <a:srcRect l="413" r="413"/>
          <a:stretch/>
        </p:blipFill>
        <p:spPr>
          <a:xfrm>
            <a:off x="3900196" y="1444649"/>
            <a:ext cx="8042987" cy="4579079"/>
          </a:xfrm>
          <a:prstGeom prst="rect">
            <a:avLst/>
          </a:prstGeom>
        </p:spPr>
      </p:pic>
      <p:sp>
        <p:nvSpPr>
          <p:cNvPr id="4" name="Text Placeholder 3">
            <a:extLst>
              <a:ext uri="{FF2B5EF4-FFF2-40B4-BE49-F238E27FC236}">
                <a16:creationId xmlns:a16="http://schemas.microsoft.com/office/drawing/2014/main" id="{F1A49221-FF8E-FF5D-4E4A-F8B792BED201}"/>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IN" sz="2000" dirty="0">
                <a:latin typeface="+mj-lt"/>
              </a:rPr>
              <a:t>Demand index and occupancy highest in august</a:t>
            </a:r>
          </a:p>
          <a:p>
            <a:pPr marL="285750" indent="-285750">
              <a:buFont typeface="Arial" panose="020B0604020202020204" pitchFamily="34" charset="0"/>
              <a:buChar char="•"/>
            </a:pPr>
            <a:r>
              <a:rPr lang="en-IN" sz="2000" dirty="0">
                <a:latin typeface="+mj-lt"/>
              </a:rPr>
              <a:t>Advanced booking generates highest revenue</a:t>
            </a:r>
          </a:p>
          <a:p>
            <a:pPr marL="285750" indent="-285750">
              <a:buFont typeface="Arial" panose="020B0604020202020204" pitchFamily="34" charset="0"/>
              <a:buChar char="•"/>
            </a:pPr>
            <a:r>
              <a:rPr lang="en-IN" sz="2000" dirty="0">
                <a:latin typeface="+mj-lt"/>
              </a:rPr>
              <a:t>Average ADR highest in august</a:t>
            </a:r>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444500" y="542925"/>
            <a:ext cx="11214100" cy="535531"/>
          </a:xfrm>
        </p:spPr>
        <p:txBody>
          <a:bodyPr/>
          <a:lstStyle/>
          <a:p>
            <a:r>
              <a:rPr lang="en-IN" dirty="0"/>
              <a:t>Dashboard 4: Seasonality and Stay Pattern Analysis</a:t>
            </a:r>
            <a:endParaRPr lang="en-US" dirty="0"/>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10</a:t>
            </a:fld>
            <a:endParaRPr lang="en-US" dirty="0"/>
          </a:p>
        </p:txBody>
      </p:sp>
      <p:pic>
        <p:nvPicPr>
          <p:cNvPr id="7" name="Picture Placeholder 6">
            <a:extLst>
              <a:ext uri="{FF2B5EF4-FFF2-40B4-BE49-F238E27FC236}">
                <a16:creationId xmlns:a16="http://schemas.microsoft.com/office/drawing/2014/main" id="{9AFB199E-33DF-62FE-AB69-7FFE1026A75B}"/>
              </a:ext>
            </a:extLst>
          </p:cNvPr>
          <p:cNvPicPr>
            <a:picLocks noGrp="1" noChangeAspect="1"/>
          </p:cNvPicPr>
          <p:nvPr>
            <p:ph type="pic" idx="1"/>
          </p:nvPr>
        </p:nvPicPr>
        <p:blipFill>
          <a:blip r:embed="rId2"/>
          <a:srcRect l="-416" t="-1595" r="-735" b="-1510"/>
          <a:stretch>
            <a:fillRect/>
          </a:stretch>
        </p:blipFill>
        <p:spPr>
          <a:xfrm>
            <a:off x="3808428" y="1371600"/>
            <a:ext cx="8383571" cy="4721289"/>
          </a:xfrm>
          <a:prstGeom prst="rect">
            <a:avLst/>
          </a:prstGeom>
        </p:spPr>
      </p:pic>
      <p:sp>
        <p:nvSpPr>
          <p:cNvPr id="4" name="Text Placeholder 3">
            <a:extLst>
              <a:ext uri="{FF2B5EF4-FFF2-40B4-BE49-F238E27FC236}">
                <a16:creationId xmlns:a16="http://schemas.microsoft.com/office/drawing/2014/main" id="{E520B7F8-A45E-7F8A-E71F-733EEF0DF59D}"/>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IN" sz="2000" dirty="0">
                <a:solidFill>
                  <a:schemeClr val="accent1">
                    <a:lumMod val="20000"/>
                    <a:lumOff val="80000"/>
                  </a:schemeClr>
                </a:solidFill>
                <a:latin typeface="+mj-lt"/>
              </a:rPr>
              <a:t>Short stays dominates</a:t>
            </a:r>
          </a:p>
          <a:p>
            <a:r>
              <a:rPr lang="en-IN" dirty="0">
                <a:latin typeface="+mj-lt"/>
              </a:rPr>
              <a:t>Stay of 3-4 days dominates overall and 49% of revenue generated by 4-7 night stay</a:t>
            </a:r>
          </a:p>
          <a:p>
            <a:pPr marL="285750" indent="-285750">
              <a:buFont typeface="Arial" panose="020B0604020202020204" pitchFamily="34" charset="0"/>
              <a:buChar char="•"/>
            </a:pPr>
            <a:r>
              <a:rPr lang="en-IN" sz="2000" dirty="0">
                <a:solidFill>
                  <a:schemeClr val="accent1">
                    <a:lumMod val="20000"/>
                    <a:lumOff val="80000"/>
                  </a:schemeClr>
                </a:solidFill>
                <a:latin typeface="+mj-lt"/>
              </a:rPr>
              <a:t>Low season</a:t>
            </a:r>
          </a:p>
          <a:p>
            <a:r>
              <a:rPr lang="en-IN" dirty="0">
                <a:latin typeface="+mj-lt"/>
              </a:rPr>
              <a:t>January and November generates low revenue </a:t>
            </a:r>
          </a:p>
          <a:p>
            <a:pPr marL="285750" indent="-285750">
              <a:buFont typeface="Arial" panose="020B0604020202020204" pitchFamily="34" charset="0"/>
              <a:buChar char="•"/>
            </a:pPr>
            <a:r>
              <a:rPr lang="en-IN" sz="2000" dirty="0">
                <a:solidFill>
                  <a:schemeClr val="accent1">
                    <a:lumMod val="20000"/>
                    <a:lumOff val="80000"/>
                  </a:schemeClr>
                </a:solidFill>
                <a:latin typeface="+mj-lt"/>
              </a:rPr>
              <a:t>Peak august</a:t>
            </a:r>
          </a:p>
          <a:p>
            <a:r>
              <a:rPr lang="en-IN" dirty="0">
                <a:latin typeface="+mj-lt"/>
              </a:rPr>
              <a:t>August peak month across all </a:t>
            </a:r>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title"/>
          </p:nvPr>
        </p:nvSpPr>
        <p:spPr/>
        <p:txBody>
          <a:bodyPr/>
          <a:lstStyle/>
          <a:p>
            <a:r>
              <a:rPr lang="en-US" dirty="0"/>
              <a:t>Conclusion </a:t>
            </a:r>
            <a:endParaRPr lang="en-GB" dirty="0"/>
          </a:p>
        </p:txBody>
      </p:sp>
      <p:sp>
        <p:nvSpPr>
          <p:cNvPr id="3" name="Content Placeholder 2">
            <a:extLst>
              <a:ext uri="{FF2B5EF4-FFF2-40B4-BE49-F238E27FC236}">
                <a16:creationId xmlns:a16="http://schemas.microsoft.com/office/drawing/2014/main" id="{1F1BA3CC-9194-4802-AD84-4AADB764E10F}"/>
              </a:ext>
            </a:extLst>
          </p:cNvPr>
          <p:cNvSpPr>
            <a:spLocks noGrp="1"/>
          </p:cNvSpPr>
          <p:nvPr>
            <p:ph idx="1"/>
          </p:nvPr>
        </p:nvSpPr>
        <p:spPr>
          <a:xfrm>
            <a:off x="398915" y="1565697"/>
            <a:ext cx="11460293" cy="4536524"/>
          </a:xfrm>
        </p:spPr>
        <p:txBody>
          <a:bodyPr>
            <a:normAutofit/>
          </a:bodyPr>
          <a:lstStyle/>
          <a:p>
            <a:pPr marL="0" indent="0" algn="just">
              <a:buNone/>
            </a:pPr>
            <a:r>
              <a:rPr lang="en-US" sz="1600" dirty="0">
                <a:latin typeface="+mj-lt"/>
              </a:rPr>
              <a:t>The </a:t>
            </a:r>
            <a:r>
              <a:rPr lang="en-US" sz="1600" dirty="0" err="1">
                <a:latin typeface="+mj-lt"/>
              </a:rPr>
              <a:t>HotelRevAI</a:t>
            </a:r>
            <a:r>
              <a:rPr lang="en-US" sz="1600" dirty="0">
                <a:latin typeface="+mj-lt"/>
              </a:rPr>
              <a:t> project demonstrates how Power BI can transform raw hotel booking data into actionable business insights through data loading, modelling, and interactive dashboards. The analysis highlights key revenue drivers such as OTA channels, Transient customers, peak demand in August, and longer stays. These insights support strategic decisions like dynamic pricing, improved cancellation policies, loyalty programs, and growth of direct booking channels to enhance revenue performance.</a:t>
            </a:r>
          </a:p>
          <a:p>
            <a:pPr marL="0" indent="0" algn="just">
              <a:buNone/>
            </a:pPr>
            <a:endParaRPr lang="en-US" sz="1600" dirty="0">
              <a:latin typeface="+mj-lt"/>
            </a:endParaRPr>
          </a:p>
          <a:p>
            <a:pPr marL="0" indent="0" algn="just">
              <a:buNone/>
            </a:pPr>
            <a:r>
              <a:rPr lang="en-US" sz="1800" b="1" dirty="0">
                <a:solidFill>
                  <a:schemeClr val="accent1">
                    <a:lumMod val="20000"/>
                    <a:lumOff val="80000"/>
                  </a:schemeClr>
                </a:solidFill>
                <a:latin typeface="+mj-lt"/>
              </a:rPr>
              <a:t>Future Enhancements</a:t>
            </a:r>
          </a:p>
          <a:p>
            <a:pPr lvl="0"/>
            <a:r>
              <a:rPr lang="en-IN" sz="1600" dirty="0">
                <a:latin typeface="+mj-lt"/>
              </a:rPr>
              <a:t>Machine learning models for demand forecasting.</a:t>
            </a:r>
          </a:p>
          <a:p>
            <a:pPr lvl="0"/>
            <a:r>
              <a:rPr lang="en-IN" sz="1600" dirty="0">
                <a:latin typeface="+mj-lt"/>
              </a:rPr>
              <a:t>Real-time live booking pipeline.</a:t>
            </a:r>
          </a:p>
          <a:p>
            <a:pPr lvl="0"/>
            <a:r>
              <a:rPr lang="en-IN" sz="1600" dirty="0">
                <a:latin typeface="+mj-lt"/>
              </a:rPr>
              <a:t>Customer segmentation modelling using clustering.</a:t>
            </a:r>
          </a:p>
          <a:p>
            <a:pPr lvl="0"/>
            <a:r>
              <a:rPr lang="en-IN" sz="1600" dirty="0">
                <a:latin typeface="+mj-lt"/>
              </a:rPr>
              <a:t>Competitor rate benchmarking.</a:t>
            </a:r>
          </a:p>
          <a:p>
            <a:pPr lvl="0"/>
            <a:r>
              <a:rPr lang="en-IN" sz="1600" dirty="0">
                <a:latin typeface="+mj-lt"/>
              </a:rPr>
              <a:t>Automated anomaly detection alerts.</a:t>
            </a:r>
          </a:p>
          <a:p>
            <a:pPr algn="just"/>
            <a:endParaRPr lang="en-IN" sz="1400" dirty="0">
              <a:latin typeface="+mj-lt"/>
            </a:endParaRPr>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327</TotalTime>
  <Words>604</Words>
  <Application>Microsoft Office PowerPoint</Application>
  <PresentationFormat>Widescreen</PresentationFormat>
  <Paragraphs>138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Trade Gothic LT Pro</vt:lpstr>
      <vt:lpstr>Trebuchet MS</vt:lpstr>
      <vt:lpstr>Office Theme</vt:lpstr>
      <vt:lpstr>    HotelRevAI</vt:lpstr>
      <vt:lpstr>Agenda</vt:lpstr>
      <vt:lpstr>Project Overview</vt:lpstr>
      <vt:lpstr>Data Loading &amp; Cleaning</vt:lpstr>
      <vt:lpstr>Data Modelling</vt:lpstr>
      <vt:lpstr>DAX Measure Library &amp; Business Metrix</vt:lpstr>
      <vt:lpstr>Dashboard 1: Hotel Revenue Performance</vt:lpstr>
      <vt:lpstr>Dashboard 2: Customer and Booking Behaviour</vt:lpstr>
      <vt:lpstr>Dashboard 3: Revenue Optimization and Key Insights</vt:lpstr>
      <vt:lpstr>Dashboard 4: Seasonality and Stay Pattern Analysis</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Kashish Patel</dc:creator>
  <cp:lastModifiedBy>Kashish Patel</cp:lastModifiedBy>
  <cp:revision>24</cp:revision>
  <dcterms:created xsi:type="dcterms:W3CDTF">2026-03-07T06:39:44Z</dcterms:created>
  <dcterms:modified xsi:type="dcterms:W3CDTF">2026-03-07T14:13:05Z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